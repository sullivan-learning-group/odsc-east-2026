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86" r:id="rId2"/>
    <p:sldId id="291" r:id="rId3"/>
    <p:sldId id="256" r:id="rId4"/>
    <p:sldId id="257" r:id="rId5"/>
    <p:sldId id="292" r:id="rId6"/>
    <p:sldId id="260" r:id="rId7"/>
    <p:sldId id="287" r:id="rId8"/>
    <p:sldId id="288" r:id="rId9"/>
    <p:sldId id="289" r:id="rId10"/>
    <p:sldId id="290" r:id="rId11"/>
    <p:sldId id="261" r:id="rId12"/>
    <p:sldId id="262" r:id="rId13"/>
    <p:sldId id="293" r:id="rId14"/>
    <p:sldId id="258" r:id="rId15"/>
    <p:sldId id="266" r:id="rId16"/>
    <p:sldId id="259" r:id="rId17"/>
    <p:sldId id="263" r:id="rId18"/>
    <p:sldId id="294" r:id="rId19"/>
    <p:sldId id="264" r:id="rId20"/>
    <p:sldId id="298" r:id="rId21"/>
    <p:sldId id="265" r:id="rId22"/>
    <p:sldId id="267" r:id="rId23"/>
    <p:sldId id="268" r:id="rId24"/>
    <p:sldId id="269" r:id="rId25"/>
    <p:sldId id="270" r:id="rId26"/>
    <p:sldId id="271" r:id="rId27"/>
    <p:sldId id="272" r:id="rId28"/>
    <p:sldId id="273" r:id="rId29"/>
    <p:sldId id="296"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32"/>
    <p:restoredTop sz="94610"/>
  </p:normalViewPr>
  <p:slideViewPr>
    <p:cSldViewPr snapToGrid="0" snapToObjects="1">
      <p:cViewPr>
        <p:scale>
          <a:sx n="155" d="100"/>
          <a:sy n="155" d="100"/>
        </p:scale>
        <p:origin x="328" y="42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2918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Two hours, hands-on. We'll build and validate a discrete event simulation that answers a real business question, using a spec-driven workflow with LLMs in the loop at every stage.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slide. Lecture interleaved with hands-on. About half the time is hands-on at the keyboard.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Knowing which one to reach for is the first decision in any simulation project. Monte Carlo for risk; DES for queues and bottlenecks; system dynamics for feedback over time; ABM for emergent behavior. The deciding factor for DES is whether *when* things happen matters as much as *what* happens.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signals that you want DES rather than another simulation type. Run through them; the coffee shop hits all five.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scenarios. Pairs work for 5 minutes. Goal is pattern recognition, not deep classification. Include at least one ambiguous case to spark discussion.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motivating problem. The math says the shop has plenty of capacity. The reality is full lines and walkaways. This is the question the workshop answers: why does this happen, and what should the owner do?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non-linearity directly. Three utilization levels, three different feels. The shop at 0.83 is right at the knee.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reasons together. Random arrivals cluster, and the utilization-to-wait curve is non-linear. An 83% busy system feels nothing like a 50% busy system, even though both have spare capacity on paper.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questions structure all of Block 2. Arrivals: exponential. Service: lognormal. Both fit from data with SciPy.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families that cover most business modeling work. We'll use exponential and lognormal today; the others appear in your own simulations regularly.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Four-step workflow. Pick from domain knowledge, fit, visualize, sanity check. The last two are where most modelers cut corners.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Solo. Pre-baked plotting helpers, fitting code is one line. The point is intuition, not theory.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spec-driven dev matters in simulation specifically. The third is the one this workshop hinges on: the spec becomes the prompt.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templates. The flow is A → B → C, but iteration goes both ways: validation findings update the spec.</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sections of Template A for the coffee shop. The spec is reviewable by the shop owner without reading code, and it's the input to the code-generation prompt.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Strategic blanks force participants to think through the modeling decisions, not copy numbers. Debrief in 2 minutes.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B wraps Template A. The five-function architecture is what makes the LLM-generated code consistently reviewable. Without it, every prompt produces a different code shape.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you asked for. Six LLM uses across the modeling lifecycle. We drill into two live (code generation here in Block 4, spec compliance in Block 5). The other four ship as bonus notebook cells with pre-written prompts so participants can use them on their own simulations after the workshop.</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Pre-recorded screencast plays here. Two minutes. Live LLM demos in workshops are unpredictable — the screencast preserves the point without the risk.</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Run baseline, look at three signals, discuss. The answer is P90 wait — most customers stay but have a bad experience. That insight reframes the decision.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validation concerns. Spec compliance is the one we drill into with LLM assistance. The others are mostly mechanical and live in the notebook.</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pedagogical point of Block 5. Two implementations, near-identical metrics, but one violates the spec. This is the bug class spec-driven validation with LLM review exists to catch.</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Three-step flow. The LLM doesn't decide what's a bug — you do. The triage step is what makes this exercise honest about the LLM's limitations.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Two seeded defects (balking misplaced; missing positivity check). LLM also raises some non-bug observations. The point is feeling what triage is like.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scenarios. Baseline + A + B + C. The pedagogically interesting comparison is A versus C — does the workflow change get you most of the benefit at zero labor cost?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total. Run scenarios, compare metrics, write the recommendation. The constraint forces synthesis. We'll read a few aloud at the end.</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One-sentence recap. The LLM is in the loop everywhere but never running unsupervised. That distinction is the entire workshop.</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leave with. The bug class point is the most important takeaway. The transferability point is the reason this isn't just a coffee shop workshop.</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Pointers to keep going after the workshop. The bonus notebook is the highest-leverage thing for participants who want to apply this to their own work.</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Open Q&amp;A as time permits.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ithub.com/sullivan-learning-group/odsc-east-2026"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74B491AB-CE47-98CC-59F1-6B1D1A76F02C}"/>
              </a:ext>
            </a:extLst>
          </p:cNvPr>
          <p:cNvPicPr>
            <a:picLocks noChangeAspect="1"/>
          </p:cNvPicPr>
          <p:nvPr/>
        </p:nvPicPr>
        <p:blipFill>
          <a:blip r:embed="rId2"/>
          <a:srcRect b="19"/>
          <a:stretch>
            <a:fillRect/>
          </a:stretch>
        </p:blipFill>
        <p:spPr>
          <a:xfrm>
            <a:off x="20" y="961"/>
            <a:ext cx="9143980" cy="5142539"/>
          </a:xfrm>
          <a:prstGeom prst="rect">
            <a:avLst/>
          </a:prstGeom>
        </p:spPr>
      </p:pic>
    </p:spTree>
    <p:extLst>
      <p:ext uri="{BB962C8B-B14F-4D97-AF65-F5344CB8AC3E}">
        <p14:creationId xmlns:p14="http://schemas.microsoft.com/office/powerpoint/2010/main" val="2288984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square">
            <a:spAutoFit/>
          </a:bodyPr>
          <a:lstStyle/>
          <a:p>
            <a:r>
              <a:rPr sz="3200" b="1">
                <a:solidFill>
                  <a:srgbClr val="1A1A2E"/>
                </a:solidFill>
                <a:latin typeface="Arial"/>
              </a:rPr>
              <a:t>Tutorial Github Repo</a:t>
            </a:r>
          </a:p>
        </p:txBody>
      </p:sp>
      <p:sp>
        <p:nvSpPr>
          <p:cNvPr id="3" name="TextBox 2"/>
          <p:cNvSpPr txBox="1"/>
          <p:nvPr/>
        </p:nvSpPr>
        <p:spPr>
          <a:xfrm>
            <a:off x="457200" y="1280160"/>
            <a:ext cx="4114800" cy="457200"/>
          </a:xfrm>
          <a:prstGeom prst="rect">
            <a:avLst/>
          </a:prstGeom>
          <a:noFill/>
        </p:spPr>
        <p:txBody>
          <a:bodyPr wrap="square">
            <a:spAutoFit/>
          </a:bodyPr>
          <a:lstStyle/>
          <a:p>
            <a:r>
              <a:rPr sz="1600">
                <a:solidFill>
                  <a:srgbClr val="1A1A2E"/>
                </a:solidFill>
                <a:latin typeface="Arial"/>
              </a:rPr>
              <a:t>Clone or browse the repo:</a:t>
            </a:r>
          </a:p>
        </p:txBody>
      </p:sp>
      <p:sp>
        <p:nvSpPr>
          <p:cNvPr id="4" name="TextBox 3"/>
          <p:cNvSpPr txBox="1"/>
          <p:nvPr/>
        </p:nvSpPr>
        <p:spPr>
          <a:xfrm>
            <a:off x="457200" y="1737360"/>
            <a:ext cx="4114800" cy="457200"/>
          </a:xfrm>
          <a:prstGeom prst="rect">
            <a:avLst/>
          </a:prstGeom>
          <a:noFill/>
        </p:spPr>
        <p:txBody>
          <a:bodyPr wrap="square">
            <a:spAutoFit/>
          </a:bodyPr>
          <a:lstStyle/>
          <a:p>
            <a:r>
              <a:rPr sz="1800" b="1">
                <a:solidFill>
                  <a:srgbClr val="1A1A2E"/>
                </a:solidFill>
                <a:latin typeface="Arial"/>
                <a:hlinkClick r:id="rId2"/>
              </a:rPr>
              <a:t>https://github.com/sullivan-learning-group/odsc-east-2026</a:t>
            </a:r>
          </a:p>
        </p:txBody>
      </p:sp>
      <p:sp>
        <p:nvSpPr>
          <p:cNvPr id="5" name="TextBox 4"/>
          <p:cNvSpPr txBox="1"/>
          <p:nvPr/>
        </p:nvSpPr>
        <p:spPr>
          <a:xfrm>
            <a:off x="457200" y="2286000"/>
            <a:ext cx="4114800" cy="914400"/>
          </a:xfrm>
          <a:prstGeom prst="rect">
            <a:avLst/>
          </a:prstGeom>
          <a:noFill/>
        </p:spPr>
        <p:txBody>
          <a:bodyPr wrap="square">
            <a:spAutoFit/>
          </a:bodyPr>
          <a:lstStyle/>
          <a:p>
            <a:r>
              <a:rPr sz="1400">
                <a:solidFill>
                  <a:srgbClr val="555566"/>
                </a:solidFill>
                <a:latin typeface="Arial"/>
              </a:rPr>
              <a:t>Slides, notebooks, templates, and the completed Template A/B/C examples.</a:t>
            </a:r>
          </a:p>
        </p:txBody>
      </p:sp>
      <p:pic>
        <p:nvPicPr>
          <p:cNvPr id="8" name="Picture 7">
            <a:extLst>
              <a:ext uri="{FF2B5EF4-FFF2-40B4-BE49-F238E27FC236}">
                <a16:creationId xmlns:a16="http://schemas.microsoft.com/office/drawing/2014/main" id="{9DCB0C7A-4315-B463-1212-0E1136F8AB9B}"/>
              </a:ext>
            </a:extLst>
          </p:cNvPr>
          <p:cNvPicPr>
            <a:picLocks noChangeAspect="1"/>
          </p:cNvPicPr>
          <p:nvPr/>
        </p:nvPicPr>
        <p:blipFill>
          <a:blip r:embed="rId3"/>
          <a:stretch>
            <a:fillRect/>
          </a:stretch>
        </p:blipFill>
        <p:spPr>
          <a:xfrm>
            <a:off x="4572000" y="1158654"/>
            <a:ext cx="4186114" cy="2826191"/>
          </a:xfrm>
          <a:prstGeom prst="rect">
            <a:avLst/>
          </a:prstGeom>
          <a:ln>
            <a:solidFill>
              <a:schemeClr val="accent1"/>
            </a:solid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1463040"/>
            <a:ext cx="8229600" cy="914400"/>
          </a:xfrm>
          <a:prstGeom prst="rect">
            <a:avLst/>
          </a:prstGeom>
          <a:noFill/>
          <a:ln/>
        </p:spPr>
        <p:txBody>
          <a:bodyPr wrap="square" rtlCol="0" anchor="ctr"/>
          <a:lstStyle/>
          <a:p>
            <a:pPr marL="0" indent="0" algn="ctr">
              <a:buNone/>
            </a:pPr>
            <a:r>
              <a:rPr lang="en-US" sz="4400" b="1" dirty="0">
                <a:solidFill>
                  <a:srgbClr val="1A1A2E"/>
                </a:solidFill>
                <a:latin typeface="Arial" pitchFamily="34" charset="0"/>
                <a:ea typeface="Arial" pitchFamily="34" charset="-122"/>
                <a:cs typeface="Arial" pitchFamily="34" charset="-120"/>
              </a:rPr>
              <a:t>Spec-Driven Simulation Modeling</a:t>
            </a:r>
            <a:endParaRPr lang="en-US" sz="4400" dirty="0"/>
          </a:p>
        </p:txBody>
      </p:sp>
      <p:sp>
        <p:nvSpPr>
          <p:cNvPr id="4" name="Text 2"/>
          <p:cNvSpPr/>
          <p:nvPr/>
        </p:nvSpPr>
        <p:spPr>
          <a:xfrm>
            <a:off x="457200" y="2468880"/>
            <a:ext cx="8229600" cy="457200"/>
          </a:xfrm>
          <a:prstGeom prst="rect">
            <a:avLst/>
          </a:prstGeom>
          <a:noFill/>
          <a:ln/>
        </p:spPr>
        <p:txBody>
          <a:bodyPr wrap="square" rtlCol="0" anchor="ctr"/>
          <a:lstStyle/>
          <a:p>
            <a:pPr marL="0" indent="0" algn="ctr">
              <a:buNone/>
            </a:pPr>
            <a:r>
              <a:rPr lang="en-US" sz="2000" dirty="0">
                <a:solidFill>
                  <a:srgbClr val="6B7280"/>
                </a:solidFill>
                <a:latin typeface="Arial" pitchFamily="34" charset="0"/>
                <a:ea typeface="Arial" pitchFamily="34" charset="-122"/>
                <a:cs typeface="Arial" pitchFamily="34" charset="-120"/>
              </a:rPr>
              <a:t>Building and Validating Decision Support Models with Python and LLMs</a:t>
            </a:r>
            <a:endParaRPr lang="en-US" sz="2000" dirty="0"/>
          </a:p>
        </p:txBody>
      </p:sp>
      <p:sp>
        <p:nvSpPr>
          <p:cNvPr id="5" name="Shape 3"/>
          <p:cNvSpPr/>
          <p:nvPr/>
        </p:nvSpPr>
        <p:spPr>
          <a:xfrm>
            <a:off x="3200400" y="3108960"/>
            <a:ext cx="2743200" cy="36576"/>
          </a:xfrm>
          <a:prstGeom prst="rect">
            <a:avLst/>
          </a:prstGeom>
          <a:solidFill>
            <a:srgbClr val="4A6FA5"/>
          </a:solidFill>
          <a:ln w="12700">
            <a:solidFill>
              <a:srgbClr val="4A6FA5"/>
            </a:solidFill>
            <a:prstDash val="solid"/>
          </a:ln>
        </p:spPr>
        <p:txBody>
          <a:bodyPr/>
          <a:lstStyle/>
          <a:p>
            <a:endParaRPr lang="en-US"/>
          </a:p>
        </p:txBody>
      </p:sp>
      <p:sp>
        <p:nvSpPr>
          <p:cNvPr id="6" name="Text 4"/>
          <p:cNvSpPr/>
          <p:nvPr/>
        </p:nvSpPr>
        <p:spPr>
          <a:xfrm>
            <a:off x="457200" y="3383280"/>
            <a:ext cx="8229600" cy="365760"/>
          </a:xfrm>
          <a:prstGeom prst="rect">
            <a:avLst/>
          </a:prstGeom>
          <a:noFill/>
          <a:ln/>
        </p:spPr>
        <p:txBody>
          <a:bodyPr wrap="square" rtlCol="0" anchor="ctr"/>
          <a:lstStyle/>
          <a:p>
            <a:pPr marL="0" indent="0" algn="ctr">
              <a:buNone/>
            </a:pPr>
            <a:r>
              <a:rPr lang="en-US" sz="1400" dirty="0">
                <a:solidFill>
                  <a:srgbClr val="6B7280"/>
                </a:solidFill>
                <a:latin typeface="Arial" pitchFamily="34" charset="0"/>
                <a:ea typeface="Arial" pitchFamily="34" charset="-122"/>
                <a:cs typeface="Arial" pitchFamily="34" charset="-120"/>
              </a:rPr>
              <a:t>Dan Sullivan  ·  ODSC East 2026  </a:t>
            </a:r>
            <a:endParaRPr lang="en-US" sz="1400" dirty="0"/>
          </a:p>
        </p:txBody>
      </p:sp>
      <p:sp>
        <p:nvSpPr>
          <p:cNvPr id="7" name="Text 5"/>
          <p:cNvSpPr/>
          <p:nvPr/>
        </p:nvSpPr>
        <p:spPr>
          <a:xfrm>
            <a:off x="457200" y="3840480"/>
            <a:ext cx="8229600" cy="365760"/>
          </a:xfrm>
          <a:prstGeom prst="rect">
            <a:avLst/>
          </a:prstGeom>
          <a:noFill/>
          <a:ln/>
        </p:spPr>
        <p:txBody>
          <a:bodyPr wrap="square" rtlCol="0" anchor="ctr"/>
          <a:lstStyle/>
          <a:p>
            <a:pPr marL="0" indent="0" algn="ctr">
              <a:buNone/>
            </a:pPr>
            <a:r>
              <a:rPr lang="en-US" sz="1200" i="1" dirty="0">
                <a:solidFill>
                  <a:srgbClr val="9CA3AF"/>
                </a:solidFill>
                <a:latin typeface="Arial" pitchFamily="34" charset="0"/>
                <a:ea typeface="Arial" pitchFamily="34" charset="-122"/>
                <a:cs typeface="Arial" pitchFamily="34" charset="-120"/>
              </a:rPr>
              <a:t>Author, Simulation Models for Data Science (forthcoming, O'Reilly)</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Today’s Session</a:t>
            </a:r>
            <a:endParaRPr lang="en-US" sz="3200" dirty="0"/>
          </a:p>
        </p:txBody>
      </p:sp>
      <p:sp>
        <p:nvSpPr>
          <p:cNvPr id="4" name="Shape 2"/>
          <p:cNvSpPr/>
          <p:nvPr/>
        </p:nvSpPr>
        <p:spPr>
          <a:xfrm>
            <a:off x="640080" y="1188720"/>
            <a:ext cx="365760" cy="365760"/>
          </a:xfrm>
          <a:prstGeom prst="ellipse">
            <a:avLst/>
          </a:prstGeom>
          <a:solidFill>
            <a:srgbClr val="4A6FA5"/>
          </a:solidFill>
          <a:ln w="12700">
            <a:solidFill>
              <a:srgbClr val="4A6FA5"/>
            </a:solidFill>
            <a:prstDash val="solid"/>
          </a:ln>
        </p:spPr>
        <p:txBody>
          <a:bodyPr/>
          <a:lstStyle/>
          <a:p>
            <a:endParaRPr lang="en-US"/>
          </a:p>
        </p:txBody>
      </p:sp>
      <p:sp>
        <p:nvSpPr>
          <p:cNvPr id="5" name="Text 3"/>
          <p:cNvSpPr/>
          <p:nvPr/>
        </p:nvSpPr>
        <p:spPr>
          <a:xfrm>
            <a:off x="640080" y="118872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p:nvPr/>
        </p:nvSpPr>
        <p:spPr>
          <a:xfrm>
            <a:off x="1188720" y="1225296"/>
            <a:ext cx="5943600" cy="365760"/>
          </a:xfrm>
          <a:prstGeom prst="rect">
            <a:avLst/>
          </a:prstGeom>
          <a:noFill/>
          <a:ln/>
        </p:spPr>
        <p:txBody>
          <a:bodyPr wrap="square" rtlCol="0" anchor="ctr"/>
          <a:lstStyle/>
          <a:p>
            <a:pPr marL="0" indent="0">
              <a:buNone/>
            </a:pPr>
            <a:r>
              <a:rPr lang="en-US" sz="1600" dirty="0">
                <a:solidFill>
                  <a:srgbClr val="1A1A2E"/>
                </a:solidFill>
                <a:latin typeface="Arial" pitchFamily="34" charset="0"/>
                <a:ea typeface="Arial" pitchFamily="34" charset="-122"/>
                <a:cs typeface="Arial" pitchFamily="34" charset="-120"/>
              </a:rPr>
              <a:t>When predictive models aren't enough</a:t>
            </a:r>
            <a:endParaRPr lang="en-US" sz="1600" dirty="0"/>
          </a:p>
        </p:txBody>
      </p:sp>
      <p:sp>
        <p:nvSpPr>
          <p:cNvPr id="8" name="Shape 6"/>
          <p:cNvSpPr/>
          <p:nvPr/>
        </p:nvSpPr>
        <p:spPr>
          <a:xfrm>
            <a:off x="640080" y="1645920"/>
            <a:ext cx="365760" cy="365760"/>
          </a:xfrm>
          <a:prstGeom prst="ellipse">
            <a:avLst/>
          </a:prstGeom>
          <a:solidFill>
            <a:srgbClr val="4A6FA5"/>
          </a:solidFill>
          <a:ln w="12700">
            <a:solidFill>
              <a:srgbClr val="4A6FA5"/>
            </a:solidFill>
            <a:prstDash val="solid"/>
          </a:ln>
        </p:spPr>
        <p:txBody>
          <a:bodyPr/>
          <a:lstStyle/>
          <a:p>
            <a:endParaRPr lang="en-US"/>
          </a:p>
        </p:txBody>
      </p:sp>
      <p:sp>
        <p:nvSpPr>
          <p:cNvPr id="9" name="Text 7"/>
          <p:cNvSpPr/>
          <p:nvPr/>
        </p:nvSpPr>
        <p:spPr>
          <a:xfrm>
            <a:off x="640080" y="164592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p:nvPr/>
        </p:nvSpPr>
        <p:spPr>
          <a:xfrm>
            <a:off x="1188720" y="1682496"/>
            <a:ext cx="5943600" cy="365760"/>
          </a:xfrm>
          <a:prstGeom prst="rect">
            <a:avLst/>
          </a:prstGeom>
          <a:noFill/>
          <a:ln/>
        </p:spPr>
        <p:txBody>
          <a:bodyPr wrap="square" rtlCol="0" anchor="ctr"/>
          <a:lstStyle/>
          <a:p>
            <a:pPr marL="0" indent="0">
              <a:buNone/>
            </a:pPr>
            <a:r>
              <a:rPr lang="en-US" sz="1600" dirty="0">
                <a:solidFill>
                  <a:srgbClr val="1A1A2E"/>
                </a:solidFill>
                <a:latin typeface="Arial" pitchFamily="34" charset="0"/>
                <a:ea typeface="Arial" pitchFamily="34" charset="-122"/>
                <a:cs typeface="Arial" pitchFamily="34" charset="-120"/>
              </a:rPr>
              <a:t>Distributions and SciPy fitting</a:t>
            </a:r>
            <a:endParaRPr lang="en-US" sz="1600" dirty="0"/>
          </a:p>
        </p:txBody>
      </p:sp>
      <p:sp>
        <p:nvSpPr>
          <p:cNvPr id="12" name="Shape 10"/>
          <p:cNvSpPr/>
          <p:nvPr/>
        </p:nvSpPr>
        <p:spPr>
          <a:xfrm>
            <a:off x="640080" y="2103120"/>
            <a:ext cx="365760" cy="365760"/>
          </a:xfrm>
          <a:prstGeom prst="ellipse">
            <a:avLst/>
          </a:prstGeom>
          <a:solidFill>
            <a:srgbClr val="4A6FA5"/>
          </a:solidFill>
          <a:ln w="12700">
            <a:solidFill>
              <a:srgbClr val="4A6FA5"/>
            </a:solidFill>
            <a:prstDash val="solid"/>
          </a:ln>
        </p:spPr>
        <p:txBody>
          <a:bodyPr/>
          <a:lstStyle/>
          <a:p>
            <a:endParaRPr lang="en-US"/>
          </a:p>
        </p:txBody>
      </p:sp>
      <p:sp>
        <p:nvSpPr>
          <p:cNvPr id="13" name="Text 11"/>
          <p:cNvSpPr/>
          <p:nvPr/>
        </p:nvSpPr>
        <p:spPr>
          <a:xfrm>
            <a:off x="640080" y="210312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p:nvPr/>
        </p:nvSpPr>
        <p:spPr>
          <a:xfrm>
            <a:off x="1188720" y="2139696"/>
            <a:ext cx="5943600" cy="365760"/>
          </a:xfrm>
          <a:prstGeom prst="rect">
            <a:avLst/>
          </a:prstGeom>
          <a:noFill/>
          <a:ln/>
        </p:spPr>
        <p:txBody>
          <a:bodyPr wrap="square" rtlCol="0" anchor="ctr"/>
          <a:lstStyle/>
          <a:p>
            <a:pPr marL="0" indent="0">
              <a:buNone/>
            </a:pPr>
            <a:r>
              <a:rPr lang="en-US" sz="1600" dirty="0">
                <a:solidFill>
                  <a:srgbClr val="1A1A2E"/>
                </a:solidFill>
                <a:latin typeface="Arial" pitchFamily="34" charset="0"/>
                <a:ea typeface="Arial" pitchFamily="34" charset="-122"/>
                <a:cs typeface="Arial" pitchFamily="34" charset="-120"/>
              </a:rPr>
              <a:t>Template A — the process spec</a:t>
            </a:r>
            <a:endParaRPr lang="en-US" sz="1600" dirty="0"/>
          </a:p>
        </p:txBody>
      </p:sp>
      <p:sp>
        <p:nvSpPr>
          <p:cNvPr id="16" name="Shape 14"/>
          <p:cNvSpPr/>
          <p:nvPr/>
        </p:nvSpPr>
        <p:spPr>
          <a:xfrm>
            <a:off x="640080" y="2560320"/>
            <a:ext cx="365760" cy="365760"/>
          </a:xfrm>
          <a:prstGeom prst="ellipse">
            <a:avLst/>
          </a:prstGeom>
          <a:solidFill>
            <a:srgbClr val="4A6FA5"/>
          </a:solidFill>
          <a:ln w="12700">
            <a:solidFill>
              <a:srgbClr val="4A6FA5"/>
            </a:solidFill>
            <a:prstDash val="solid"/>
          </a:ln>
        </p:spPr>
        <p:txBody>
          <a:bodyPr/>
          <a:lstStyle/>
          <a:p>
            <a:endParaRPr lang="en-US"/>
          </a:p>
        </p:txBody>
      </p:sp>
      <p:sp>
        <p:nvSpPr>
          <p:cNvPr id="17" name="Text 15"/>
          <p:cNvSpPr/>
          <p:nvPr/>
        </p:nvSpPr>
        <p:spPr>
          <a:xfrm>
            <a:off x="640080" y="256032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p:nvPr/>
        </p:nvSpPr>
        <p:spPr>
          <a:xfrm>
            <a:off x="1188720" y="2596896"/>
            <a:ext cx="5943600" cy="365760"/>
          </a:xfrm>
          <a:prstGeom prst="rect">
            <a:avLst/>
          </a:prstGeom>
          <a:noFill/>
          <a:ln/>
        </p:spPr>
        <p:txBody>
          <a:bodyPr wrap="square" rtlCol="0" anchor="ctr"/>
          <a:lstStyle/>
          <a:p>
            <a:pPr marL="0" indent="0">
              <a:buNone/>
            </a:pPr>
            <a:r>
              <a:rPr lang="en-US" sz="1600" dirty="0">
                <a:solidFill>
                  <a:srgbClr val="1A1A2E"/>
                </a:solidFill>
                <a:latin typeface="Arial" pitchFamily="34" charset="0"/>
                <a:ea typeface="Arial" pitchFamily="34" charset="-122"/>
                <a:cs typeface="Arial" pitchFamily="34" charset="-120"/>
              </a:rPr>
              <a:t>Template B — spec to SimPy with LLMs</a:t>
            </a:r>
            <a:endParaRPr lang="en-US" sz="1600" dirty="0"/>
          </a:p>
        </p:txBody>
      </p:sp>
      <p:sp>
        <p:nvSpPr>
          <p:cNvPr id="20" name="Shape 18"/>
          <p:cNvSpPr/>
          <p:nvPr/>
        </p:nvSpPr>
        <p:spPr>
          <a:xfrm>
            <a:off x="640080" y="3017520"/>
            <a:ext cx="365760" cy="365760"/>
          </a:xfrm>
          <a:prstGeom prst="ellipse">
            <a:avLst/>
          </a:prstGeom>
          <a:solidFill>
            <a:srgbClr val="4A6FA5"/>
          </a:solidFill>
          <a:ln w="12700">
            <a:solidFill>
              <a:srgbClr val="4A6FA5"/>
            </a:solidFill>
            <a:prstDash val="solid"/>
          </a:ln>
        </p:spPr>
        <p:txBody>
          <a:bodyPr/>
          <a:lstStyle/>
          <a:p>
            <a:endParaRPr lang="en-US"/>
          </a:p>
        </p:txBody>
      </p:sp>
      <p:sp>
        <p:nvSpPr>
          <p:cNvPr id="21" name="Text 19"/>
          <p:cNvSpPr/>
          <p:nvPr/>
        </p:nvSpPr>
        <p:spPr>
          <a:xfrm>
            <a:off x="640080" y="301752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2" name="Text 20"/>
          <p:cNvSpPr/>
          <p:nvPr/>
        </p:nvSpPr>
        <p:spPr>
          <a:xfrm>
            <a:off x="1188720" y="3054096"/>
            <a:ext cx="5943600" cy="365760"/>
          </a:xfrm>
          <a:prstGeom prst="rect">
            <a:avLst/>
          </a:prstGeom>
          <a:noFill/>
          <a:ln/>
        </p:spPr>
        <p:txBody>
          <a:bodyPr wrap="square" rtlCol="0" anchor="ctr"/>
          <a:lstStyle/>
          <a:p>
            <a:pPr marL="0" indent="0">
              <a:buNone/>
            </a:pPr>
            <a:r>
              <a:rPr lang="en-US" sz="1600" dirty="0">
                <a:solidFill>
                  <a:srgbClr val="1A1A2E"/>
                </a:solidFill>
                <a:latin typeface="Arial" pitchFamily="34" charset="0"/>
                <a:ea typeface="Arial" pitchFamily="34" charset="-122"/>
                <a:cs typeface="Arial" pitchFamily="34" charset="-120"/>
              </a:rPr>
              <a:t>Template C — LLM-assisted validation</a:t>
            </a:r>
            <a:endParaRPr lang="en-US" sz="1600" dirty="0"/>
          </a:p>
        </p:txBody>
      </p:sp>
      <p:sp>
        <p:nvSpPr>
          <p:cNvPr id="24" name="Shape 22"/>
          <p:cNvSpPr/>
          <p:nvPr/>
        </p:nvSpPr>
        <p:spPr>
          <a:xfrm>
            <a:off x="640080" y="3474720"/>
            <a:ext cx="365760" cy="365760"/>
          </a:xfrm>
          <a:prstGeom prst="ellipse">
            <a:avLst/>
          </a:prstGeom>
          <a:solidFill>
            <a:srgbClr val="4A6FA5"/>
          </a:solidFill>
          <a:ln w="12700">
            <a:solidFill>
              <a:srgbClr val="4A6FA5"/>
            </a:solidFill>
            <a:prstDash val="solid"/>
          </a:ln>
        </p:spPr>
        <p:txBody>
          <a:bodyPr/>
          <a:lstStyle/>
          <a:p>
            <a:endParaRPr lang="en-US"/>
          </a:p>
        </p:txBody>
      </p:sp>
      <p:sp>
        <p:nvSpPr>
          <p:cNvPr id="25" name="Text 23"/>
          <p:cNvSpPr/>
          <p:nvPr/>
        </p:nvSpPr>
        <p:spPr>
          <a:xfrm>
            <a:off x="640080" y="347472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6" name="Text 24"/>
          <p:cNvSpPr/>
          <p:nvPr/>
        </p:nvSpPr>
        <p:spPr>
          <a:xfrm>
            <a:off x="1188720" y="3511296"/>
            <a:ext cx="5943600" cy="365760"/>
          </a:xfrm>
          <a:prstGeom prst="rect">
            <a:avLst/>
          </a:prstGeom>
          <a:noFill/>
          <a:ln/>
        </p:spPr>
        <p:txBody>
          <a:bodyPr wrap="square" rtlCol="0" anchor="ctr"/>
          <a:lstStyle/>
          <a:p>
            <a:pPr marL="0" indent="0">
              <a:buNone/>
            </a:pPr>
            <a:r>
              <a:rPr lang="en-US" sz="1600" dirty="0">
                <a:solidFill>
                  <a:srgbClr val="1A1A2E"/>
                </a:solidFill>
                <a:latin typeface="Arial" pitchFamily="34" charset="0"/>
                <a:ea typeface="Arial" pitchFamily="34" charset="-122"/>
                <a:cs typeface="Arial" pitchFamily="34" charset="-120"/>
              </a:rPr>
              <a:t>Scenario comparison and the decision</a:t>
            </a:r>
            <a:endParaRPr lang="en-US" sz="1600" dirty="0"/>
          </a:p>
        </p:txBody>
      </p:sp>
      <p:sp>
        <p:nvSpPr>
          <p:cNvPr id="28" name="Shape 26"/>
          <p:cNvSpPr/>
          <p:nvPr/>
        </p:nvSpPr>
        <p:spPr>
          <a:xfrm>
            <a:off x="640080" y="3931920"/>
            <a:ext cx="365760" cy="365760"/>
          </a:xfrm>
          <a:prstGeom prst="ellipse">
            <a:avLst/>
          </a:prstGeom>
          <a:solidFill>
            <a:srgbClr val="4A6FA5"/>
          </a:solidFill>
          <a:ln w="12700">
            <a:solidFill>
              <a:srgbClr val="4A6FA5"/>
            </a:solidFill>
            <a:prstDash val="solid"/>
          </a:ln>
        </p:spPr>
        <p:txBody>
          <a:bodyPr/>
          <a:lstStyle/>
          <a:p>
            <a:endParaRPr lang="en-US"/>
          </a:p>
        </p:txBody>
      </p:sp>
      <p:sp>
        <p:nvSpPr>
          <p:cNvPr id="29" name="Text 27"/>
          <p:cNvSpPr/>
          <p:nvPr/>
        </p:nvSpPr>
        <p:spPr>
          <a:xfrm>
            <a:off x="640080" y="3931920"/>
            <a:ext cx="365760" cy="3657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30" name="Text 28"/>
          <p:cNvSpPr/>
          <p:nvPr/>
        </p:nvSpPr>
        <p:spPr>
          <a:xfrm>
            <a:off x="1188720" y="3968496"/>
            <a:ext cx="5943600" cy="365760"/>
          </a:xfrm>
          <a:prstGeom prst="rect">
            <a:avLst/>
          </a:prstGeom>
          <a:noFill/>
          <a:ln/>
        </p:spPr>
        <p:txBody>
          <a:bodyPr wrap="square" rtlCol="0" anchor="ctr"/>
          <a:lstStyle/>
          <a:p>
            <a:pPr marL="0" indent="0">
              <a:buNone/>
            </a:pPr>
            <a:r>
              <a:rPr lang="en-US" sz="1600" dirty="0">
                <a:solidFill>
                  <a:srgbClr val="1A1A2E"/>
                </a:solidFill>
                <a:latin typeface="Arial" pitchFamily="34" charset="0"/>
                <a:ea typeface="Arial" pitchFamily="34" charset="-122"/>
                <a:cs typeface="Arial" pitchFamily="34" charset="-120"/>
              </a:rPr>
              <a:t>Wrap and where to go next</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640080"/>
          </a:xfrm>
          <a:prstGeom prst="rect">
            <a:avLst/>
          </a:prstGeom>
          <a:noFill/>
        </p:spPr>
        <p:txBody>
          <a:bodyPr wrap="square">
            <a:spAutoFit/>
          </a:bodyPr>
          <a:lstStyle/>
          <a:p>
            <a:r>
              <a:rPr sz="3200" b="1">
                <a:solidFill>
                  <a:srgbClr val="1A1A2E"/>
                </a:solidFill>
                <a:latin typeface="Arial"/>
              </a:rPr>
              <a:t>Setup Check</a:t>
            </a:r>
          </a:p>
        </p:txBody>
      </p:sp>
      <p:pic>
        <p:nvPicPr>
          <p:cNvPr id="5" name="Picture 4">
            <a:extLst>
              <a:ext uri="{FF2B5EF4-FFF2-40B4-BE49-F238E27FC236}">
                <a16:creationId xmlns:a16="http://schemas.microsoft.com/office/drawing/2014/main" id="{131E502C-C5BC-3EEC-9086-3797403F148F}"/>
              </a:ext>
            </a:extLst>
          </p:cNvPr>
          <p:cNvPicPr>
            <a:picLocks noChangeAspect="1"/>
          </p:cNvPicPr>
          <p:nvPr/>
        </p:nvPicPr>
        <p:blipFill>
          <a:blip r:embed="rId2"/>
          <a:stretch>
            <a:fillRect/>
          </a:stretch>
        </p:blipFill>
        <p:spPr>
          <a:xfrm>
            <a:off x="1447799" y="1111752"/>
            <a:ext cx="5877381" cy="3751944"/>
          </a:xfrm>
          <a:prstGeom prst="rect">
            <a:avLst/>
          </a:prstGeom>
          <a:ln>
            <a:solidFill>
              <a:schemeClr val="accent1"/>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Four families of simulation</a:t>
            </a:r>
            <a:endParaRPr lang="en-US" sz="3200" dirty="0"/>
          </a:p>
        </p:txBody>
      </p:sp>
      <p:sp>
        <p:nvSpPr>
          <p:cNvPr id="5" name="Shape 3"/>
          <p:cNvSpPr/>
          <p:nvPr/>
        </p:nvSpPr>
        <p:spPr>
          <a:xfrm>
            <a:off x="525780" y="1280160"/>
            <a:ext cx="3931920" cy="1325880"/>
          </a:xfrm>
          <a:prstGeom prst="rect">
            <a:avLst/>
          </a:prstGeom>
          <a:solidFill>
            <a:srgbClr val="FFFFFF"/>
          </a:solidFill>
          <a:ln w="12700">
            <a:solidFill>
              <a:srgbClr val="E5E7EB"/>
            </a:solidFill>
            <a:prstDash val="solid"/>
          </a:ln>
        </p:spPr>
        <p:txBody>
          <a:bodyPr/>
          <a:lstStyle/>
          <a:p>
            <a:endParaRPr lang="en-US"/>
          </a:p>
        </p:txBody>
      </p:sp>
      <p:sp>
        <p:nvSpPr>
          <p:cNvPr id="6" name="Shape 4"/>
          <p:cNvSpPr/>
          <p:nvPr/>
        </p:nvSpPr>
        <p:spPr>
          <a:xfrm>
            <a:off x="525780" y="1280160"/>
            <a:ext cx="73152" cy="1325880"/>
          </a:xfrm>
          <a:prstGeom prst="rect">
            <a:avLst/>
          </a:prstGeom>
          <a:solidFill>
            <a:srgbClr val="4A6FA5"/>
          </a:solidFill>
          <a:ln w="12700">
            <a:solidFill>
              <a:srgbClr val="4A6FA5"/>
            </a:solidFill>
            <a:prstDash val="solid"/>
          </a:ln>
        </p:spPr>
        <p:txBody>
          <a:bodyPr/>
          <a:lstStyle/>
          <a:p>
            <a:endParaRPr lang="en-US"/>
          </a:p>
        </p:txBody>
      </p:sp>
      <p:sp>
        <p:nvSpPr>
          <p:cNvPr id="7" name="Text 5"/>
          <p:cNvSpPr/>
          <p:nvPr/>
        </p:nvSpPr>
        <p:spPr>
          <a:xfrm>
            <a:off x="754380" y="1417320"/>
            <a:ext cx="35661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Monte Carlo</a:t>
            </a:r>
            <a:endParaRPr lang="en-US" sz="1600" dirty="0"/>
          </a:p>
        </p:txBody>
      </p:sp>
      <p:sp>
        <p:nvSpPr>
          <p:cNvPr id="8" name="Text 6"/>
          <p:cNvSpPr/>
          <p:nvPr/>
        </p:nvSpPr>
        <p:spPr>
          <a:xfrm>
            <a:off x="754380" y="1828800"/>
            <a:ext cx="3566160" cy="68580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Sample inputs, push through formula, summarize. No time, no queues. Risk profiles, project costs.</a:t>
            </a:r>
            <a:endParaRPr lang="en-US" sz="1200" dirty="0"/>
          </a:p>
        </p:txBody>
      </p:sp>
      <p:sp>
        <p:nvSpPr>
          <p:cNvPr id="9" name="Shape 7"/>
          <p:cNvSpPr/>
          <p:nvPr/>
        </p:nvSpPr>
        <p:spPr>
          <a:xfrm>
            <a:off x="4686300" y="1280160"/>
            <a:ext cx="3931920" cy="1325880"/>
          </a:xfrm>
          <a:prstGeom prst="rect">
            <a:avLst/>
          </a:prstGeom>
          <a:solidFill>
            <a:srgbClr val="FFFFFF"/>
          </a:solidFill>
          <a:ln w="12700">
            <a:solidFill>
              <a:srgbClr val="E5E7EB"/>
            </a:solidFill>
            <a:prstDash val="solid"/>
          </a:ln>
        </p:spPr>
        <p:txBody>
          <a:bodyPr/>
          <a:lstStyle/>
          <a:p>
            <a:endParaRPr lang="en-US"/>
          </a:p>
        </p:txBody>
      </p:sp>
      <p:sp>
        <p:nvSpPr>
          <p:cNvPr id="10" name="Shape 8"/>
          <p:cNvSpPr/>
          <p:nvPr/>
        </p:nvSpPr>
        <p:spPr>
          <a:xfrm>
            <a:off x="4686300" y="1280160"/>
            <a:ext cx="73152" cy="1325880"/>
          </a:xfrm>
          <a:prstGeom prst="rect">
            <a:avLst/>
          </a:prstGeom>
          <a:solidFill>
            <a:srgbClr val="B85042"/>
          </a:solidFill>
          <a:ln w="12700">
            <a:solidFill>
              <a:srgbClr val="B85042"/>
            </a:solidFill>
            <a:prstDash val="solid"/>
          </a:ln>
        </p:spPr>
        <p:txBody>
          <a:bodyPr/>
          <a:lstStyle/>
          <a:p>
            <a:endParaRPr lang="en-US"/>
          </a:p>
        </p:txBody>
      </p:sp>
      <p:sp>
        <p:nvSpPr>
          <p:cNvPr id="11" name="Text 9"/>
          <p:cNvSpPr/>
          <p:nvPr/>
        </p:nvSpPr>
        <p:spPr>
          <a:xfrm>
            <a:off x="4914900" y="1417320"/>
            <a:ext cx="3566160" cy="365760"/>
          </a:xfrm>
          <a:prstGeom prst="rect">
            <a:avLst/>
          </a:prstGeom>
          <a:noFill/>
          <a:ln/>
        </p:spPr>
        <p:txBody>
          <a:bodyPr wrap="square" rtlCol="0" anchor="ctr"/>
          <a:lstStyle/>
          <a:p>
            <a:pPr marL="0" indent="0">
              <a:buNone/>
            </a:pPr>
            <a:r>
              <a:rPr lang="en-US" sz="1600" b="1" dirty="0">
                <a:solidFill>
                  <a:srgbClr val="B85042"/>
                </a:solidFill>
                <a:latin typeface="Arial" pitchFamily="34" charset="0"/>
                <a:ea typeface="Arial" pitchFamily="34" charset="-122"/>
                <a:cs typeface="Arial" pitchFamily="34" charset="-120"/>
              </a:rPr>
              <a:t>Discrete event simulation</a:t>
            </a:r>
            <a:endParaRPr lang="en-US" sz="1600" dirty="0"/>
          </a:p>
        </p:txBody>
      </p:sp>
      <p:sp>
        <p:nvSpPr>
          <p:cNvPr id="12" name="Text 10"/>
          <p:cNvSpPr/>
          <p:nvPr/>
        </p:nvSpPr>
        <p:spPr>
          <a:xfrm>
            <a:off x="4914900" y="1828800"/>
            <a:ext cx="3566160" cy="68580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Track entities through processes that consume resources over time. Bottlenecks, waits, queues.</a:t>
            </a:r>
            <a:endParaRPr lang="en-US" sz="1200" dirty="0"/>
          </a:p>
        </p:txBody>
      </p:sp>
      <p:sp>
        <p:nvSpPr>
          <p:cNvPr id="13" name="Shape 11"/>
          <p:cNvSpPr/>
          <p:nvPr/>
        </p:nvSpPr>
        <p:spPr>
          <a:xfrm>
            <a:off x="525780" y="2834640"/>
            <a:ext cx="3931920" cy="1325880"/>
          </a:xfrm>
          <a:prstGeom prst="rect">
            <a:avLst/>
          </a:prstGeom>
          <a:solidFill>
            <a:srgbClr val="FFFFFF"/>
          </a:solidFill>
          <a:ln w="12700">
            <a:solidFill>
              <a:srgbClr val="E5E7EB"/>
            </a:solidFill>
            <a:prstDash val="solid"/>
          </a:ln>
        </p:spPr>
        <p:txBody>
          <a:bodyPr/>
          <a:lstStyle/>
          <a:p>
            <a:endParaRPr lang="en-US"/>
          </a:p>
        </p:txBody>
      </p:sp>
      <p:sp>
        <p:nvSpPr>
          <p:cNvPr id="14" name="Shape 12"/>
          <p:cNvSpPr/>
          <p:nvPr/>
        </p:nvSpPr>
        <p:spPr>
          <a:xfrm>
            <a:off x="525780" y="2834640"/>
            <a:ext cx="73152" cy="1325880"/>
          </a:xfrm>
          <a:prstGeom prst="rect">
            <a:avLst/>
          </a:prstGeom>
          <a:solidFill>
            <a:srgbClr val="4A6FA5"/>
          </a:solidFill>
          <a:ln w="12700">
            <a:solidFill>
              <a:srgbClr val="4A6FA5"/>
            </a:solidFill>
            <a:prstDash val="solid"/>
          </a:ln>
        </p:spPr>
        <p:txBody>
          <a:bodyPr/>
          <a:lstStyle/>
          <a:p>
            <a:endParaRPr lang="en-US"/>
          </a:p>
        </p:txBody>
      </p:sp>
      <p:sp>
        <p:nvSpPr>
          <p:cNvPr id="15" name="Text 13"/>
          <p:cNvSpPr/>
          <p:nvPr/>
        </p:nvSpPr>
        <p:spPr>
          <a:xfrm>
            <a:off x="754380" y="2971800"/>
            <a:ext cx="35661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System dynamics</a:t>
            </a:r>
            <a:endParaRPr lang="en-US" sz="1600" dirty="0"/>
          </a:p>
        </p:txBody>
      </p:sp>
      <p:sp>
        <p:nvSpPr>
          <p:cNvPr id="16" name="Text 14"/>
          <p:cNvSpPr/>
          <p:nvPr/>
        </p:nvSpPr>
        <p:spPr>
          <a:xfrm>
            <a:off x="754380" y="3383280"/>
            <a:ext cx="3566160" cy="68580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Continuous stocks and flows with feedback. Policy ripples, market share over years.</a:t>
            </a:r>
            <a:endParaRPr lang="en-US" sz="1200" dirty="0"/>
          </a:p>
        </p:txBody>
      </p:sp>
      <p:sp>
        <p:nvSpPr>
          <p:cNvPr id="17" name="Shape 15"/>
          <p:cNvSpPr/>
          <p:nvPr/>
        </p:nvSpPr>
        <p:spPr>
          <a:xfrm>
            <a:off x="4686300" y="2834640"/>
            <a:ext cx="3931920" cy="1325880"/>
          </a:xfrm>
          <a:prstGeom prst="rect">
            <a:avLst/>
          </a:prstGeom>
          <a:solidFill>
            <a:srgbClr val="FFFFFF"/>
          </a:solidFill>
          <a:ln w="12700">
            <a:solidFill>
              <a:srgbClr val="E5E7EB"/>
            </a:solidFill>
            <a:prstDash val="solid"/>
          </a:ln>
        </p:spPr>
        <p:txBody>
          <a:bodyPr/>
          <a:lstStyle/>
          <a:p>
            <a:endParaRPr lang="en-US"/>
          </a:p>
        </p:txBody>
      </p:sp>
      <p:sp>
        <p:nvSpPr>
          <p:cNvPr id="18" name="Shape 16"/>
          <p:cNvSpPr/>
          <p:nvPr/>
        </p:nvSpPr>
        <p:spPr>
          <a:xfrm>
            <a:off x="4686300" y="2834640"/>
            <a:ext cx="73152" cy="1325880"/>
          </a:xfrm>
          <a:prstGeom prst="rect">
            <a:avLst/>
          </a:prstGeom>
          <a:solidFill>
            <a:srgbClr val="4A6FA5"/>
          </a:solidFill>
          <a:ln w="12700">
            <a:solidFill>
              <a:srgbClr val="4A6FA5"/>
            </a:solidFill>
            <a:prstDash val="solid"/>
          </a:ln>
        </p:spPr>
        <p:txBody>
          <a:bodyPr/>
          <a:lstStyle/>
          <a:p>
            <a:endParaRPr lang="en-US"/>
          </a:p>
        </p:txBody>
      </p:sp>
      <p:sp>
        <p:nvSpPr>
          <p:cNvPr id="19" name="Text 17"/>
          <p:cNvSpPr/>
          <p:nvPr/>
        </p:nvSpPr>
        <p:spPr>
          <a:xfrm>
            <a:off x="4914900" y="2971800"/>
            <a:ext cx="35661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Agent-based modeling</a:t>
            </a:r>
            <a:endParaRPr lang="en-US" sz="1600" dirty="0"/>
          </a:p>
        </p:txBody>
      </p:sp>
      <p:sp>
        <p:nvSpPr>
          <p:cNvPr id="20" name="Text 18"/>
          <p:cNvSpPr/>
          <p:nvPr/>
        </p:nvSpPr>
        <p:spPr>
          <a:xfrm>
            <a:off x="4914900" y="3383280"/>
            <a:ext cx="3566160" cy="68580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Individual agents with simple rules. Emergent behavior, lane formation, opinion spread.</a:t>
            </a:r>
            <a:endParaRPr lang="en-US" sz="1200" dirty="0"/>
          </a:p>
        </p:txBody>
      </p:sp>
      <p:sp>
        <p:nvSpPr>
          <p:cNvPr id="21" name="Text 19"/>
          <p:cNvSpPr/>
          <p:nvPr/>
        </p:nvSpPr>
        <p:spPr>
          <a:xfrm>
            <a:off x="457200" y="4297680"/>
            <a:ext cx="8229600" cy="320040"/>
          </a:xfrm>
          <a:prstGeom prst="rect">
            <a:avLst/>
          </a:prstGeom>
          <a:noFill/>
          <a:ln/>
        </p:spPr>
        <p:txBody>
          <a:bodyPr wrap="square" rtlCol="0" anchor="ctr"/>
          <a:lstStyle/>
          <a:p>
            <a:pPr marL="0" indent="0" algn="ctr">
              <a:buNone/>
            </a:pPr>
            <a:r>
              <a:rPr lang="en-US" sz="1300" i="1" dirty="0">
                <a:solidFill>
                  <a:srgbClr val="6B7280"/>
                </a:solidFill>
                <a:latin typeface="Arial" pitchFamily="34" charset="0"/>
                <a:ea typeface="Arial" pitchFamily="34" charset="-122"/>
                <a:cs typeface="Arial" pitchFamily="34" charset="-120"/>
              </a:rPr>
              <a:t>Today's question is about queues, waits, and time-sensitive resource constraints. → DES.</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op bar"/>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itle"/>
          <p:cNvSpPr/>
          <p:nvPr/>
        </p:nvSpPr>
        <p:spPr>
          <a:xfrm>
            <a:off x="457200" y="365760"/>
            <a:ext cx="5486400" cy="640080"/>
          </a:xfrm>
          <a:prstGeom prst="rect">
            <a:avLst/>
          </a:prstGeom>
          <a:noFill/>
          <a:ln>
            <a:noFill/>
          </a:ln>
        </p:spPr>
        <p:txBody>
          <a:bodyPr wrap="square" rtlCol="0" anchor="ctr"/>
          <a:lstStyle/>
          <a:p>
            <a:pPr marL="0" indent="0" algn="l">
              <a:buNone/>
            </a:pPr>
            <a:r>
              <a:rPr lang="en-US" sz="3200" b="1" dirty="0">
                <a:solidFill>
                  <a:srgbClr val="1A1A2E"/>
                </a:solidFill>
                <a:latin typeface="Arial" pitchFamily="34" charset="0"/>
                <a:ea typeface="Arial" pitchFamily="34" charset="-122"/>
                <a:cs typeface="Arial" pitchFamily="34" charset="-120"/>
              </a:rPr>
              <a:t>Monte Carlo simulation</a:t>
            </a:r>
          </a:p>
        </p:txBody>
      </p:sp>
      <p:sp>
        <p:nvSpPr>
          <p:cNvPr id="5" name="Card"/>
          <p:cNvSpPr/>
          <p:nvPr/>
        </p:nvSpPr>
        <p:spPr>
          <a:xfrm>
            <a:off x="457200" y="1188720"/>
            <a:ext cx="3886200" cy="3429000"/>
          </a:xfrm>
          <a:prstGeom prst="rect">
            <a:avLst/>
          </a:prstGeom>
          <a:solidFill>
            <a:srgbClr val="FFFFFF"/>
          </a:solidFill>
          <a:ln w="12700">
            <a:solidFill>
              <a:srgbClr val="E5E7EB"/>
            </a:solidFill>
            <a:prstDash val="solid"/>
          </a:ln>
        </p:spPr>
        <p:txBody>
          <a:bodyPr/>
          <a:lstStyle/>
          <a:p>
            <a:endParaRPr lang="en-US"/>
          </a:p>
        </p:txBody>
      </p:sp>
      <p:sp>
        <p:nvSpPr>
          <p:cNvPr id="6" name="Accent bar"/>
          <p:cNvSpPr/>
          <p:nvPr/>
        </p:nvSpPr>
        <p:spPr>
          <a:xfrm>
            <a:off x="457200" y="1188720"/>
            <a:ext cx="73152" cy="3429000"/>
          </a:xfrm>
          <a:prstGeom prst="rect">
            <a:avLst/>
          </a:prstGeom>
          <a:solidFill>
            <a:srgbClr val="4A6FA5"/>
          </a:solidFill>
          <a:ln w="12700">
            <a:solidFill>
              <a:srgbClr val="4A6FA5"/>
            </a:solidFill>
            <a:prstDash val="solid"/>
          </a:ln>
        </p:spPr>
        <p:txBody>
          <a:bodyPr/>
          <a:lstStyle/>
          <a:p>
            <a:endParaRPr lang="en-US"/>
          </a:p>
        </p:txBody>
      </p:sp>
      <p:sp>
        <p:nvSpPr>
          <p:cNvPr id="7" name="Card title"/>
          <p:cNvSpPr/>
          <p:nvPr/>
        </p:nvSpPr>
        <p:spPr>
          <a:xfrm>
            <a:off x="685800" y="1325880"/>
            <a:ext cx="3566160" cy="411480"/>
          </a:xfrm>
          <a:prstGeom prst="rect">
            <a:avLst/>
          </a:prstGeom>
          <a:noFill/>
          <a:ln>
            <a:noFill/>
          </a:ln>
        </p:spPr>
        <p:txBody>
          <a:bodyPr wrap="square" rtlCol="0" anchor="ctr"/>
          <a:lstStyle/>
          <a:p>
            <a:pPr marL="0" indent="0" algn="l">
              <a:buNone/>
            </a:pPr>
            <a:r>
              <a:rPr lang="en-US" sz="2000" b="1" dirty="0">
                <a:solidFill>
                  <a:srgbClr val="4A6FA5"/>
                </a:solidFill>
                <a:latin typeface="Arial" pitchFamily="34" charset="0"/>
                <a:ea typeface="Arial" pitchFamily="34" charset="-122"/>
                <a:cs typeface="Arial" pitchFamily="34" charset="-120"/>
              </a:rPr>
              <a:t>Risk and uncertainty in one number</a:t>
            </a:r>
          </a:p>
        </p:txBody>
      </p:sp>
      <p:sp>
        <p:nvSpPr>
          <p:cNvPr id="8" name="Bullets"/>
          <p:cNvSpPr/>
          <p:nvPr/>
        </p:nvSpPr>
        <p:spPr>
          <a:xfrm>
            <a:off x="685800" y="1828800"/>
            <a:ext cx="3566160" cy="2697480"/>
          </a:xfrm>
          <a:prstGeom prst="rect">
            <a:avLst/>
          </a:prstGeom>
          <a:noFill/>
          <a:ln>
            <a:noFill/>
          </a:ln>
        </p:spPr>
        <p:txBody>
          <a:bodyPr wrap="square" rtlCol="0" anchor="t"/>
          <a:lstStyle/>
          <a:p>
            <a:pPr marL="285750" indent="-228600" algn="l">
              <a:lnSpc>
                <a:spcPct val="120000"/>
              </a:lnSpc>
              <a:spcBef>
                <a:spcPts val="450"/>
              </a:spcBef>
              <a:buClr>
                <a:srgbClr val="4A6FA5"/>
              </a:buClr>
              <a:buFont typeface="Arial" panose="020B0604020202020204" pitchFamily="34" charset="0"/>
              <a:buChar char="•"/>
            </a:pPr>
            <a:r>
              <a:rPr lang="en-US" sz="1400" dirty="0">
                <a:solidFill>
                  <a:srgbClr val="1A1A2E"/>
                </a:solidFill>
                <a:latin typeface="Arial" pitchFamily="34" charset="0"/>
                <a:ea typeface="Arial" pitchFamily="34" charset="-122"/>
                <a:cs typeface="Arial" pitchFamily="34" charset="-120"/>
              </a:rPr>
              <a:t>Sample inputs from probability distributions</a:t>
            </a:r>
          </a:p>
          <a:p>
            <a:pPr marL="285750" indent="-228600" algn="l">
              <a:lnSpc>
                <a:spcPct val="120000"/>
              </a:lnSpc>
              <a:spcBef>
                <a:spcPts val="450"/>
              </a:spcBef>
              <a:buClr>
                <a:srgbClr val="4A6FA5"/>
              </a:buClr>
              <a:buFont typeface="Arial" panose="020B0604020202020204" pitchFamily="34" charset="0"/>
              <a:buChar char="•"/>
            </a:pPr>
            <a:r>
              <a:rPr lang="en-US" sz="1400" dirty="0">
                <a:solidFill>
                  <a:srgbClr val="1A1A2E"/>
                </a:solidFill>
                <a:latin typeface="Arial" pitchFamily="34" charset="0"/>
                <a:ea typeface="Arial" pitchFamily="34" charset="-122"/>
                <a:cs typeface="Arial" pitchFamily="34" charset="-120"/>
              </a:rPr>
              <a:t>Push every sample through a deterministic formula</a:t>
            </a:r>
          </a:p>
          <a:p>
            <a:pPr marL="285750" indent="-228600" algn="l">
              <a:lnSpc>
                <a:spcPct val="120000"/>
              </a:lnSpc>
              <a:spcBef>
                <a:spcPts val="450"/>
              </a:spcBef>
              <a:buClr>
                <a:srgbClr val="4A6FA5"/>
              </a:buClr>
              <a:buFont typeface="Arial" panose="020B0604020202020204" pitchFamily="34" charset="0"/>
              <a:buChar char="•"/>
            </a:pPr>
            <a:r>
              <a:rPr lang="en-US" sz="1400" dirty="0">
                <a:solidFill>
                  <a:srgbClr val="1A1A2E"/>
                </a:solidFill>
                <a:latin typeface="Arial" pitchFamily="34" charset="0"/>
                <a:ea typeface="Arial" pitchFamily="34" charset="-122"/>
                <a:cs typeface="Arial" pitchFamily="34" charset="-120"/>
              </a:rPr>
              <a:t>Repeat thousands of times to build an output distribution</a:t>
            </a:r>
          </a:p>
          <a:p>
            <a:pPr marL="285750" indent="-228600" algn="l">
              <a:lnSpc>
                <a:spcPct val="120000"/>
              </a:lnSpc>
              <a:spcBef>
                <a:spcPts val="450"/>
              </a:spcBef>
              <a:buClr>
                <a:srgbClr val="4A6FA5"/>
              </a:buClr>
              <a:buFont typeface="Arial" panose="020B0604020202020204" pitchFamily="34" charset="0"/>
              <a:buChar char="•"/>
            </a:pPr>
            <a:r>
              <a:rPr lang="en-US" sz="1400" dirty="0">
                <a:solidFill>
                  <a:srgbClr val="1A1A2E"/>
                </a:solidFill>
                <a:latin typeface="Arial" pitchFamily="34" charset="0"/>
                <a:ea typeface="Arial" pitchFamily="34" charset="-122"/>
                <a:cs typeface="Arial" pitchFamily="34" charset="-120"/>
              </a:rPr>
              <a:t>Time does not appear — no clock, no queues</a:t>
            </a:r>
          </a:p>
          <a:p>
            <a:pPr marL="285750" indent="-228600" algn="l">
              <a:lnSpc>
                <a:spcPct val="120000"/>
              </a:lnSpc>
              <a:spcBef>
                <a:spcPts val="450"/>
              </a:spcBef>
              <a:buClr>
                <a:srgbClr val="4A6FA5"/>
              </a:buClr>
              <a:buFont typeface="Arial" panose="020B0604020202020204" pitchFamily="34" charset="0"/>
              <a:buChar char="•"/>
            </a:pPr>
            <a:r>
              <a:rPr lang="en-US" sz="1400" dirty="0">
                <a:solidFill>
                  <a:srgbClr val="1A1A2E"/>
                </a:solidFill>
                <a:latin typeface="Arial" pitchFamily="34" charset="0"/>
                <a:ea typeface="Arial" pitchFamily="34" charset="-122"/>
                <a:cs typeface="Arial" pitchFamily="34" charset="-120"/>
              </a:rPr>
              <a:t>Answers: how likely is each outcome?</a:t>
            </a:r>
          </a:p>
        </p:txBody>
      </p:sp>
      <p:pic>
        <p:nvPicPr>
          <p:cNvPr id="9" name="mc_histogram.png"/>
          <p:cNvPicPr>
            <a:picLocks noChangeAspect="1"/>
          </p:cNvPicPr>
          <p:nvPr/>
        </p:nvPicPr>
        <p:blipFill>
          <a:blip r:embed="rId2"/>
          <a:stretch>
            <a:fillRect/>
          </a:stretch>
        </p:blipFill>
        <p:spPr>
          <a:xfrm>
            <a:off x="4663440" y="1188720"/>
            <a:ext cx="4023360" cy="2487458"/>
          </a:xfrm>
          <a:prstGeom prst="rect">
            <a:avLst/>
          </a:prstGeom>
        </p:spPr>
      </p:pic>
      <p:sp>
        <p:nvSpPr>
          <p:cNvPr id="10" name="Viz caption"/>
          <p:cNvSpPr/>
          <p:nvPr/>
        </p:nvSpPr>
        <p:spPr>
          <a:xfrm>
            <a:off x="4663440" y="3767618"/>
            <a:ext cx="4023360" cy="365760"/>
          </a:xfrm>
          <a:prstGeom prst="rect">
            <a:avLst/>
          </a:prstGeom>
          <a:noFill/>
          <a:ln>
            <a:noFill/>
          </a:ln>
        </p:spPr>
        <p:txBody>
          <a:bodyPr wrap="square" rtlCol="0" anchor="t"/>
          <a:lstStyle/>
          <a:p>
            <a:pPr marL="0" indent="0" algn="ctr">
              <a:buNone/>
            </a:pPr>
            <a:r>
              <a:rPr lang="en-US" sz="1100" i="1" dirty="0">
                <a:solidFill>
                  <a:srgbClr val="6B7280"/>
                </a:solidFill>
                <a:latin typeface="Arial" pitchFamily="34" charset="0"/>
                <a:ea typeface="Arial" pitchFamily="34" charset="-122"/>
                <a:cs typeface="Arial" pitchFamily="34" charset="-120"/>
              </a:rPr>
              <a:t>Cost = labor + materials + (rare risk events). 18% of trials exceed the P90.</a:t>
            </a:r>
          </a:p>
        </p:txBody>
      </p:sp>
      <p:sp>
        <p:nvSpPr>
          <p:cNvPr id="11" name="Footer"/>
          <p:cNvSpPr/>
          <p:nvPr/>
        </p:nvSpPr>
        <p:spPr>
          <a:xfrm>
            <a:off x="457200" y="4663440"/>
            <a:ext cx="8229600" cy="320040"/>
          </a:xfrm>
          <a:prstGeom prst="rect">
            <a:avLst/>
          </a:prstGeom>
          <a:noFill/>
          <a:ln>
            <a:noFill/>
          </a:ln>
        </p:spPr>
        <p:txBody>
          <a:bodyPr wrap="square" rtlCol="0" anchor="ctr"/>
          <a:lstStyle/>
          <a:p>
            <a:pPr marL="0" indent="0" algn="ctr">
              <a:buNone/>
            </a:pPr>
            <a:r>
              <a:rPr lang="en-US" sz="1300" i="1" dirty="0">
                <a:solidFill>
                  <a:srgbClr val="6B7280"/>
                </a:solidFill>
                <a:latin typeface="Arial" pitchFamily="34" charset="0"/>
                <a:ea typeface="Arial" pitchFamily="34" charset="-122"/>
                <a:cs typeface="Arial" pitchFamily="34" charset="-120"/>
              </a:rPr>
              <a:t>Use cases: project costs, portfolio risk, NPV ranges.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op bar"/>
          <p:cNvSpPr/>
          <p:nvPr/>
        </p:nvSpPr>
        <p:spPr>
          <a:xfrm>
            <a:off x="0" y="0"/>
            <a:ext cx="9144000" cy="73152"/>
          </a:xfrm>
          <a:prstGeom prst="rect">
            <a:avLst/>
          </a:prstGeom>
          <a:solidFill>
            <a:srgbClr val="B85042"/>
          </a:solidFill>
          <a:ln w="12700">
            <a:solidFill>
              <a:srgbClr val="B85042"/>
            </a:solidFill>
            <a:prstDash val="solid"/>
          </a:ln>
        </p:spPr>
        <p:txBody>
          <a:bodyPr/>
          <a:lstStyle/>
          <a:p>
            <a:endParaRPr lang="en-US"/>
          </a:p>
        </p:txBody>
      </p:sp>
      <p:sp>
        <p:nvSpPr>
          <p:cNvPr id="3" name="Title"/>
          <p:cNvSpPr/>
          <p:nvPr/>
        </p:nvSpPr>
        <p:spPr>
          <a:xfrm>
            <a:off x="457200" y="365760"/>
            <a:ext cx="5486400" cy="640080"/>
          </a:xfrm>
          <a:prstGeom prst="rect">
            <a:avLst/>
          </a:prstGeom>
          <a:noFill/>
          <a:ln>
            <a:noFill/>
          </a:ln>
        </p:spPr>
        <p:txBody>
          <a:bodyPr wrap="square" rtlCol="0" anchor="ctr"/>
          <a:lstStyle/>
          <a:p>
            <a:pPr marL="0" indent="0" algn="l">
              <a:buNone/>
            </a:pPr>
            <a:r>
              <a:rPr lang="en-US" sz="3200" b="1" dirty="0">
                <a:solidFill>
                  <a:srgbClr val="1A1A2E"/>
                </a:solidFill>
                <a:latin typeface="Arial" pitchFamily="34" charset="0"/>
                <a:ea typeface="Arial" pitchFamily="34" charset="-122"/>
                <a:cs typeface="Arial" pitchFamily="34" charset="-120"/>
              </a:rPr>
              <a:t>Discrete event simulation</a:t>
            </a:r>
          </a:p>
        </p:txBody>
      </p:sp>
      <p:sp>
        <p:nvSpPr>
          <p:cNvPr id="5" name="Card"/>
          <p:cNvSpPr/>
          <p:nvPr/>
        </p:nvSpPr>
        <p:spPr>
          <a:xfrm>
            <a:off x="457200" y="1188720"/>
            <a:ext cx="3886200" cy="3429000"/>
          </a:xfrm>
          <a:prstGeom prst="rect">
            <a:avLst/>
          </a:prstGeom>
          <a:solidFill>
            <a:srgbClr val="FFFFFF"/>
          </a:solidFill>
          <a:ln w="12700">
            <a:solidFill>
              <a:srgbClr val="E5E7EB"/>
            </a:solidFill>
            <a:prstDash val="solid"/>
          </a:ln>
        </p:spPr>
        <p:txBody>
          <a:bodyPr/>
          <a:lstStyle/>
          <a:p>
            <a:endParaRPr lang="en-US"/>
          </a:p>
        </p:txBody>
      </p:sp>
      <p:sp>
        <p:nvSpPr>
          <p:cNvPr id="6" name="Accent bar"/>
          <p:cNvSpPr/>
          <p:nvPr/>
        </p:nvSpPr>
        <p:spPr>
          <a:xfrm>
            <a:off x="457200" y="1188720"/>
            <a:ext cx="73152" cy="3429000"/>
          </a:xfrm>
          <a:prstGeom prst="rect">
            <a:avLst/>
          </a:prstGeom>
          <a:solidFill>
            <a:srgbClr val="B85042"/>
          </a:solidFill>
          <a:ln w="12700">
            <a:solidFill>
              <a:srgbClr val="B85042"/>
            </a:solidFill>
            <a:prstDash val="solid"/>
          </a:ln>
        </p:spPr>
        <p:txBody>
          <a:bodyPr/>
          <a:lstStyle/>
          <a:p>
            <a:endParaRPr lang="en-US"/>
          </a:p>
        </p:txBody>
      </p:sp>
      <p:sp>
        <p:nvSpPr>
          <p:cNvPr id="7" name="Card title"/>
          <p:cNvSpPr/>
          <p:nvPr/>
        </p:nvSpPr>
        <p:spPr>
          <a:xfrm>
            <a:off x="685800" y="1325880"/>
            <a:ext cx="3566160" cy="411480"/>
          </a:xfrm>
          <a:prstGeom prst="rect">
            <a:avLst/>
          </a:prstGeom>
          <a:noFill/>
          <a:ln>
            <a:noFill/>
          </a:ln>
        </p:spPr>
        <p:txBody>
          <a:bodyPr wrap="square" rtlCol="0" anchor="ctr"/>
          <a:lstStyle/>
          <a:p>
            <a:pPr marL="0" indent="0" algn="l">
              <a:buNone/>
            </a:pPr>
            <a:r>
              <a:rPr lang="en-US" sz="2000" b="1" dirty="0">
                <a:solidFill>
                  <a:srgbClr val="B85042"/>
                </a:solidFill>
                <a:latin typeface="Arial" pitchFamily="34" charset="0"/>
                <a:ea typeface="Arial" pitchFamily="34" charset="-122"/>
                <a:cs typeface="Arial" pitchFamily="34" charset="-120"/>
              </a:rPr>
              <a:t>Where bottlenecks come from</a:t>
            </a:r>
          </a:p>
        </p:txBody>
      </p:sp>
      <p:sp>
        <p:nvSpPr>
          <p:cNvPr id="8" name="Bullets"/>
          <p:cNvSpPr/>
          <p:nvPr/>
        </p:nvSpPr>
        <p:spPr>
          <a:xfrm>
            <a:off x="685800" y="1828800"/>
            <a:ext cx="3566160" cy="2697480"/>
          </a:xfrm>
          <a:prstGeom prst="rect">
            <a:avLst/>
          </a:prstGeom>
          <a:noFill/>
          <a:ln>
            <a:noFill/>
          </a:ln>
        </p:spPr>
        <p:txBody>
          <a:bodyPr wrap="square" rtlCol="0" anchor="t"/>
          <a:lstStyle/>
          <a:p>
            <a:pPr marL="285750" indent="-228600" algn="l">
              <a:lnSpc>
                <a:spcPct val="120000"/>
              </a:lnSpc>
              <a:spcBef>
                <a:spcPts val="450"/>
              </a:spcBef>
              <a:buClr>
                <a:srgbClr val="B85042"/>
              </a:buClr>
              <a:buFont typeface="Arial" panose="020B0604020202020204" pitchFamily="34" charset="0"/>
              <a:buChar char="•"/>
            </a:pPr>
            <a:r>
              <a:rPr lang="en-US" sz="1400" dirty="0">
                <a:solidFill>
                  <a:srgbClr val="1A1A2E"/>
                </a:solidFill>
                <a:latin typeface="Arial" pitchFamily="34" charset="0"/>
                <a:ea typeface="Arial" pitchFamily="34" charset="-122"/>
                <a:cs typeface="Arial" pitchFamily="34" charset="-120"/>
              </a:rPr>
              <a:t>Track entities through processes that consume resources</a:t>
            </a:r>
          </a:p>
          <a:p>
            <a:pPr marL="285750" indent="-228600" algn="l">
              <a:lnSpc>
                <a:spcPct val="120000"/>
              </a:lnSpc>
              <a:spcBef>
                <a:spcPts val="450"/>
              </a:spcBef>
              <a:buClr>
                <a:srgbClr val="B85042"/>
              </a:buClr>
              <a:buFont typeface="Arial" panose="020B0604020202020204" pitchFamily="34" charset="0"/>
              <a:buChar char="•"/>
            </a:pPr>
            <a:r>
              <a:rPr lang="en-US" sz="1400" dirty="0">
                <a:solidFill>
                  <a:srgbClr val="1A1A2E"/>
                </a:solidFill>
                <a:latin typeface="Arial" pitchFamily="34" charset="0"/>
                <a:ea typeface="Arial" pitchFamily="34" charset="-122"/>
                <a:cs typeface="Arial" pitchFamily="34" charset="-120"/>
              </a:rPr>
              <a:t>Resources have finite capacity — entities queue when busy</a:t>
            </a:r>
          </a:p>
          <a:p>
            <a:pPr marL="285750" indent="-228600" algn="l">
              <a:lnSpc>
                <a:spcPct val="120000"/>
              </a:lnSpc>
              <a:spcBef>
                <a:spcPts val="450"/>
              </a:spcBef>
              <a:buClr>
                <a:srgbClr val="B85042"/>
              </a:buClr>
              <a:buFont typeface="Arial" panose="020B0604020202020204" pitchFamily="34" charset="0"/>
              <a:buChar char="•"/>
            </a:pPr>
            <a:r>
              <a:rPr lang="en-US" sz="1400" dirty="0">
                <a:solidFill>
                  <a:srgbClr val="1A1A2E"/>
                </a:solidFill>
                <a:latin typeface="Arial" pitchFamily="34" charset="0"/>
                <a:ea typeface="Arial" pitchFamily="34" charset="-122"/>
                <a:cs typeface="Arial" pitchFamily="34" charset="-120"/>
              </a:rPr>
              <a:t>Inter-event times are random (Poisson arrivals, lognormal service)</a:t>
            </a:r>
          </a:p>
          <a:p>
            <a:pPr marL="285750" indent="-228600" algn="l">
              <a:lnSpc>
                <a:spcPct val="120000"/>
              </a:lnSpc>
              <a:spcBef>
                <a:spcPts val="450"/>
              </a:spcBef>
              <a:buClr>
                <a:srgbClr val="B85042"/>
              </a:buClr>
              <a:buFont typeface="Arial" panose="020B0604020202020204" pitchFamily="34" charset="0"/>
              <a:buChar char="•"/>
            </a:pPr>
            <a:r>
              <a:rPr lang="en-US" sz="1400" dirty="0">
                <a:solidFill>
                  <a:srgbClr val="1A1A2E"/>
                </a:solidFill>
                <a:latin typeface="Arial" pitchFamily="34" charset="0"/>
                <a:ea typeface="Arial" pitchFamily="34" charset="-122"/>
                <a:cs typeface="Arial" pitchFamily="34" charset="-120"/>
              </a:rPr>
              <a:t>Time advances event by event, not in fixed ticks</a:t>
            </a:r>
          </a:p>
          <a:p>
            <a:pPr marL="285750" indent="-228600" algn="l">
              <a:lnSpc>
                <a:spcPct val="120000"/>
              </a:lnSpc>
              <a:spcBef>
                <a:spcPts val="450"/>
              </a:spcBef>
              <a:buClr>
                <a:srgbClr val="B85042"/>
              </a:buClr>
              <a:buFont typeface="Arial" panose="020B0604020202020204" pitchFamily="34" charset="0"/>
              <a:buChar char="•"/>
            </a:pPr>
            <a:r>
              <a:rPr lang="en-US" sz="1400" dirty="0">
                <a:solidFill>
                  <a:srgbClr val="1A1A2E"/>
                </a:solidFill>
                <a:latin typeface="Arial" pitchFamily="34" charset="0"/>
                <a:ea typeface="Arial" pitchFamily="34" charset="-122"/>
                <a:cs typeface="Arial" pitchFamily="34" charset="-120"/>
              </a:rPr>
              <a:t>Answers: where are the waits, and how bad do they get?</a:t>
            </a:r>
          </a:p>
        </p:txBody>
      </p:sp>
      <p:pic>
        <p:nvPicPr>
          <p:cNvPr id="9" name="des_queue.png"/>
          <p:cNvPicPr>
            <a:picLocks noChangeAspect="1"/>
          </p:cNvPicPr>
          <p:nvPr/>
        </p:nvPicPr>
        <p:blipFill>
          <a:blip r:embed="rId2"/>
          <a:stretch>
            <a:fillRect/>
          </a:stretch>
        </p:blipFill>
        <p:spPr>
          <a:xfrm>
            <a:off x="4663440" y="1188720"/>
            <a:ext cx="4023360" cy="2487458"/>
          </a:xfrm>
          <a:prstGeom prst="rect">
            <a:avLst/>
          </a:prstGeom>
        </p:spPr>
      </p:pic>
      <p:sp>
        <p:nvSpPr>
          <p:cNvPr id="10" name="Viz caption"/>
          <p:cNvSpPr/>
          <p:nvPr/>
        </p:nvSpPr>
        <p:spPr>
          <a:xfrm>
            <a:off x="4663440" y="3767618"/>
            <a:ext cx="4023360" cy="365760"/>
          </a:xfrm>
          <a:prstGeom prst="rect">
            <a:avLst/>
          </a:prstGeom>
          <a:noFill/>
          <a:ln>
            <a:noFill/>
          </a:ln>
        </p:spPr>
        <p:txBody>
          <a:bodyPr wrap="square" rtlCol="0" anchor="t"/>
          <a:lstStyle/>
          <a:p>
            <a:pPr marL="0" indent="0" algn="ctr">
              <a:buNone/>
            </a:pPr>
            <a:r>
              <a:rPr lang="en-US" sz="1100" i="1" dirty="0">
                <a:solidFill>
                  <a:srgbClr val="6B7280"/>
                </a:solidFill>
                <a:latin typeface="Arial" pitchFamily="34" charset="0"/>
                <a:ea typeface="Arial" pitchFamily="34" charset="-122"/>
                <a:cs typeface="Arial" pitchFamily="34" charset="-120"/>
              </a:rPr>
              <a:t>Two-barista queue, 6 a.m.–12 p.m. The 7–9 a.m. rush is where waits live.</a:t>
            </a:r>
          </a:p>
        </p:txBody>
      </p:sp>
      <p:sp>
        <p:nvSpPr>
          <p:cNvPr id="11" name="Footer"/>
          <p:cNvSpPr/>
          <p:nvPr/>
        </p:nvSpPr>
        <p:spPr>
          <a:xfrm>
            <a:off x="457200" y="4663440"/>
            <a:ext cx="8229600" cy="320040"/>
          </a:xfrm>
          <a:prstGeom prst="rect">
            <a:avLst/>
          </a:prstGeom>
          <a:noFill/>
          <a:ln>
            <a:noFill/>
          </a:ln>
        </p:spPr>
        <p:txBody>
          <a:bodyPr wrap="square" rtlCol="0" anchor="ctr"/>
          <a:lstStyle/>
          <a:p>
            <a:pPr marL="0" indent="0" algn="ctr">
              <a:buNone/>
            </a:pPr>
            <a:r>
              <a:rPr lang="en-US" sz="1300" i="1" dirty="0">
                <a:solidFill>
                  <a:srgbClr val="6B7280"/>
                </a:solidFill>
                <a:latin typeface="Arial" pitchFamily="34" charset="0"/>
                <a:ea typeface="Arial" pitchFamily="34" charset="-122"/>
                <a:cs typeface="Arial" pitchFamily="34" charset="-120"/>
              </a:rPr>
              <a:t>Today's tutorial: a coffee shop with two baristas and a morning rush.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op bar"/>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itle"/>
          <p:cNvSpPr/>
          <p:nvPr/>
        </p:nvSpPr>
        <p:spPr>
          <a:xfrm>
            <a:off x="457200" y="365760"/>
            <a:ext cx="5486400" cy="640080"/>
          </a:xfrm>
          <a:prstGeom prst="rect">
            <a:avLst/>
          </a:prstGeom>
          <a:noFill/>
          <a:ln>
            <a:noFill/>
          </a:ln>
        </p:spPr>
        <p:txBody>
          <a:bodyPr wrap="square" rtlCol="0" anchor="ctr"/>
          <a:lstStyle/>
          <a:p>
            <a:pPr marL="0" indent="0" algn="l">
              <a:buNone/>
            </a:pPr>
            <a:r>
              <a:rPr lang="en-US" sz="3200" b="1" dirty="0">
                <a:solidFill>
                  <a:srgbClr val="1A1A2E"/>
                </a:solidFill>
                <a:latin typeface="Arial" pitchFamily="34" charset="0"/>
                <a:ea typeface="Arial" pitchFamily="34" charset="-122"/>
                <a:cs typeface="Arial" pitchFamily="34" charset="-120"/>
              </a:rPr>
              <a:t>System dynamics</a:t>
            </a:r>
          </a:p>
        </p:txBody>
      </p:sp>
      <p:sp>
        <p:nvSpPr>
          <p:cNvPr id="5" name="Card"/>
          <p:cNvSpPr/>
          <p:nvPr/>
        </p:nvSpPr>
        <p:spPr>
          <a:xfrm>
            <a:off x="457200" y="1188720"/>
            <a:ext cx="3886200" cy="3429000"/>
          </a:xfrm>
          <a:prstGeom prst="rect">
            <a:avLst/>
          </a:prstGeom>
          <a:solidFill>
            <a:srgbClr val="FFFFFF"/>
          </a:solidFill>
          <a:ln w="12700">
            <a:solidFill>
              <a:srgbClr val="E5E7EB"/>
            </a:solidFill>
            <a:prstDash val="solid"/>
          </a:ln>
        </p:spPr>
        <p:txBody>
          <a:bodyPr/>
          <a:lstStyle/>
          <a:p>
            <a:endParaRPr lang="en-US"/>
          </a:p>
        </p:txBody>
      </p:sp>
      <p:sp>
        <p:nvSpPr>
          <p:cNvPr id="6" name="Accent bar"/>
          <p:cNvSpPr/>
          <p:nvPr/>
        </p:nvSpPr>
        <p:spPr>
          <a:xfrm>
            <a:off x="457200" y="1188720"/>
            <a:ext cx="73152" cy="3429000"/>
          </a:xfrm>
          <a:prstGeom prst="rect">
            <a:avLst/>
          </a:prstGeom>
          <a:solidFill>
            <a:srgbClr val="4A6FA5"/>
          </a:solidFill>
          <a:ln w="12700">
            <a:solidFill>
              <a:srgbClr val="4A6FA5"/>
            </a:solidFill>
            <a:prstDash val="solid"/>
          </a:ln>
        </p:spPr>
        <p:txBody>
          <a:bodyPr/>
          <a:lstStyle/>
          <a:p>
            <a:endParaRPr lang="en-US"/>
          </a:p>
        </p:txBody>
      </p:sp>
      <p:sp>
        <p:nvSpPr>
          <p:cNvPr id="7" name="Card title"/>
          <p:cNvSpPr/>
          <p:nvPr/>
        </p:nvSpPr>
        <p:spPr>
          <a:xfrm>
            <a:off x="685800" y="1325880"/>
            <a:ext cx="3566160" cy="411480"/>
          </a:xfrm>
          <a:prstGeom prst="rect">
            <a:avLst/>
          </a:prstGeom>
          <a:noFill/>
          <a:ln>
            <a:noFill/>
          </a:ln>
        </p:spPr>
        <p:txBody>
          <a:bodyPr wrap="square" rtlCol="0" anchor="ctr"/>
          <a:lstStyle/>
          <a:p>
            <a:pPr marL="0" indent="0" algn="l">
              <a:buNone/>
            </a:pPr>
            <a:r>
              <a:rPr lang="en-US" sz="2000" b="1" dirty="0">
                <a:solidFill>
                  <a:srgbClr val="4A6FA5"/>
                </a:solidFill>
                <a:latin typeface="Arial" pitchFamily="34" charset="0"/>
                <a:ea typeface="Arial" pitchFamily="34" charset="-122"/>
                <a:cs typeface="Arial" pitchFamily="34" charset="-120"/>
              </a:rPr>
              <a:t>Feedback over months and years</a:t>
            </a:r>
          </a:p>
        </p:txBody>
      </p:sp>
      <p:sp>
        <p:nvSpPr>
          <p:cNvPr id="8" name="Bullets"/>
          <p:cNvSpPr/>
          <p:nvPr/>
        </p:nvSpPr>
        <p:spPr>
          <a:xfrm>
            <a:off x="685800" y="1828800"/>
            <a:ext cx="3566160" cy="2697480"/>
          </a:xfrm>
          <a:prstGeom prst="rect">
            <a:avLst/>
          </a:prstGeom>
          <a:noFill/>
          <a:ln>
            <a:noFill/>
          </a:ln>
        </p:spPr>
        <p:txBody>
          <a:bodyPr wrap="square" rtlCol="0" anchor="t"/>
          <a:lstStyle/>
          <a:p>
            <a:pPr marL="285750" indent="-228600" algn="l">
              <a:lnSpc>
                <a:spcPct val="120000"/>
              </a:lnSpc>
              <a:spcBef>
                <a:spcPts val="450"/>
              </a:spcBef>
              <a:buClr>
                <a:srgbClr val="4A6FA5"/>
              </a:buClr>
              <a:buFont typeface="Arial" panose="020B0604020202020204" pitchFamily="34" charset="0"/>
              <a:buChar char="•"/>
            </a:pPr>
            <a:r>
              <a:rPr lang="en-US" sz="1400" dirty="0">
                <a:solidFill>
                  <a:srgbClr val="1A1A2E"/>
                </a:solidFill>
                <a:latin typeface="Arial" pitchFamily="34" charset="0"/>
                <a:ea typeface="Arial" pitchFamily="34" charset="-122"/>
                <a:cs typeface="Arial" pitchFamily="34" charset="-120"/>
              </a:rPr>
              <a:t>Continuous stocks (levels) connected by flows (rates)</a:t>
            </a:r>
          </a:p>
          <a:p>
            <a:pPr marL="285750" indent="-228600" algn="l">
              <a:lnSpc>
                <a:spcPct val="120000"/>
              </a:lnSpc>
              <a:spcBef>
                <a:spcPts val="450"/>
              </a:spcBef>
              <a:buClr>
                <a:srgbClr val="4A6FA5"/>
              </a:buClr>
              <a:buFont typeface="Arial" panose="020B0604020202020204" pitchFamily="34" charset="0"/>
              <a:buChar char="•"/>
            </a:pPr>
            <a:r>
              <a:rPr lang="en-US" sz="1400" dirty="0">
                <a:solidFill>
                  <a:srgbClr val="1A1A2E"/>
                </a:solidFill>
                <a:latin typeface="Arial" pitchFamily="34" charset="0"/>
                <a:ea typeface="Arial" pitchFamily="34" charset="-122"/>
                <a:cs typeface="Arial" pitchFamily="34" charset="-120"/>
              </a:rPr>
              <a:t>Feedback loops — outputs change inputs at the next time step</a:t>
            </a:r>
          </a:p>
          <a:p>
            <a:pPr marL="285750" indent="-228600" algn="l">
              <a:lnSpc>
                <a:spcPct val="120000"/>
              </a:lnSpc>
              <a:spcBef>
                <a:spcPts val="450"/>
              </a:spcBef>
              <a:buClr>
                <a:srgbClr val="4A6FA5"/>
              </a:buClr>
              <a:buFont typeface="Arial" panose="020B0604020202020204" pitchFamily="34" charset="0"/>
              <a:buChar char="•"/>
            </a:pPr>
            <a:r>
              <a:rPr lang="en-US" sz="1400" dirty="0">
                <a:solidFill>
                  <a:srgbClr val="1A1A2E"/>
                </a:solidFill>
                <a:latin typeface="Arial" pitchFamily="34" charset="0"/>
                <a:ea typeface="Arial" pitchFamily="34" charset="-122"/>
                <a:cs typeface="Arial" pitchFamily="34" charset="-120"/>
              </a:rPr>
              <a:t>Solved with differential equations, not events</a:t>
            </a:r>
          </a:p>
          <a:p>
            <a:pPr marL="285750" indent="-228600" algn="l">
              <a:lnSpc>
                <a:spcPct val="120000"/>
              </a:lnSpc>
              <a:spcBef>
                <a:spcPts val="450"/>
              </a:spcBef>
              <a:buClr>
                <a:srgbClr val="4A6FA5"/>
              </a:buClr>
              <a:buFont typeface="Arial" panose="020B0604020202020204" pitchFamily="34" charset="0"/>
              <a:buChar char="•"/>
            </a:pPr>
            <a:r>
              <a:rPr lang="en-US" sz="1400" dirty="0">
                <a:solidFill>
                  <a:srgbClr val="1A1A2E"/>
                </a:solidFill>
                <a:latin typeface="Arial" pitchFamily="34" charset="0"/>
                <a:ea typeface="Arial" pitchFamily="34" charset="-122"/>
                <a:cs typeface="Arial" pitchFamily="34" charset="-120"/>
              </a:rPr>
              <a:t>Time horizon is months to years, not minutes</a:t>
            </a:r>
          </a:p>
          <a:p>
            <a:pPr marL="285750" indent="-228600" algn="l">
              <a:lnSpc>
                <a:spcPct val="120000"/>
              </a:lnSpc>
              <a:spcBef>
                <a:spcPts val="450"/>
              </a:spcBef>
              <a:buClr>
                <a:srgbClr val="4A6FA5"/>
              </a:buClr>
              <a:buFont typeface="Arial" panose="020B0604020202020204" pitchFamily="34" charset="0"/>
              <a:buChar char="•"/>
            </a:pPr>
            <a:r>
              <a:rPr lang="en-US" sz="1400" dirty="0">
                <a:solidFill>
                  <a:srgbClr val="1A1A2E"/>
                </a:solidFill>
                <a:latin typeface="Arial" pitchFamily="34" charset="0"/>
                <a:ea typeface="Arial" pitchFamily="34" charset="-122"/>
                <a:cs typeface="Arial" pitchFamily="34" charset="-120"/>
              </a:rPr>
              <a:t>Answers: how does a policy change ripple through the system?</a:t>
            </a:r>
          </a:p>
        </p:txBody>
      </p:sp>
      <p:pic>
        <p:nvPicPr>
          <p:cNvPr id="9" name="sd_stocks.png"/>
          <p:cNvPicPr>
            <a:picLocks noChangeAspect="1"/>
          </p:cNvPicPr>
          <p:nvPr/>
        </p:nvPicPr>
        <p:blipFill>
          <a:blip r:embed="rId2"/>
          <a:stretch>
            <a:fillRect/>
          </a:stretch>
        </p:blipFill>
        <p:spPr>
          <a:xfrm>
            <a:off x="4663440" y="1188720"/>
            <a:ext cx="4023360" cy="2487458"/>
          </a:xfrm>
          <a:prstGeom prst="rect">
            <a:avLst/>
          </a:prstGeom>
        </p:spPr>
      </p:pic>
      <p:sp>
        <p:nvSpPr>
          <p:cNvPr id="10" name="Viz caption"/>
          <p:cNvSpPr/>
          <p:nvPr/>
        </p:nvSpPr>
        <p:spPr>
          <a:xfrm>
            <a:off x="4663440" y="3767618"/>
            <a:ext cx="4023360" cy="365760"/>
          </a:xfrm>
          <a:prstGeom prst="rect">
            <a:avLst/>
          </a:prstGeom>
          <a:noFill/>
          <a:ln>
            <a:noFill/>
          </a:ln>
        </p:spPr>
        <p:txBody>
          <a:bodyPr wrap="square" rtlCol="0" anchor="t"/>
          <a:lstStyle/>
          <a:p>
            <a:pPr marL="0" indent="0" algn="ctr">
              <a:buNone/>
            </a:pPr>
            <a:r>
              <a:rPr lang="en-US" sz="1100" i="1" dirty="0">
                <a:solidFill>
                  <a:srgbClr val="6B7280"/>
                </a:solidFill>
                <a:latin typeface="Arial" pitchFamily="34" charset="0"/>
                <a:ea typeface="Arial" pitchFamily="34" charset="-122"/>
                <a:cs typeface="Arial" pitchFamily="34" charset="-120"/>
              </a:rPr>
              <a:t>SIR model: Infected stock peaks, then drains as Susceptible empties — classic feedback.</a:t>
            </a:r>
          </a:p>
        </p:txBody>
      </p:sp>
      <p:sp>
        <p:nvSpPr>
          <p:cNvPr id="11" name="Footer"/>
          <p:cNvSpPr/>
          <p:nvPr/>
        </p:nvSpPr>
        <p:spPr>
          <a:xfrm>
            <a:off x="457200" y="4663440"/>
            <a:ext cx="8229600" cy="320040"/>
          </a:xfrm>
          <a:prstGeom prst="rect">
            <a:avLst/>
          </a:prstGeom>
          <a:noFill/>
          <a:ln>
            <a:noFill/>
          </a:ln>
        </p:spPr>
        <p:txBody>
          <a:bodyPr wrap="square" rtlCol="0" anchor="ctr"/>
          <a:lstStyle/>
          <a:p>
            <a:pPr marL="0" indent="0" algn="ctr">
              <a:buNone/>
            </a:pPr>
            <a:r>
              <a:rPr lang="en-US" sz="1300" i="1" dirty="0">
                <a:solidFill>
                  <a:srgbClr val="6B7280"/>
                </a:solidFill>
                <a:latin typeface="Arial" pitchFamily="34" charset="0"/>
                <a:ea typeface="Arial" pitchFamily="34" charset="-122"/>
                <a:cs typeface="Arial" pitchFamily="34" charset="-120"/>
              </a:rPr>
              <a:t>Use cases: market share, public health, supply chains, climate models.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op bar"/>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itle"/>
          <p:cNvSpPr/>
          <p:nvPr/>
        </p:nvSpPr>
        <p:spPr>
          <a:xfrm>
            <a:off x="457200" y="365760"/>
            <a:ext cx="5486400" cy="640080"/>
          </a:xfrm>
          <a:prstGeom prst="rect">
            <a:avLst/>
          </a:prstGeom>
          <a:noFill/>
          <a:ln>
            <a:noFill/>
          </a:ln>
        </p:spPr>
        <p:txBody>
          <a:bodyPr wrap="square" rtlCol="0" anchor="ctr"/>
          <a:lstStyle/>
          <a:p>
            <a:pPr marL="0" indent="0" algn="l">
              <a:buNone/>
            </a:pPr>
            <a:r>
              <a:rPr lang="en-US" sz="3200" b="1" dirty="0">
                <a:solidFill>
                  <a:srgbClr val="1A1A2E"/>
                </a:solidFill>
                <a:latin typeface="Arial" pitchFamily="34" charset="0"/>
                <a:ea typeface="Arial" pitchFamily="34" charset="-122"/>
                <a:cs typeface="Arial" pitchFamily="34" charset="-120"/>
              </a:rPr>
              <a:t>Agent-based modeling</a:t>
            </a:r>
          </a:p>
        </p:txBody>
      </p:sp>
      <p:sp>
        <p:nvSpPr>
          <p:cNvPr id="5" name="Card"/>
          <p:cNvSpPr/>
          <p:nvPr/>
        </p:nvSpPr>
        <p:spPr>
          <a:xfrm>
            <a:off x="457200" y="1188720"/>
            <a:ext cx="3886200" cy="3429000"/>
          </a:xfrm>
          <a:prstGeom prst="rect">
            <a:avLst/>
          </a:prstGeom>
          <a:solidFill>
            <a:srgbClr val="FFFFFF"/>
          </a:solidFill>
          <a:ln w="12700">
            <a:solidFill>
              <a:srgbClr val="E5E7EB"/>
            </a:solidFill>
            <a:prstDash val="solid"/>
          </a:ln>
        </p:spPr>
        <p:txBody>
          <a:bodyPr/>
          <a:lstStyle/>
          <a:p>
            <a:endParaRPr lang="en-US"/>
          </a:p>
        </p:txBody>
      </p:sp>
      <p:sp>
        <p:nvSpPr>
          <p:cNvPr id="6" name="Accent bar"/>
          <p:cNvSpPr/>
          <p:nvPr/>
        </p:nvSpPr>
        <p:spPr>
          <a:xfrm>
            <a:off x="457200" y="1188720"/>
            <a:ext cx="73152" cy="3429000"/>
          </a:xfrm>
          <a:prstGeom prst="rect">
            <a:avLst/>
          </a:prstGeom>
          <a:solidFill>
            <a:srgbClr val="4A6FA5"/>
          </a:solidFill>
          <a:ln w="12700">
            <a:solidFill>
              <a:srgbClr val="4A6FA5"/>
            </a:solidFill>
            <a:prstDash val="solid"/>
          </a:ln>
        </p:spPr>
        <p:txBody>
          <a:bodyPr/>
          <a:lstStyle/>
          <a:p>
            <a:endParaRPr lang="en-US"/>
          </a:p>
        </p:txBody>
      </p:sp>
      <p:sp>
        <p:nvSpPr>
          <p:cNvPr id="7" name="Card title"/>
          <p:cNvSpPr/>
          <p:nvPr/>
        </p:nvSpPr>
        <p:spPr>
          <a:xfrm>
            <a:off x="685800" y="1325880"/>
            <a:ext cx="3566160" cy="411480"/>
          </a:xfrm>
          <a:prstGeom prst="rect">
            <a:avLst/>
          </a:prstGeom>
          <a:noFill/>
          <a:ln>
            <a:noFill/>
          </a:ln>
        </p:spPr>
        <p:txBody>
          <a:bodyPr wrap="square" rtlCol="0" anchor="ctr"/>
          <a:lstStyle/>
          <a:p>
            <a:pPr marL="0" indent="0" algn="l">
              <a:buNone/>
            </a:pPr>
            <a:r>
              <a:rPr lang="en-US" sz="2000" b="1" dirty="0">
                <a:solidFill>
                  <a:srgbClr val="4A6FA5"/>
                </a:solidFill>
                <a:latin typeface="Arial" pitchFamily="34" charset="0"/>
                <a:ea typeface="Arial" pitchFamily="34" charset="-122"/>
                <a:cs typeface="Arial" pitchFamily="34" charset="-120"/>
              </a:rPr>
              <a:t>Bottom-up emergent behavior</a:t>
            </a:r>
          </a:p>
        </p:txBody>
      </p:sp>
      <p:sp>
        <p:nvSpPr>
          <p:cNvPr id="8" name="Bullets"/>
          <p:cNvSpPr/>
          <p:nvPr/>
        </p:nvSpPr>
        <p:spPr>
          <a:xfrm>
            <a:off x="685800" y="1828800"/>
            <a:ext cx="3566160" cy="2697480"/>
          </a:xfrm>
          <a:prstGeom prst="rect">
            <a:avLst/>
          </a:prstGeom>
          <a:noFill/>
          <a:ln>
            <a:noFill/>
          </a:ln>
        </p:spPr>
        <p:txBody>
          <a:bodyPr wrap="square" rtlCol="0" anchor="t"/>
          <a:lstStyle/>
          <a:p>
            <a:pPr marL="285750" indent="-228600" algn="l">
              <a:lnSpc>
                <a:spcPct val="120000"/>
              </a:lnSpc>
              <a:spcBef>
                <a:spcPts val="450"/>
              </a:spcBef>
              <a:buClr>
                <a:srgbClr val="4A6FA5"/>
              </a:buClr>
              <a:buFont typeface="Arial" panose="020B0604020202020204" pitchFamily="34" charset="0"/>
              <a:buChar char="•"/>
            </a:pPr>
            <a:r>
              <a:rPr lang="en-US" sz="1400" dirty="0">
                <a:solidFill>
                  <a:srgbClr val="1A1A2E"/>
                </a:solidFill>
                <a:latin typeface="Arial" pitchFamily="34" charset="0"/>
                <a:ea typeface="Arial" pitchFamily="34" charset="-122"/>
                <a:cs typeface="Arial" pitchFamily="34" charset="-120"/>
              </a:rPr>
              <a:t>Many agents, each following simple individual rules</a:t>
            </a:r>
          </a:p>
          <a:p>
            <a:pPr marL="285750" indent="-228600" algn="l">
              <a:lnSpc>
                <a:spcPct val="120000"/>
              </a:lnSpc>
              <a:spcBef>
                <a:spcPts val="450"/>
              </a:spcBef>
              <a:buClr>
                <a:srgbClr val="4A6FA5"/>
              </a:buClr>
              <a:buFont typeface="Arial" panose="020B0604020202020204" pitchFamily="34" charset="0"/>
              <a:buChar char="•"/>
            </a:pPr>
            <a:r>
              <a:rPr lang="en-US" sz="1400" dirty="0">
                <a:solidFill>
                  <a:srgbClr val="1A1A2E"/>
                </a:solidFill>
                <a:latin typeface="Arial" pitchFamily="34" charset="0"/>
                <a:ea typeface="Arial" pitchFamily="34" charset="-122"/>
                <a:cs typeface="Arial" pitchFamily="34" charset="-120"/>
              </a:rPr>
              <a:t>Local interactions on a grid or network</a:t>
            </a:r>
          </a:p>
          <a:p>
            <a:pPr marL="285750" indent="-228600" algn="l">
              <a:lnSpc>
                <a:spcPct val="120000"/>
              </a:lnSpc>
              <a:spcBef>
                <a:spcPts val="450"/>
              </a:spcBef>
              <a:buClr>
                <a:srgbClr val="4A6FA5"/>
              </a:buClr>
              <a:buFont typeface="Arial" panose="020B0604020202020204" pitchFamily="34" charset="0"/>
              <a:buChar char="•"/>
            </a:pPr>
            <a:r>
              <a:rPr lang="en-US" sz="1400" dirty="0">
                <a:solidFill>
                  <a:srgbClr val="1A1A2E"/>
                </a:solidFill>
                <a:latin typeface="Arial" pitchFamily="34" charset="0"/>
                <a:ea typeface="Arial" pitchFamily="34" charset="-122"/>
                <a:cs typeface="Arial" pitchFamily="34" charset="-120"/>
              </a:rPr>
              <a:t>Heterogeneous — different parameters per agent</a:t>
            </a:r>
          </a:p>
          <a:p>
            <a:pPr marL="285750" indent="-228600" algn="l">
              <a:lnSpc>
                <a:spcPct val="120000"/>
              </a:lnSpc>
              <a:spcBef>
                <a:spcPts val="450"/>
              </a:spcBef>
              <a:buClr>
                <a:srgbClr val="4A6FA5"/>
              </a:buClr>
              <a:buFont typeface="Arial" panose="020B0604020202020204" pitchFamily="34" charset="0"/>
              <a:buChar char="•"/>
            </a:pPr>
            <a:r>
              <a:rPr lang="en-US" sz="1400" dirty="0">
                <a:solidFill>
                  <a:srgbClr val="1A1A2E"/>
                </a:solidFill>
                <a:latin typeface="Arial" pitchFamily="34" charset="0"/>
                <a:ea typeface="Arial" pitchFamily="34" charset="-122"/>
                <a:cs typeface="Arial" pitchFamily="34" charset="-120"/>
              </a:rPr>
              <a:t>Global patterns emerge from the bottom up</a:t>
            </a:r>
          </a:p>
          <a:p>
            <a:pPr marL="285750" indent="-228600" algn="l">
              <a:lnSpc>
                <a:spcPct val="120000"/>
              </a:lnSpc>
              <a:spcBef>
                <a:spcPts val="450"/>
              </a:spcBef>
              <a:buClr>
                <a:srgbClr val="4A6FA5"/>
              </a:buClr>
              <a:buFont typeface="Arial" panose="020B0604020202020204" pitchFamily="34" charset="0"/>
              <a:buChar char="•"/>
            </a:pPr>
            <a:r>
              <a:rPr lang="en-US" sz="1400" dirty="0">
                <a:solidFill>
                  <a:srgbClr val="1A1A2E"/>
                </a:solidFill>
                <a:latin typeface="Arial" pitchFamily="34" charset="0"/>
                <a:ea typeface="Arial" pitchFamily="34" charset="-122"/>
                <a:cs typeface="Arial" pitchFamily="34" charset="-120"/>
              </a:rPr>
              <a:t>Answers: what collective patterns arise from individual behavior?</a:t>
            </a:r>
          </a:p>
        </p:txBody>
      </p:sp>
      <p:sp>
        <p:nvSpPr>
          <p:cNvPr id="11" name="Footer"/>
          <p:cNvSpPr/>
          <p:nvPr/>
        </p:nvSpPr>
        <p:spPr>
          <a:xfrm>
            <a:off x="457200" y="4663440"/>
            <a:ext cx="8229600" cy="320040"/>
          </a:xfrm>
          <a:prstGeom prst="rect">
            <a:avLst/>
          </a:prstGeom>
          <a:noFill/>
          <a:ln>
            <a:noFill/>
          </a:ln>
        </p:spPr>
        <p:txBody>
          <a:bodyPr wrap="square" rtlCol="0" anchor="ctr"/>
          <a:lstStyle/>
          <a:p>
            <a:pPr marL="0" indent="0" algn="ctr">
              <a:buNone/>
            </a:pPr>
            <a:r>
              <a:rPr lang="en-US" sz="1300" i="1" dirty="0">
                <a:solidFill>
                  <a:srgbClr val="6B7280"/>
                </a:solidFill>
                <a:latin typeface="Arial" pitchFamily="34" charset="0"/>
                <a:ea typeface="Arial" pitchFamily="34" charset="-122"/>
                <a:cs typeface="Arial" pitchFamily="34" charset="-120"/>
              </a:rPr>
              <a:t>Use cases: opinion dynamics, lane formation, epidemic spread, market crashes.</a:t>
            </a:r>
          </a:p>
        </p:txBody>
      </p:sp>
      <p:pic>
        <p:nvPicPr>
          <p:cNvPr id="12" name="Picture 11">
            <a:extLst>
              <a:ext uri="{FF2B5EF4-FFF2-40B4-BE49-F238E27FC236}">
                <a16:creationId xmlns:a16="http://schemas.microsoft.com/office/drawing/2014/main" id="{E3C73A90-F6A4-AC67-16FC-84D55BDD77D8}"/>
              </a:ext>
            </a:extLst>
          </p:cNvPr>
          <p:cNvPicPr>
            <a:picLocks noChangeAspect="1"/>
          </p:cNvPicPr>
          <p:nvPr/>
        </p:nvPicPr>
        <p:blipFill>
          <a:blip r:embed="rId2"/>
          <a:stretch>
            <a:fillRect/>
          </a:stretch>
        </p:blipFill>
        <p:spPr>
          <a:xfrm>
            <a:off x="4989028" y="1207008"/>
            <a:ext cx="3145080" cy="34725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When to reach for DES</a:t>
            </a:r>
            <a:endParaRPr lang="en-US" sz="3200" dirty="0"/>
          </a:p>
        </p:txBody>
      </p:sp>
      <p:sp>
        <p:nvSpPr>
          <p:cNvPr id="5" name="Shape 3"/>
          <p:cNvSpPr/>
          <p:nvPr/>
        </p:nvSpPr>
        <p:spPr>
          <a:xfrm>
            <a:off x="822960" y="1435608"/>
            <a:ext cx="274320" cy="274320"/>
          </a:xfrm>
          <a:prstGeom prst="ellipse">
            <a:avLst/>
          </a:prstGeom>
          <a:solidFill>
            <a:srgbClr val="4A6FA5"/>
          </a:solidFill>
          <a:ln w="12700">
            <a:solidFill>
              <a:srgbClr val="4A6FA5"/>
            </a:solidFill>
            <a:prstDash val="solid"/>
          </a:ln>
        </p:spPr>
        <p:txBody>
          <a:bodyPr/>
          <a:lstStyle/>
          <a:p>
            <a:endParaRPr lang="en-US"/>
          </a:p>
        </p:txBody>
      </p:sp>
      <p:sp>
        <p:nvSpPr>
          <p:cNvPr id="6" name="Text 4"/>
          <p:cNvSpPr/>
          <p:nvPr/>
        </p:nvSpPr>
        <p:spPr>
          <a:xfrm>
            <a:off x="822960" y="1435608"/>
            <a:ext cx="274320" cy="2743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1280160" y="1371600"/>
            <a:ext cx="7315200" cy="457200"/>
          </a:xfrm>
          <a:prstGeom prst="rect">
            <a:avLst/>
          </a:prstGeom>
          <a:noFill/>
          <a:ln/>
        </p:spPr>
        <p:txBody>
          <a:bodyPr wrap="square" rtlCol="0" anchor="ctr"/>
          <a:lstStyle/>
          <a:p>
            <a:pPr marL="0" indent="0">
              <a:buNone/>
            </a:pPr>
            <a:r>
              <a:rPr lang="en-US" sz="1600" dirty="0">
                <a:solidFill>
                  <a:srgbClr val="1A1A2E"/>
                </a:solidFill>
                <a:latin typeface="Arial" pitchFamily="34" charset="0"/>
                <a:ea typeface="Arial" pitchFamily="34" charset="-122"/>
                <a:cs typeface="Arial" pitchFamily="34" charset="-120"/>
              </a:rPr>
              <a:t>Entities have identities that matter (customers, orders, patients)</a:t>
            </a:r>
            <a:endParaRPr lang="en-US" sz="1600" dirty="0"/>
          </a:p>
        </p:txBody>
      </p:sp>
      <p:sp>
        <p:nvSpPr>
          <p:cNvPr id="8" name="Shape 6"/>
          <p:cNvSpPr/>
          <p:nvPr/>
        </p:nvSpPr>
        <p:spPr>
          <a:xfrm>
            <a:off x="822960" y="2029968"/>
            <a:ext cx="274320" cy="274320"/>
          </a:xfrm>
          <a:prstGeom prst="ellipse">
            <a:avLst/>
          </a:prstGeom>
          <a:solidFill>
            <a:srgbClr val="4A6FA5"/>
          </a:solidFill>
          <a:ln w="12700">
            <a:solidFill>
              <a:srgbClr val="4A6FA5"/>
            </a:solidFill>
            <a:prstDash val="solid"/>
          </a:ln>
        </p:spPr>
        <p:txBody>
          <a:bodyPr/>
          <a:lstStyle/>
          <a:p>
            <a:endParaRPr lang="en-US"/>
          </a:p>
        </p:txBody>
      </p:sp>
      <p:sp>
        <p:nvSpPr>
          <p:cNvPr id="9" name="Text 7"/>
          <p:cNvSpPr/>
          <p:nvPr/>
        </p:nvSpPr>
        <p:spPr>
          <a:xfrm>
            <a:off x="822960" y="2029968"/>
            <a:ext cx="274320" cy="2743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0" name="Text 8"/>
          <p:cNvSpPr/>
          <p:nvPr/>
        </p:nvSpPr>
        <p:spPr>
          <a:xfrm>
            <a:off x="1280160" y="1965960"/>
            <a:ext cx="7315200" cy="457200"/>
          </a:xfrm>
          <a:prstGeom prst="rect">
            <a:avLst/>
          </a:prstGeom>
          <a:noFill/>
          <a:ln/>
        </p:spPr>
        <p:txBody>
          <a:bodyPr wrap="square" rtlCol="0" anchor="ctr"/>
          <a:lstStyle/>
          <a:p>
            <a:pPr marL="0" indent="0">
              <a:buNone/>
            </a:pPr>
            <a:r>
              <a:rPr lang="en-US" sz="1600" dirty="0">
                <a:solidFill>
                  <a:srgbClr val="1A1A2E"/>
                </a:solidFill>
                <a:latin typeface="Arial" pitchFamily="34" charset="0"/>
                <a:ea typeface="Arial" pitchFamily="34" charset="-122"/>
                <a:cs typeface="Arial" pitchFamily="34" charset="-120"/>
              </a:rPr>
              <a:t>Resources have finite capacity that entities compete for</a:t>
            </a:r>
            <a:endParaRPr lang="en-US" sz="1600" dirty="0"/>
          </a:p>
        </p:txBody>
      </p:sp>
      <p:sp>
        <p:nvSpPr>
          <p:cNvPr id="11" name="Shape 9"/>
          <p:cNvSpPr/>
          <p:nvPr/>
        </p:nvSpPr>
        <p:spPr>
          <a:xfrm>
            <a:off x="822960" y="2624328"/>
            <a:ext cx="274320" cy="274320"/>
          </a:xfrm>
          <a:prstGeom prst="ellipse">
            <a:avLst/>
          </a:prstGeom>
          <a:solidFill>
            <a:srgbClr val="4A6FA5"/>
          </a:solidFill>
          <a:ln w="12700">
            <a:solidFill>
              <a:srgbClr val="4A6FA5"/>
            </a:solidFill>
            <a:prstDash val="solid"/>
          </a:ln>
        </p:spPr>
        <p:txBody>
          <a:bodyPr/>
          <a:lstStyle/>
          <a:p>
            <a:endParaRPr lang="en-US"/>
          </a:p>
        </p:txBody>
      </p:sp>
      <p:sp>
        <p:nvSpPr>
          <p:cNvPr id="12" name="Text 10"/>
          <p:cNvSpPr/>
          <p:nvPr/>
        </p:nvSpPr>
        <p:spPr>
          <a:xfrm>
            <a:off x="822960" y="2624328"/>
            <a:ext cx="274320" cy="2743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3" name="Text 11"/>
          <p:cNvSpPr/>
          <p:nvPr/>
        </p:nvSpPr>
        <p:spPr>
          <a:xfrm>
            <a:off x="1280160" y="2560320"/>
            <a:ext cx="7315200" cy="457200"/>
          </a:xfrm>
          <a:prstGeom prst="rect">
            <a:avLst/>
          </a:prstGeom>
          <a:noFill/>
          <a:ln/>
        </p:spPr>
        <p:txBody>
          <a:bodyPr wrap="square" rtlCol="0" anchor="ctr"/>
          <a:lstStyle/>
          <a:p>
            <a:pPr marL="0" indent="0">
              <a:buNone/>
            </a:pPr>
            <a:r>
              <a:rPr lang="en-US" sz="1600" dirty="0">
                <a:solidFill>
                  <a:srgbClr val="1A1A2E"/>
                </a:solidFill>
                <a:latin typeface="Arial" pitchFamily="34" charset="0"/>
                <a:ea typeface="Arial" pitchFamily="34" charset="-122"/>
                <a:cs typeface="Arial" pitchFamily="34" charset="-120"/>
              </a:rPr>
              <a:t>Variability in arrivals or service times drives behavior</a:t>
            </a:r>
            <a:endParaRPr lang="en-US" sz="1600" dirty="0"/>
          </a:p>
        </p:txBody>
      </p:sp>
      <p:sp>
        <p:nvSpPr>
          <p:cNvPr id="14" name="Shape 12"/>
          <p:cNvSpPr/>
          <p:nvPr/>
        </p:nvSpPr>
        <p:spPr>
          <a:xfrm>
            <a:off x="822960" y="3218688"/>
            <a:ext cx="274320" cy="274320"/>
          </a:xfrm>
          <a:prstGeom prst="ellipse">
            <a:avLst/>
          </a:prstGeom>
          <a:solidFill>
            <a:srgbClr val="4A6FA5"/>
          </a:solidFill>
          <a:ln w="12700">
            <a:solidFill>
              <a:srgbClr val="4A6FA5"/>
            </a:solidFill>
            <a:prstDash val="solid"/>
          </a:ln>
        </p:spPr>
        <p:txBody>
          <a:bodyPr/>
          <a:lstStyle/>
          <a:p>
            <a:endParaRPr lang="en-US"/>
          </a:p>
        </p:txBody>
      </p:sp>
      <p:sp>
        <p:nvSpPr>
          <p:cNvPr id="15" name="Text 13"/>
          <p:cNvSpPr/>
          <p:nvPr/>
        </p:nvSpPr>
        <p:spPr>
          <a:xfrm>
            <a:off x="822960" y="3218688"/>
            <a:ext cx="274320" cy="2743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6" name="Text 14"/>
          <p:cNvSpPr/>
          <p:nvPr/>
        </p:nvSpPr>
        <p:spPr>
          <a:xfrm>
            <a:off x="1280160" y="3154680"/>
            <a:ext cx="7315200" cy="457200"/>
          </a:xfrm>
          <a:prstGeom prst="rect">
            <a:avLst/>
          </a:prstGeom>
          <a:noFill/>
          <a:ln/>
        </p:spPr>
        <p:txBody>
          <a:bodyPr wrap="square" rtlCol="0" anchor="ctr"/>
          <a:lstStyle/>
          <a:p>
            <a:pPr marL="0" indent="0">
              <a:buNone/>
            </a:pPr>
            <a:r>
              <a:rPr lang="en-US" sz="1600" dirty="0">
                <a:solidFill>
                  <a:srgbClr val="1A1A2E"/>
                </a:solidFill>
                <a:latin typeface="Arial" pitchFamily="34" charset="0"/>
                <a:ea typeface="Arial" pitchFamily="34" charset="-122"/>
                <a:cs typeface="Arial" pitchFamily="34" charset="-120"/>
              </a:rPr>
              <a:t>The question is about waits, queues, throughput, or bottlenecks</a:t>
            </a:r>
            <a:endParaRPr lang="en-US" sz="1600" dirty="0"/>
          </a:p>
        </p:txBody>
      </p:sp>
      <p:sp>
        <p:nvSpPr>
          <p:cNvPr id="17" name="Shape 15"/>
          <p:cNvSpPr/>
          <p:nvPr/>
        </p:nvSpPr>
        <p:spPr>
          <a:xfrm>
            <a:off x="822960" y="3813048"/>
            <a:ext cx="274320" cy="274320"/>
          </a:xfrm>
          <a:prstGeom prst="ellipse">
            <a:avLst/>
          </a:prstGeom>
          <a:solidFill>
            <a:srgbClr val="4A6FA5"/>
          </a:solidFill>
          <a:ln w="12700">
            <a:solidFill>
              <a:srgbClr val="4A6FA5"/>
            </a:solidFill>
            <a:prstDash val="solid"/>
          </a:ln>
        </p:spPr>
        <p:txBody>
          <a:bodyPr/>
          <a:lstStyle/>
          <a:p>
            <a:endParaRPr lang="en-US"/>
          </a:p>
        </p:txBody>
      </p:sp>
      <p:sp>
        <p:nvSpPr>
          <p:cNvPr id="18" name="Text 16"/>
          <p:cNvSpPr/>
          <p:nvPr/>
        </p:nvSpPr>
        <p:spPr>
          <a:xfrm>
            <a:off x="822960" y="3813048"/>
            <a:ext cx="274320" cy="2743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9" name="Text 17"/>
          <p:cNvSpPr/>
          <p:nvPr/>
        </p:nvSpPr>
        <p:spPr>
          <a:xfrm>
            <a:off x="1280160" y="3749040"/>
            <a:ext cx="7315200" cy="457200"/>
          </a:xfrm>
          <a:prstGeom prst="rect">
            <a:avLst/>
          </a:prstGeom>
          <a:noFill/>
          <a:ln/>
        </p:spPr>
        <p:txBody>
          <a:bodyPr wrap="square" rtlCol="0" anchor="ctr"/>
          <a:lstStyle/>
          <a:p>
            <a:pPr marL="0" indent="0">
              <a:buNone/>
            </a:pPr>
            <a:r>
              <a:rPr lang="en-US" sz="1600" dirty="0">
                <a:solidFill>
                  <a:srgbClr val="1A1A2E"/>
                </a:solidFill>
                <a:latin typeface="Arial" pitchFamily="34" charset="0"/>
                <a:ea typeface="Arial" pitchFamily="34" charset="-122"/>
                <a:cs typeface="Arial" pitchFamily="34" charset="-120"/>
              </a:rPr>
              <a:t>When things happen matters as much as what happens</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Exercise 1 — Classify the scenarios</a:t>
            </a:r>
            <a:endParaRPr lang="en-US" sz="3200" dirty="0"/>
          </a:p>
        </p:txBody>
      </p:sp>
      <p:sp>
        <p:nvSpPr>
          <p:cNvPr id="5" name="Text 3"/>
          <p:cNvSpPr/>
          <p:nvPr/>
        </p:nvSpPr>
        <p:spPr>
          <a:xfrm>
            <a:off x="457200" y="1188720"/>
            <a:ext cx="8229600" cy="365760"/>
          </a:xfrm>
          <a:prstGeom prst="rect">
            <a:avLst/>
          </a:prstGeom>
          <a:noFill/>
          <a:ln/>
        </p:spPr>
        <p:txBody>
          <a:bodyPr wrap="square" rtlCol="0" anchor="ctr"/>
          <a:lstStyle/>
          <a:p>
            <a:pPr marL="0" indent="0">
              <a:buNone/>
            </a:pPr>
            <a:r>
              <a:rPr lang="en-US" sz="1600" dirty="0">
                <a:solidFill>
                  <a:srgbClr val="6B7280"/>
                </a:solidFill>
                <a:latin typeface="Arial" pitchFamily="34" charset="0"/>
                <a:ea typeface="Arial" pitchFamily="34" charset="-122"/>
                <a:cs typeface="Arial" pitchFamily="34" charset="-120"/>
              </a:rPr>
              <a:t>In pairs, tag each problem: MC · DES · SD · ABM</a:t>
            </a:r>
            <a:endParaRPr lang="en-US" sz="1600" dirty="0"/>
          </a:p>
        </p:txBody>
      </p:sp>
      <p:sp>
        <p:nvSpPr>
          <p:cNvPr id="6" name="Text 4"/>
          <p:cNvSpPr/>
          <p:nvPr/>
        </p:nvSpPr>
        <p:spPr>
          <a:xfrm>
            <a:off x="640080" y="1691640"/>
            <a:ext cx="3657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097280" y="1691640"/>
            <a:ext cx="7498080" cy="365760"/>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What's our probability of hitting Q4 revenue target?</a:t>
            </a:r>
            <a:endParaRPr lang="en-US" sz="1400" dirty="0"/>
          </a:p>
        </p:txBody>
      </p:sp>
      <p:sp>
        <p:nvSpPr>
          <p:cNvPr id="8" name="Text 6"/>
          <p:cNvSpPr/>
          <p:nvPr/>
        </p:nvSpPr>
        <p:spPr>
          <a:xfrm>
            <a:off x="640080" y="2194560"/>
            <a:ext cx="3657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2.</a:t>
            </a:r>
            <a:endParaRPr lang="en-US" sz="1600" dirty="0"/>
          </a:p>
        </p:txBody>
      </p:sp>
      <p:sp>
        <p:nvSpPr>
          <p:cNvPr id="9" name="Text 7"/>
          <p:cNvSpPr/>
          <p:nvPr/>
        </p:nvSpPr>
        <p:spPr>
          <a:xfrm>
            <a:off x="1097280" y="2194560"/>
            <a:ext cx="7498080" cy="365760"/>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Why are patients waiting 45 min when staffing looks adequate?</a:t>
            </a:r>
            <a:endParaRPr lang="en-US" sz="1400" dirty="0"/>
          </a:p>
        </p:txBody>
      </p:sp>
      <p:sp>
        <p:nvSpPr>
          <p:cNvPr id="10" name="Text 8"/>
          <p:cNvSpPr/>
          <p:nvPr/>
        </p:nvSpPr>
        <p:spPr>
          <a:xfrm>
            <a:off x="640080" y="2697480"/>
            <a:ext cx="3657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3.</a:t>
            </a:r>
            <a:endParaRPr lang="en-US" sz="1600" dirty="0"/>
          </a:p>
        </p:txBody>
      </p:sp>
      <p:sp>
        <p:nvSpPr>
          <p:cNvPr id="11" name="Text 9"/>
          <p:cNvSpPr/>
          <p:nvPr/>
        </p:nvSpPr>
        <p:spPr>
          <a:xfrm>
            <a:off x="1097280" y="2697480"/>
            <a:ext cx="7498080" cy="365760"/>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How does a 10% price increase affect market share over 3 years?</a:t>
            </a:r>
            <a:endParaRPr lang="en-US" sz="1400" dirty="0"/>
          </a:p>
        </p:txBody>
      </p:sp>
      <p:sp>
        <p:nvSpPr>
          <p:cNvPr id="12" name="Text 10"/>
          <p:cNvSpPr/>
          <p:nvPr/>
        </p:nvSpPr>
        <p:spPr>
          <a:xfrm>
            <a:off x="640080" y="3200400"/>
            <a:ext cx="3657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4.</a:t>
            </a:r>
            <a:endParaRPr lang="en-US" sz="1600" dirty="0"/>
          </a:p>
        </p:txBody>
      </p:sp>
      <p:sp>
        <p:nvSpPr>
          <p:cNvPr id="13" name="Text 11"/>
          <p:cNvSpPr/>
          <p:nvPr/>
        </p:nvSpPr>
        <p:spPr>
          <a:xfrm>
            <a:off x="1097280" y="3200400"/>
            <a:ext cx="7498080" cy="365760"/>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Will pedestrians naturally form lanes on a crowded sidewalk?</a:t>
            </a:r>
            <a:endParaRPr lang="en-US" sz="1400" dirty="0"/>
          </a:p>
        </p:txBody>
      </p:sp>
      <p:sp>
        <p:nvSpPr>
          <p:cNvPr id="14" name="Text 12"/>
          <p:cNvSpPr/>
          <p:nvPr/>
        </p:nvSpPr>
        <p:spPr>
          <a:xfrm>
            <a:off x="640080" y="3703320"/>
            <a:ext cx="3657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5.</a:t>
            </a:r>
            <a:endParaRPr lang="en-US" sz="1600" dirty="0"/>
          </a:p>
        </p:txBody>
      </p:sp>
      <p:sp>
        <p:nvSpPr>
          <p:cNvPr id="15" name="Text 13"/>
          <p:cNvSpPr/>
          <p:nvPr/>
        </p:nvSpPr>
        <p:spPr>
          <a:xfrm>
            <a:off x="1097280" y="3703320"/>
            <a:ext cx="7498080" cy="365760"/>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Which warehouse layout minimizes order fulfillment during peak?</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FE4D01-76F6-9CFC-DB6C-DF4132AB0E50}"/>
              </a:ext>
            </a:extLst>
          </p:cNvPr>
          <p:cNvPicPr>
            <a:picLocks noChangeAspect="1"/>
          </p:cNvPicPr>
          <p:nvPr/>
        </p:nvPicPr>
        <p:blipFill>
          <a:blip r:embed="rId2"/>
          <a:stretch>
            <a:fillRect/>
          </a:stretch>
        </p:blipFill>
        <p:spPr>
          <a:xfrm>
            <a:off x="217475" y="342634"/>
            <a:ext cx="8926525" cy="4458231"/>
          </a:xfrm>
          <a:prstGeom prst="rect">
            <a:avLst/>
          </a:prstGeom>
        </p:spPr>
      </p:pic>
    </p:spTree>
    <p:extLst>
      <p:ext uri="{BB962C8B-B14F-4D97-AF65-F5344CB8AC3E}">
        <p14:creationId xmlns:p14="http://schemas.microsoft.com/office/powerpoint/2010/main" val="3611197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The coffee shop paradox</a:t>
            </a:r>
            <a:endParaRPr lang="en-US" sz="3200" dirty="0"/>
          </a:p>
        </p:txBody>
      </p:sp>
      <p:sp>
        <p:nvSpPr>
          <p:cNvPr id="5" name="Text 3"/>
          <p:cNvSpPr/>
          <p:nvPr/>
        </p:nvSpPr>
        <p:spPr>
          <a:xfrm>
            <a:off x="731520" y="1280160"/>
            <a:ext cx="3200400" cy="1371600"/>
          </a:xfrm>
          <a:prstGeom prst="rect">
            <a:avLst/>
          </a:prstGeom>
          <a:noFill/>
          <a:ln/>
        </p:spPr>
        <p:txBody>
          <a:bodyPr wrap="square" rtlCol="0" anchor="ctr"/>
          <a:lstStyle/>
          <a:p>
            <a:pPr marL="0" indent="0" algn="ctr">
              <a:buNone/>
            </a:pPr>
            <a:r>
              <a:rPr lang="en-US" sz="11000" b="1" dirty="0">
                <a:solidFill>
                  <a:srgbClr val="4A6FA5"/>
                </a:solidFill>
                <a:latin typeface="Arial" pitchFamily="34" charset="0"/>
                <a:ea typeface="Arial" pitchFamily="34" charset="-122"/>
                <a:cs typeface="Arial" pitchFamily="34" charset="-120"/>
              </a:rPr>
              <a:t>83%</a:t>
            </a:r>
            <a:endParaRPr lang="en-US" sz="11000" dirty="0"/>
          </a:p>
        </p:txBody>
      </p:sp>
      <p:sp>
        <p:nvSpPr>
          <p:cNvPr id="6" name="Text 4"/>
          <p:cNvSpPr/>
          <p:nvPr/>
        </p:nvSpPr>
        <p:spPr>
          <a:xfrm>
            <a:off x="731520" y="2697480"/>
            <a:ext cx="3200400" cy="365760"/>
          </a:xfrm>
          <a:prstGeom prst="rect">
            <a:avLst/>
          </a:prstGeom>
          <a:noFill/>
          <a:ln/>
        </p:spPr>
        <p:txBody>
          <a:bodyPr wrap="square" rtlCol="0" anchor="ctr"/>
          <a:lstStyle/>
          <a:p>
            <a:pPr marL="0" indent="0" algn="ctr">
              <a:buNone/>
            </a:pPr>
            <a:r>
              <a:rPr lang="en-US" sz="1400" dirty="0">
                <a:solidFill>
                  <a:srgbClr val="6B7280"/>
                </a:solidFill>
                <a:latin typeface="Arial" pitchFamily="34" charset="0"/>
                <a:ea typeface="Arial" pitchFamily="34" charset="-122"/>
                <a:cs typeface="Arial" pitchFamily="34" charset="-120"/>
              </a:rPr>
              <a:t>morning utilization</a:t>
            </a:r>
            <a:endParaRPr lang="en-US" sz="1400" dirty="0"/>
          </a:p>
        </p:txBody>
      </p:sp>
      <p:sp>
        <p:nvSpPr>
          <p:cNvPr id="7" name="Text 5"/>
          <p:cNvSpPr/>
          <p:nvPr/>
        </p:nvSpPr>
        <p:spPr>
          <a:xfrm>
            <a:off x="731520" y="3108960"/>
            <a:ext cx="3200400" cy="365760"/>
          </a:xfrm>
          <a:prstGeom prst="rect">
            <a:avLst/>
          </a:prstGeom>
          <a:noFill/>
          <a:ln/>
        </p:spPr>
        <p:txBody>
          <a:bodyPr wrap="square" rtlCol="0" anchor="ctr"/>
          <a:lstStyle/>
          <a:p>
            <a:pPr marL="0" indent="0" algn="ctr">
              <a:buNone/>
            </a:pPr>
            <a:r>
              <a:rPr lang="en-US" sz="1400" i="1" dirty="0">
                <a:solidFill>
                  <a:srgbClr val="9CA3AF"/>
                </a:solidFill>
                <a:latin typeface="Arial" pitchFamily="34" charset="0"/>
                <a:ea typeface="Arial" pitchFamily="34" charset="-122"/>
                <a:cs typeface="Arial" pitchFamily="34" charset="-120"/>
              </a:rPr>
              <a:t>"Plenty of capacity"</a:t>
            </a:r>
            <a:endParaRPr lang="en-US" sz="1400" dirty="0"/>
          </a:p>
        </p:txBody>
      </p:sp>
      <p:sp>
        <p:nvSpPr>
          <p:cNvPr id="8" name="Text 6"/>
          <p:cNvSpPr/>
          <p:nvPr/>
        </p:nvSpPr>
        <p:spPr>
          <a:xfrm>
            <a:off x="3931920" y="1188720"/>
            <a:ext cx="484632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The setup</a:t>
            </a:r>
            <a:endParaRPr lang="en-US" sz="1600" dirty="0"/>
          </a:p>
        </p:txBody>
      </p:sp>
      <p:sp>
        <p:nvSpPr>
          <p:cNvPr id="9" name="Text 7"/>
          <p:cNvSpPr/>
          <p:nvPr/>
        </p:nvSpPr>
        <p:spPr>
          <a:xfrm>
            <a:off x="3931920" y="1554480"/>
            <a:ext cx="4846320" cy="1371600"/>
          </a:xfrm>
          <a:prstGeom prst="rect">
            <a:avLst/>
          </a:prstGeom>
          <a:noFill/>
          <a:ln/>
        </p:spPr>
        <p:txBody>
          <a:bodyPr wrap="square" rtlCol="0" anchor="t"/>
          <a:lstStyle/>
          <a:p>
            <a:pPr marL="0" indent="0">
              <a:buNone/>
            </a:pPr>
            <a:r>
              <a:rPr lang="en-US" sz="1400" dirty="0">
                <a:solidFill>
                  <a:srgbClr val="1A1A2E"/>
                </a:solidFill>
                <a:latin typeface="Arial" pitchFamily="34" charset="0"/>
                <a:ea typeface="Arial" pitchFamily="34" charset="-122"/>
                <a:cs typeface="Arial" pitchFamily="34" charset="-120"/>
              </a:rPr>
              <a:t>2 baristas serving ~18 customers/hour each
30 customers/hour during the morning rush
Capacity 36/hr, demand 30/hr — math says fine
</a:t>
            </a:r>
            <a:r>
              <a:rPr lang="en-US" sz="1600" b="1" dirty="0">
                <a:solidFill>
                  <a:srgbClr val="B85042"/>
                </a:solidFill>
                <a:latin typeface="Arial" pitchFamily="34" charset="0"/>
                <a:ea typeface="Arial" pitchFamily="34" charset="-122"/>
                <a:cs typeface="Arial" pitchFamily="34" charset="-120"/>
              </a:rPr>
              <a:t>What the owner sees</a:t>
            </a:r>
            <a:endParaRPr lang="en-US" sz="1400" dirty="0"/>
          </a:p>
        </p:txBody>
      </p:sp>
      <p:sp>
        <p:nvSpPr>
          <p:cNvPr id="10" name="Text 8"/>
          <p:cNvSpPr/>
          <p:nvPr/>
        </p:nvSpPr>
        <p:spPr>
          <a:xfrm>
            <a:off x="3931920" y="2926080"/>
            <a:ext cx="4846320" cy="1371600"/>
          </a:xfrm>
          <a:prstGeom prst="rect">
            <a:avLst/>
          </a:prstGeom>
          <a:noFill/>
          <a:ln/>
        </p:spPr>
        <p:txBody>
          <a:bodyPr wrap="square" rtlCol="0" anchor="t"/>
          <a:lstStyle/>
          <a:p>
            <a:pPr marL="0" indent="0">
              <a:buNone/>
            </a:pPr>
            <a:r>
              <a:rPr lang="en-US" sz="1400" dirty="0">
                <a:solidFill>
                  <a:srgbClr val="1A1A2E"/>
                </a:solidFill>
                <a:latin typeface="Arial" pitchFamily="34" charset="0"/>
                <a:ea typeface="Arial" pitchFamily="34" charset="-122"/>
                <a:cs typeface="Arial" pitchFamily="34" charset="-120"/>
              </a:rPr>
              <a:t>Lines of 6+ during the rush.</a:t>
            </a:r>
            <a:endParaRPr lang="en-US" sz="1400" dirty="0"/>
          </a:p>
          <a:p>
            <a:pPr marL="0" indent="0">
              <a:buNone/>
            </a:pPr>
            <a:r>
              <a:rPr lang="en-US" sz="1400" dirty="0">
                <a:solidFill>
                  <a:srgbClr val="1A1A2E"/>
                </a:solidFill>
                <a:latin typeface="Arial" pitchFamily="34" charset="0"/>
                <a:ea typeface="Arial" pitchFamily="34" charset="-122"/>
                <a:cs typeface="Arial" pitchFamily="34" charset="-120"/>
              </a:rPr>
              <a:t>Customers walking out.</a:t>
            </a:r>
            <a:endParaRPr lang="en-US" sz="1400" dirty="0"/>
          </a:p>
          <a:p>
            <a:pPr marL="0" indent="0">
              <a:buNone/>
            </a:pPr>
            <a:r>
              <a:rPr lang="en-US" sz="1400" dirty="0">
                <a:solidFill>
                  <a:srgbClr val="1A1A2E"/>
                </a:solidFill>
                <a:latin typeface="Arial" pitchFamily="34" charset="0"/>
                <a:ea typeface="Arial" pitchFamily="34" charset="-122"/>
                <a:cs typeface="Arial" pitchFamily="34" charset="-120"/>
              </a:rPr>
              <a:t>The averages say nothing is wrong.</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Variability causes backlogs</a:t>
            </a:r>
            <a:endParaRPr lang="en-US" sz="3200" dirty="0"/>
          </a:p>
        </p:txBody>
      </p:sp>
      <p:sp>
        <p:nvSpPr>
          <p:cNvPr id="5" name="Text 3"/>
          <p:cNvSpPr/>
          <p:nvPr/>
        </p:nvSpPr>
        <p:spPr>
          <a:xfrm>
            <a:off x="457200" y="1188720"/>
            <a:ext cx="8229600" cy="822960"/>
          </a:xfrm>
          <a:prstGeom prst="rect">
            <a:avLst/>
          </a:prstGeom>
          <a:noFill/>
          <a:ln/>
        </p:spPr>
        <p:txBody>
          <a:bodyPr wrap="square" rtlCol="0" anchor="ctr"/>
          <a:lstStyle/>
          <a:p>
            <a:pPr marL="0" indent="0" algn="ctr">
              <a:buNone/>
            </a:pPr>
            <a:r>
              <a:rPr lang="en-US" sz="1800" i="1" dirty="0">
                <a:solidFill>
                  <a:srgbClr val="1A1A2E"/>
                </a:solidFill>
                <a:latin typeface="Arial" pitchFamily="34" charset="0"/>
                <a:ea typeface="Arial" pitchFamily="34" charset="-122"/>
                <a:cs typeface="Arial" pitchFamily="34" charset="-120"/>
              </a:rPr>
              <a:t>Wait time does not scale linearly with utilization.</a:t>
            </a:r>
            <a:endParaRPr lang="en-US" sz="1800" dirty="0"/>
          </a:p>
          <a:p>
            <a:pPr marL="0" indent="0" algn="ctr">
              <a:buNone/>
            </a:pPr>
            <a:r>
              <a:rPr lang="en-US" sz="1800" i="1" dirty="0">
                <a:solidFill>
                  <a:srgbClr val="1A1A2E"/>
                </a:solidFill>
                <a:latin typeface="Arial" pitchFamily="34" charset="0"/>
                <a:ea typeface="Arial" pitchFamily="34" charset="-122"/>
                <a:cs typeface="Arial" pitchFamily="34" charset="-120"/>
              </a:rPr>
              <a:t>It explodes as you approach 100%.</a:t>
            </a:r>
            <a:endParaRPr lang="en-US" sz="1800" dirty="0"/>
          </a:p>
        </p:txBody>
      </p:sp>
      <p:sp>
        <p:nvSpPr>
          <p:cNvPr id="6" name="Shape 4"/>
          <p:cNvSpPr/>
          <p:nvPr/>
        </p:nvSpPr>
        <p:spPr>
          <a:xfrm>
            <a:off x="457200" y="2286000"/>
            <a:ext cx="2560320" cy="1554480"/>
          </a:xfrm>
          <a:prstGeom prst="rect">
            <a:avLst/>
          </a:prstGeom>
          <a:solidFill>
            <a:srgbClr val="FFFFFF"/>
          </a:solidFill>
          <a:ln w="25400">
            <a:solidFill>
              <a:srgbClr val="4A6FA5"/>
            </a:solidFill>
            <a:prstDash val="solid"/>
          </a:ln>
        </p:spPr>
        <p:txBody>
          <a:bodyPr/>
          <a:lstStyle/>
          <a:p>
            <a:endParaRPr lang="en-US"/>
          </a:p>
        </p:txBody>
      </p:sp>
      <p:sp>
        <p:nvSpPr>
          <p:cNvPr id="7" name="Text 5"/>
          <p:cNvSpPr/>
          <p:nvPr/>
        </p:nvSpPr>
        <p:spPr>
          <a:xfrm>
            <a:off x="548640" y="2468880"/>
            <a:ext cx="2377440" cy="457200"/>
          </a:xfrm>
          <a:prstGeom prst="rect">
            <a:avLst/>
          </a:prstGeom>
          <a:noFill/>
          <a:ln/>
        </p:spPr>
        <p:txBody>
          <a:bodyPr wrap="square" rtlCol="0" anchor="ctr"/>
          <a:lstStyle/>
          <a:p>
            <a:pPr marL="0" indent="0" algn="ctr">
              <a:buNone/>
            </a:pPr>
            <a:r>
              <a:rPr lang="en-US" sz="2200" b="1" dirty="0">
                <a:solidFill>
                  <a:srgbClr val="4A6FA5"/>
                </a:solidFill>
                <a:latin typeface="Arial" pitchFamily="34" charset="0"/>
                <a:ea typeface="Arial" pitchFamily="34" charset="-122"/>
                <a:cs typeface="Arial" pitchFamily="34" charset="-120"/>
              </a:rPr>
              <a:t>ρ = 0.50</a:t>
            </a:r>
            <a:endParaRPr lang="en-US" sz="2200" dirty="0"/>
          </a:p>
        </p:txBody>
      </p:sp>
      <p:sp>
        <p:nvSpPr>
          <p:cNvPr id="8" name="Text 6"/>
          <p:cNvSpPr/>
          <p:nvPr/>
        </p:nvSpPr>
        <p:spPr>
          <a:xfrm>
            <a:off x="640080" y="3063240"/>
            <a:ext cx="2194560" cy="731520"/>
          </a:xfrm>
          <a:prstGeom prst="rect">
            <a:avLst/>
          </a:prstGeom>
          <a:noFill/>
          <a:ln/>
        </p:spPr>
        <p:txBody>
          <a:bodyPr wrap="square" rtlCol="0" anchor="t"/>
          <a:lstStyle/>
          <a:p>
            <a:pPr marL="0" indent="0" algn="ctr">
              <a:buNone/>
            </a:pPr>
            <a:r>
              <a:rPr lang="en-US" sz="1300" dirty="0">
                <a:solidFill>
                  <a:srgbClr val="1A1A2E"/>
                </a:solidFill>
                <a:latin typeface="Arial" pitchFamily="34" charset="0"/>
                <a:ea typeface="Arial" pitchFamily="34" charset="-122"/>
                <a:cs typeface="Arial" pitchFamily="34" charset="-120"/>
              </a:rPr>
              <a:t>Short, predictable waits.</a:t>
            </a:r>
            <a:endParaRPr lang="en-US" sz="1300" dirty="0"/>
          </a:p>
        </p:txBody>
      </p:sp>
      <p:sp>
        <p:nvSpPr>
          <p:cNvPr id="9" name="Shape 7"/>
          <p:cNvSpPr/>
          <p:nvPr/>
        </p:nvSpPr>
        <p:spPr>
          <a:xfrm>
            <a:off x="3291840" y="2286000"/>
            <a:ext cx="2560320" cy="1554480"/>
          </a:xfrm>
          <a:prstGeom prst="rect">
            <a:avLst/>
          </a:prstGeom>
          <a:solidFill>
            <a:srgbClr val="FFFFFF"/>
          </a:solidFill>
          <a:ln w="25400">
            <a:solidFill>
              <a:srgbClr val="C9A227"/>
            </a:solidFill>
            <a:prstDash val="solid"/>
          </a:ln>
        </p:spPr>
        <p:txBody>
          <a:bodyPr/>
          <a:lstStyle/>
          <a:p>
            <a:endParaRPr lang="en-US"/>
          </a:p>
        </p:txBody>
      </p:sp>
      <p:sp>
        <p:nvSpPr>
          <p:cNvPr id="10" name="Text 8"/>
          <p:cNvSpPr/>
          <p:nvPr/>
        </p:nvSpPr>
        <p:spPr>
          <a:xfrm>
            <a:off x="3383280" y="2468880"/>
            <a:ext cx="2377440" cy="457200"/>
          </a:xfrm>
          <a:prstGeom prst="rect">
            <a:avLst/>
          </a:prstGeom>
          <a:noFill/>
          <a:ln/>
        </p:spPr>
        <p:txBody>
          <a:bodyPr wrap="square" rtlCol="0" anchor="ctr"/>
          <a:lstStyle/>
          <a:p>
            <a:pPr marL="0" indent="0" algn="ctr">
              <a:buNone/>
            </a:pPr>
            <a:r>
              <a:rPr lang="en-US" sz="2200" b="1" dirty="0">
                <a:solidFill>
                  <a:srgbClr val="C9A227"/>
                </a:solidFill>
                <a:latin typeface="Arial" pitchFamily="34" charset="0"/>
                <a:ea typeface="Arial" pitchFamily="34" charset="-122"/>
                <a:cs typeface="Arial" pitchFamily="34" charset="-120"/>
              </a:rPr>
              <a:t>ρ = 0.80</a:t>
            </a:r>
            <a:endParaRPr lang="en-US" sz="2200" dirty="0"/>
          </a:p>
        </p:txBody>
      </p:sp>
      <p:sp>
        <p:nvSpPr>
          <p:cNvPr id="11" name="Text 9"/>
          <p:cNvSpPr/>
          <p:nvPr/>
        </p:nvSpPr>
        <p:spPr>
          <a:xfrm>
            <a:off x="3474720" y="3063240"/>
            <a:ext cx="2194560" cy="731520"/>
          </a:xfrm>
          <a:prstGeom prst="rect">
            <a:avLst/>
          </a:prstGeom>
          <a:noFill/>
          <a:ln/>
        </p:spPr>
        <p:txBody>
          <a:bodyPr wrap="square" rtlCol="0" anchor="t"/>
          <a:lstStyle/>
          <a:p>
            <a:pPr marL="0" indent="0" algn="ctr">
              <a:buNone/>
            </a:pPr>
            <a:r>
              <a:rPr lang="en-US" sz="1300" dirty="0">
                <a:solidFill>
                  <a:srgbClr val="1A1A2E"/>
                </a:solidFill>
                <a:latin typeface="Arial" pitchFamily="34" charset="0"/>
                <a:ea typeface="Arial" pitchFamily="34" charset="-122"/>
                <a:cs typeface="Arial" pitchFamily="34" charset="-120"/>
              </a:rPr>
              <a:t>Visible queues. Manageable.</a:t>
            </a:r>
            <a:endParaRPr lang="en-US" sz="1300" dirty="0"/>
          </a:p>
        </p:txBody>
      </p:sp>
      <p:sp>
        <p:nvSpPr>
          <p:cNvPr id="12" name="Shape 10"/>
          <p:cNvSpPr/>
          <p:nvPr/>
        </p:nvSpPr>
        <p:spPr>
          <a:xfrm>
            <a:off x="6126480" y="2286000"/>
            <a:ext cx="2560320" cy="1554480"/>
          </a:xfrm>
          <a:prstGeom prst="rect">
            <a:avLst/>
          </a:prstGeom>
          <a:solidFill>
            <a:srgbClr val="FFFFFF"/>
          </a:solidFill>
          <a:ln w="25400">
            <a:solidFill>
              <a:srgbClr val="B85042"/>
            </a:solidFill>
            <a:prstDash val="solid"/>
          </a:ln>
        </p:spPr>
        <p:txBody>
          <a:bodyPr/>
          <a:lstStyle/>
          <a:p>
            <a:endParaRPr lang="en-US"/>
          </a:p>
        </p:txBody>
      </p:sp>
      <p:sp>
        <p:nvSpPr>
          <p:cNvPr id="13" name="Text 11"/>
          <p:cNvSpPr/>
          <p:nvPr/>
        </p:nvSpPr>
        <p:spPr>
          <a:xfrm>
            <a:off x="6217920" y="2468880"/>
            <a:ext cx="2377440" cy="457200"/>
          </a:xfrm>
          <a:prstGeom prst="rect">
            <a:avLst/>
          </a:prstGeom>
          <a:noFill/>
          <a:ln/>
        </p:spPr>
        <p:txBody>
          <a:bodyPr wrap="square" rtlCol="0" anchor="ctr"/>
          <a:lstStyle/>
          <a:p>
            <a:pPr marL="0" indent="0" algn="ctr">
              <a:buNone/>
            </a:pPr>
            <a:r>
              <a:rPr lang="en-US" sz="2200" b="1" dirty="0">
                <a:solidFill>
                  <a:srgbClr val="B85042"/>
                </a:solidFill>
                <a:latin typeface="Arial" pitchFamily="34" charset="0"/>
                <a:ea typeface="Arial" pitchFamily="34" charset="-122"/>
                <a:cs typeface="Arial" pitchFamily="34" charset="-120"/>
              </a:rPr>
              <a:t>ρ = 0.83</a:t>
            </a:r>
            <a:endParaRPr lang="en-US" sz="2200" dirty="0"/>
          </a:p>
        </p:txBody>
      </p:sp>
      <p:sp>
        <p:nvSpPr>
          <p:cNvPr id="14" name="Text 12"/>
          <p:cNvSpPr/>
          <p:nvPr/>
        </p:nvSpPr>
        <p:spPr>
          <a:xfrm>
            <a:off x="6309360" y="3063240"/>
            <a:ext cx="2194560" cy="731520"/>
          </a:xfrm>
          <a:prstGeom prst="rect">
            <a:avLst/>
          </a:prstGeom>
          <a:noFill/>
          <a:ln/>
        </p:spPr>
        <p:txBody>
          <a:bodyPr wrap="square" rtlCol="0" anchor="t"/>
          <a:lstStyle/>
          <a:p>
            <a:pPr marL="0" indent="0" algn="ctr">
              <a:buNone/>
            </a:pPr>
            <a:r>
              <a:rPr lang="en-US" sz="1300" dirty="0">
                <a:solidFill>
                  <a:srgbClr val="1A1A2E"/>
                </a:solidFill>
                <a:latin typeface="Arial" pitchFamily="34" charset="0"/>
                <a:ea typeface="Arial" pitchFamily="34" charset="-122"/>
                <a:cs typeface="Arial" pitchFamily="34" charset="-120"/>
              </a:rPr>
              <a:t>Knee of the curve. Long waits during clusters.</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4">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What Averages Miss about Queues</a:t>
            </a:r>
            <a:endParaRPr lang="en-US" sz="3200" dirty="0"/>
          </a:p>
        </p:txBody>
      </p:sp>
      <p:sp>
        <p:nvSpPr>
          <p:cNvPr id="6" name="Shape 4"/>
          <p:cNvSpPr/>
          <p:nvPr/>
        </p:nvSpPr>
        <p:spPr>
          <a:xfrm>
            <a:off x="457200" y="1691640"/>
            <a:ext cx="3931920" cy="2377440"/>
          </a:xfrm>
          <a:prstGeom prst="rect">
            <a:avLst/>
          </a:prstGeom>
          <a:solidFill>
            <a:srgbClr val="FFFFFF"/>
          </a:solidFill>
          <a:ln w="12700">
            <a:solidFill>
              <a:srgbClr val="E5E7EB"/>
            </a:solidFill>
            <a:prstDash val="solid"/>
          </a:ln>
        </p:spPr>
        <p:txBody>
          <a:bodyPr/>
          <a:lstStyle/>
          <a:p>
            <a:endParaRPr lang="en-US"/>
          </a:p>
        </p:txBody>
      </p:sp>
      <p:sp>
        <p:nvSpPr>
          <p:cNvPr id="7" name="Shape 5"/>
          <p:cNvSpPr/>
          <p:nvPr/>
        </p:nvSpPr>
        <p:spPr>
          <a:xfrm>
            <a:off x="457200" y="1691640"/>
            <a:ext cx="73152" cy="2377440"/>
          </a:xfrm>
          <a:prstGeom prst="rect">
            <a:avLst/>
          </a:prstGeom>
          <a:solidFill>
            <a:srgbClr val="4A6FA5"/>
          </a:solidFill>
          <a:ln w="12700">
            <a:solidFill>
              <a:srgbClr val="4A6FA5"/>
            </a:solidFill>
            <a:prstDash val="solid"/>
          </a:ln>
        </p:spPr>
        <p:txBody>
          <a:bodyPr/>
          <a:lstStyle/>
          <a:p>
            <a:endParaRPr lang="en-US"/>
          </a:p>
        </p:txBody>
      </p:sp>
      <p:sp>
        <p:nvSpPr>
          <p:cNvPr id="8" name="Text 6"/>
          <p:cNvSpPr/>
          <p:nvPr/>
        </p:nvSpPr>
        <p:spPr>
          <a:xfrm>
            <a:off x="685800" y="1828800"/>
            <a:ext cx="35661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Arrivals cluster</a:t>
            </a:r>
            <a:endParaRPr lang="en-US" sz="1600" dirty="0"/>
          </a:p>
        </p:txBody>
      </p:sp>
      <p:sp>
        <p:nvSpPr>
          <p:cNvPr id="9" name="Text 7"/>
          <p:cNvSpPr/>
          <p:nvPr/>
        </p:nvSpPr>
        <p:spPr>
          <a:xfrm>
            <a:off x="685800" y="2240280"/>
            <a:ext cx="3566160" cy="173736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Random arrivals at 30/hr don't mean 1 every 2 minutes. They mean three customers in one minute and then a five-minute gap. That clustering creates wait spikes that the average rate hides.</a:t>
            </a:r>
            <a:endParaRPr lang="en-US" sz="1200" dirty="0"/>
          </a:p>
        </p:txBody>
      </p:sp>
      <p:sp>
        <p:nvSpPr>
          <p:cNvPr id="10" name="Shape 8"/>
          <p:cNvSpPr/>
          <p:nvPr/>
        </p:nvSpPr>
        <p:spPr>
          <a:xfrm>
            <a:off x="4754880" y="1691640"/>
            <a:ext cx="3931920" cy="2377440"/>
          </a:xfrm>
          <a:prstGeom prst="rect">
            <a:avLst/>
          </a:prstGeom>
          <a:solidFill>
            <a:srgbClr val="FFFFFF"/>
          </a:solidFill>
          <a:ln w="12700">
            <a:solidFill>
              <a:srgbClr val="E5E7EB"/>
            </a:solidFill>
            <a:prstDash val="solid"/>
          </a:ln>
        </p:spPr>
        <p:txBody>
          <a:bodyPr/>
          <a:lstStyle/>
          <a:p>
            <a:endParaRPr lang="en-US"/>
          </a:p>
        </p:txBody>
      </p:sp>
      <p:sp>
        <p:nvSpPr>
          <p:cNvPr id="11" name="Shape 9"/>
          <p:cNvSpPr/>
          <p:nvPr/>
        </p:nvSpPr>
        <p:spPr>
          <a:xfrm>
            <a:off x="4754880" y="1691640"/>
            <a:ext cx="73152" cy="2377440"/>
          </a:xfrm>
          <a:prstGeom prst="rect">
            <a:avLst/>
          </a:prstGeom>
          <a:solidFill>
            <a:srgbClr val="B85042"/>
          </a:solidFill>
          <a:ln w="12700">
            <a:solidFill>
              <a:srgbClr val="B85042"/>
            </a:solidFill>
            <a:prstDash val="solid"/>
          </a:ln>
        </p:spPr>
        <p:txBody>
          <a:bodyPr/>
          <a:lstStyle/>
          <a:p>
            <a:endParaRPr lang="en-US"/>
          </a:p>
        </p:txBody>
      </p:sp>
      <p:sp>
        <p:nvSpPr>
          <p:cNvPr id="12" name="Text 10"/>
          <p:cNvSpPr/>
          <p:nvPr/>
        </p:nvSpPr>
        <p:spPr>
          <a:xfrm>
            <a:off x="4983480" y="1828800"/>
            <a:ext cx="3566160" cy="365760"/>
          </a:xfrm>
          <a:prstGeom prst="rect">
            <a:avLst/>
          </a:prstGeom>
          <a:noFill/>
          <a:ln/>
        </p:spPr>
        <p:txBody>
          <a:bodyPr wrap="square" rtlCol="0" anchor="ctr"/>
          <a:lstStyle/>
          <a:p>
            <a:pPr marL="0" indent="0">
              <a:buNone/>
            </a:pPr>
            <a:r>
              <a:rPr lang="en-US" sz="1600" b="1" dirty="0">
                <a:solidFill>
                  <a:srgbClr val="B85042"/>
                </a:solidFill>
                <a:latin typeface="Arial" pitchFamily="34" charset="0"/>
                <a:ea typeface="Arial" pitchFamily="34" charset="-122"/>
                <a:cs typeface="Arial" pitchFamily="34" charset="-120"/>
              </a:rPr>
              <a:t>Utilization is non-linear</a:t>
            </a:r>
            <a:endParaRPr lang="en-US" sz="1600" dirty="0"/>
          </a:p>
        </p:txBody>
      </p:sp>
      <p:sp>
        <p:nvSpPr>
          <p:cNvPr id="13" name="Text 11"/>
          <p:cNvSpPr/>
          <p:nvPr/>
        </p:nvSpPr>
        <p:spPr>
          <a:xfrm>
            <a:off x="4983480" y="2240280"/>
            <a:ext cx="3566160" cy="173736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Wait time grows much faster than utilization. Going from 50% to 83% busy doesn't make waits 1.6× worse — it makes them dramatically worse. Above 80% the curve is in the knee.</a:t>
            </a:r>
            <a:endParaRPr lang="en-US" sz="1200" dirty="0"/>
          </a:p>
        </p:txBody>
      </p:sp>
      <p:sp>
        <p:nvSpPr>
          <p:cNvPr id="14" name="Text 12"/>
          <p:cNvSpPr/>
          <p:nvPr/>
        </p:nvSpPr>
        <p:spPr>
          <a:xfrm>
            <a:off x="457200" y="4251960"/>
            <a:ext cx="8229600" cy="365760"/>
          </a:xfrm>
          <a:prstGeom prst="rect">
            <a:avLst/>
          </a:prstGeom>
          <a:noFill/>
          <a:ln/>
        </p:spPr>
        <p:txBody>
          <a:bodyPr wrap="square" rtlCol="0" anchor="ctr"/>
          <a:lstStyle/>
          <a:p>
            <a:pPr marL="0" indent="0" algn="ctr">
              <a:buNone/>
            </a:pPr>
            <a:r>
              <a:rPr lang="en-US" sz="1400" i="1" dirty="0">
                <a:solidFill>
                  <a:srgbClr val="6B7280"/>
                </a:solidFill>
                <a:latin typeface="Arial" pitchFamily="34" charset="0"/>
                <a:ea typeface="Arial" pitchFamily="34" charset="-122"/>
                <a:cs typeface="Arial" pitchFamily="34" charset="-120"/>
              </a:rPr>
              <a:t>Bottom line: a system can be fine on average and broken in practice.</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8">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Before any code, random variables</a:t>
            </a:r>
            <a:endParaRPr lang="en-US" sz="3200" dirty="0"/>
          </a:p>
        </p:txBody>
      </p:sp>
      <p:sp>
        <p:nvSpPr>
          <p:cNvPr id="5" name="Shape 3"/>
          <p:cNvSpPr/>
          <p:nvPr/>
        </p:nvSpPr>
        <p:spPr>
          <a:xfrm>
            <a:off x="457200" y="1463040"/>
            <a:ext cx="3931920" cy="2560320"/>
          </a:xfrm>
          <a:prstGeom prst="rect">
            <a:avLst/>
          </a:prstGeom>
          <a:solidFill>
            <a:srgbClr val="FFFFFF"/>
          </a:solidFill>
          <a:ln w="12700">
            <a:solidFill>
              <a:srgbClr val="E5E7EB"/>
            </a:solidFill>
            <a:prstDash val="solid"/>
          </a:ln>
        </p:spPr>
        <p:txBody>
          <a:bodyPr/>
          <a:lstStyle/>
          <a:p>
            <a:endParaRPr lang="en-US"/>
          </a:p>
        </p:txBody>
      </p:sp>
      <p:sp>
        <p:nvSpPr>
          <p:cNvPr id="6" name="Shape 4"/>
          <p:cNvSpPr/>
          <p:nvPr/>
        </p:nvSpPr>
        <p:spPr>
          <a:xfrm>
            <a:off x="457200" y="1463040"/>
            <a:ext cx="73152" cy="2560320"/>
          </a:xfrm>
          <a:prstGeom prst="rect">
            <a:avLst/>
          </a:prstGeom>
          <a:solidFill>
            <a:srgbClr val="4A6FA5"/>
          </a:solidFill>
          <a:ln w="12700">
            <a:solidFill>
              <a:srgbClr val="4A6FA5"/>
            </a:solidFill>
            <a:prstDash val="solid"/>
          </a:ln>
        </p:spPr>
        <p:txBody>
          <a:bodyPr/>
          <a:lstStyle/>
          <a:p>
            <a:endParaRPr lang="en-US"/>
          </a:p>
        </p:txBody>
      </p:sp>
      <p:sp>
        <p:nvSpPr>
          <p:cNvPr id="7" name="Text 5"/>
          <p:cNvSpPr/>
          <p:nvPr/>
        </p:nvSpPr>
        <p:spPr>
          <a:xfrm>
            <a:off x="685800" y="1600200"/>
            <a:ext cx="35661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How do they arrive?</a:t>
            </a:r>
            <a:endParaRPr lang="en-US" sz="1600" dirty="0"/>
          </a:p>
        </p:txBody>
      </p:sp>
      <p:sp>
        <p:nvSpPr>
          <p:cNvPr id="8" name="Text 6"/>
          <p:cNvSpPr/>
          <p:nvPr/>
        </p:nvSpPr>
        <p:spPr>
          <a:xfrm>
            <a:off x="685800" y="2011680"/>
            <a:ext cx="3566160" cy="192024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Random arrivals at a known rate per hour are exponential between consecutive customers. The mean gap is 60 / rate-per-hour. Six months of POS data tells us the rate by hour of day.</a:t>
            </a:r>
            <a:endParaRPr lang="en-US" sz="1200" dirty="0"/>
          </a:p>
        </p:txBody>
      </p:sp>
      <p:sp>
        <p:nvSpPr>
          <p:cNvPr id="9" name="Shape 7"/>
          <p:cNvSpPr/>
          <p:nvPr/>
        </p:nvSpPr>
        <p:spPr>
          <a:xfrm>
            <a:off x="4754880" y="1463040"/>
            <a:ext cx="3931920" cy="2560320"/>
          </a:xfrm>
          <a:prstGeom prst="rect">
            <a:avLst/>
          </a:prstGeom>
          <a:solidFill>
            <a:srgbClr val="FFFFFF"/>
          </a:solidFill>
          <a:ln w="12700">
            <a:solidFill>
              <a:srgbClr val="E5E7EB"/>
            </a:solidFill>
            <a:prstDash val="solid"/>
          </a:ln>
        </p:spPr>
        <p:txBody>
          <a:bodyPr/>
          <a:lstStyle/>
          <a:p>
            <a:endParaRPr lang="en-US"/>
          </a:p>
        </p:txBody>
      </p:sp>
      <p:sp>
        <p:nvSpPr>
          <p:cNvPr id="10" name="Shape 8"/>
          <p:cNvSpPr/>
          <p:nvPr/>
        </p:nvSpPr>
        <p:spPr>
          <a:xfrm>
            <a:off x="4754880" y="1463040"/>
            <a:ext cx="73152" cy="2560320"/>
          </a:xfrm>
          <a:prstGeom prst="rect">
            <a:avLst/>
          </a:prstGeom>
          <a:solidFill>
            <a:srgbClr val="B85042"/>
          </a:solidFill>
          <a:ln w="12700">
            <a:solidFill>
              <a:srgbClr val="B85042"/>
            </a:solidFill>
            <a:prstDash val="solid"/>
          </a:ln>
        </p:spPr>
        <p:txBody>
          <a:bodyPr/>
          <a:lstStyle/>
          <a:p>
            <a:endParaRPr lang="en-US"/>
          </a:p>
        </p:txBody>
      </p:sp>
      <p:sp>
        <p:nvSpPr>
          <p:cNvPr id="11" name="Text 9"/>
          <p:cNvSpPr/>
          <p:nvPr/>
        </p:nvSpPr>
        <p:spPr>
          <a:xfrm>
            <a:off x="4983480" y="1600200"/>
            <a:ext cx="3566160" cy="365760"/>
          </a:xfrm>
          <a:prstGeom prst="rect">
            <a:avLst/>
          </a:prstGeom>
          <a:noFill/>
          <a:ln/>
        </p:spPr>
        <p:txBody>
          <a:bodyPr wrap="square" rtlCol="0" anchor="ctr"/>
          <a:lstStyle/>
          <a:p>
            <a:pPr marL="0" indent="0">
              <a:buNone/>
            </a:pPr>
            <a:r>
              <a:rPr lang="en-US" sz="1600" b="1" dirty="0">
                <a:solidFill>
                  <a:srgbClr val="B85042"/>
                </a:solidFill>
                <a:latin typeface="Arial" pitchFamily="34" charset="0"/>
                <a:ea typeface="Arial" pitchFamily="34" charset="-122"/>
                <a:cs typeface="Arial" pitchFamily="34" charset="-120"/>
              </a:rPr>
              <a:t>How long does service take?</a:t>
            </a:r>
            <a:endParaRPr lang="en-US" sz="1600" dirty="0"/>
          </a:p>
        </p:txBody>
      </p:sp>
      <p:sp>
        <p:nvSpPr>
          <p:cNvPr id="12" name="Text 10"/>
          <p:cNvSpPr/>
          <p:nvPr/>
        </p:nvSpPr>
        <p:spPr>
          <a:xfrm>
            <a:off x="4983480" y="2011680"/>
            <a:ext cx="3566160" cy="192024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Service times are positive and right-skewed. Most drinks take a typical time; a few take much longer. Lognormal is the standard fit. Different drink types get different parameters.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668F79-6C46-DF0F-A11B-20AEF80D3853}"/>
              </a:ext>
            </a:extLst>
          </p:cNvPr>
          <p:cNvPicPr>
            <a:picLocks noChangeAspect="1"/>
          </p:cNvPicPr>
          <p:nvPr/>
        </p:nvPicPr>
        <p:blipFill>
          <a:blip r:embed="rId2"/>
          <a:stretch>
            <a:fillRect/>
          </a:stretch>
        </p:blipFill>
        <p:spPr>
          <a:xfrm>
            <a:off x="108857" y="457200"/>
            <a:ext cx="8926286" cy="4463143"/>
          </a:xfrm>
          <a:prstGeom prst="rect">
            <a:avLst/>
          </a:prstGeom>
        </p:spPr>
      </p:pic>
    </p:spTree>
    <p:extLst>
      <p:ext uri="{BB962C8B-B14F-4D97-AF65-F5344CB8AC3E}">
        <p14:creationId xmlns:p14="http://schemas.microsoft.com/office/powerpoint/2010/main" val="2093670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Five distribution families</a:t>
            </a:r>
            <a:endParaRPr lang="en-US" sz="3200" dirty="0"/>
          </a:p>
        </p:txBody>
      </p:sp>
      <p:sp>
        <p:nvSpPr>
          <p:cNvPr id="4" name="Text 2"/>
          <p:cNvSpPr/>
          <p:nvPr/>
        </p:nvSpPr>
        <p:spPr>
          <a:xfrm>
            <a:off x="5943600" y="164592"/>
            <a:ext cx="274320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Block 2 · 20 min</a:t>
            </a:r>
            <a:endParaRPr lang="en-US" sz="1000" dirty="0"/>
          </a:p>
        </p:txBody>
      </p:sp>
      <p:sp>
        <p:nvSpPr>
          <p:cNvPr id="5" name="Shape 3"/>
          <p:cNvSpPr/>
          <p:nvPr/>
        </p:nvSpPr>
        <p:spPr>
          <a:xfrm>
            <a:off x="640080" y="1188720"/>
            <a:ext cx="1554480" cy="502920"/>
          </a:xfrm>
          <a:prstGeom prst="rect">
            <a:avLst/>
          </a:prstGeom>
          <a:solidFill>
            <a:srgbClr val="4A6FA5"/>
          </a:solidFill>
          <a:ln w="12700">
            <a:solidFill>
              <a:srgbClr val="4A6FA5"/>
            </a:solidFill>
            <a:prstDash val="solid"/>
          </a:ln>
        </p:spPr>
        <p:txBody>
          <a:bodyPr/>
          <a:lstStyle/>
          <a:p>
            <a:endParaRPr lang="en-US"/>
          </a:p>
        </p:txBody>
      </p:sp>
      <p:sp>
        <p:nvSpPr>
          <p:cNvPr id="6" name="Text 4"/>
          <p:cNvSpPr/>
          <p:nvPr/>
        </p:nvSpPr>
        <p:spPr>
          <a:xfrm>
            <a:off x="640080" y="1188720"/>
            <a:ext cx="1554480" cy="502920"/>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Normal</a:t>
            </a:r>
            <a:endParaRPr lang="en-US" sz="1500" dirty="0"/>
          </a:p>
        </p:txBody>
      </p:sp>
      <p:sp>
        <p:nvSpPr>
          <p:cNvPr id="7" name="Text 5"/>
          <p:cNvSpPr/>
          <p:nvPr/>
        </p:nvSpPr>
        <p:spPr>
          <a:xfrm>
            <a:off x="2377440" y="1188720"/>
            <a:ext cx="6309360" cy="502920"/>
          </a:xfrm>
          <a:prstGeom prst="rect">
            <a:avLst/>
          </a:prstGeom>
          <a:noFill/>
          <a:ln/>
        </p:spPr>
        <p:txBody>
          <a:bodyPr wrap="square" rtlCol="0" anchor="ctr"/>
          <a:lstStyle/>
          <a:p>
            <a:pPr marL="0" indent="0">
              <a:buNone/>
            </a:pPr>
            <a:r>
              <a:rPr lang="en-US" sz="1300" dirty="0">
                <a:solidFill>
                  <a:srgbClr val="1A1A2E"/>
                </a:solidFill>
                <a:latin typeface="Arial" pitchFamily="34" charset="0"/>
                <a:ea typeface="Arial" pitchFamily="34" charset="-122"/>
                <a:cs typeface="Arial" pitchFamily="34" charset="-120"/>
              </a:rPr>
              <a:t>Symmetric around a mean. </a:t>
            </a:r>
            <a:endParaRPr lang="en-US" sz="1300" dirty="0"/>
          </a:p>
        </p:txBody>
      </p:sp>
      <p:sp>
        <p:nvSpPr>
          <p:cNvPr id="8" name="Shape 6"/>
          <p:cNvSpPr/>
          <p:nvPr/>
        </p:nvSpPr>
        <p:spPr>
          <a:xfrm>
            <a:off x="640080" y="1755648"/>
            <a:ext cx="1554480" cy="502920"/>
          </a:xfrm>
          <a:prstGeom prst="rect">
            <a:avLst/>
          </a:prstGeom>
          <a:solidFill>
            <a:srgbClr val="4A6FA5"/>
          </a:solidFill>
          <a:ln w="12700">
            <a:solidFill>
              <a:srgbClr val="4A6FA5"/>
            </a:solidFill>
            <a:prstDash val="solid"/>
          </a:ln>
        </p:spPr>
        <p:txBody>
          <a:bodyPr/>
          <a:lstStyle/>
          <a:p>
            <a:endParaRPr lang="en-US"/>
          </a:p>
        </p:txBody>
      </p:sp>
      <p:sp>
        <p:nvSpPr>
          <p:cNvPr id="9" name="Text 7"/>
          <p:cNvSpPr/>
          <p:nvPr/>
        </p:nvSpPr>
        <p:spPr>
          <a:xfrm>
            <a:off x="640080" y="1755648"/>
            <a:ext cx="1554480" cy="502920"/>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Lognormal</a:t>
            </a:r>
            <a:endParaRPr lang="en-US" sz="1500" dirty="0"/>
          </a:p>
        </p:txBody>
      </p:sp>
      <p:sp>
        <p:nvSpPr>
          <p:cNvPr id="10" name="Text 8"/>
          <p:cNvSpPr/>
          <p:nvPr/>
        </p:nvSpPr>
        <p:spPr>
          <a:xfrm>
            <a:off x="2377440" y="1755648"/>
            <a:ext cx="6309360" cy="502920"/>
          </a:xfrm>
          <a:prstGeom prst="rect">
            <a:avLst/>
          </a:prstGeom>
          <a:noFill/>
          <a:ln/>
        </p:spPr>
        <p:txBody>
          <a:bodyPr wrap="square" rtlCol="0" anchor="ctr"/>
          <a:lstStyle/>
          <a:p>
            <a:pPr marL="0" indent="0">
              <a:buNone/>
            </a:pPr>
            <a:r>
              <a:rPr lang="en-US" sz="1300" dirty="0">
                <a:solidFill>
                  <a:srgbClr val="1A1A2E"/>
                </a:solidFill>
                <a:latin typeface="Arial" pitchFamily="34" charset="0"/>
                <a:ea typeface="Arial" pitchFamily="34" charset="-122"/>
                <a:cs typeface="Arial" pitchFamily="34" charset="-120"/>
              </a:rPr>
              <a:t>Positive, right-skewed. Service times, transaction values.</a:t>
            </a:r>
            <a:endParaRPr lang="en-US" sz="1300" dirty="0"/>
          </a:p>
        </p:txBody>
      </p:sp>
      <p:sp>
        <p:nvSpPr>
          <p:cNvPr id="11" name="Shape 9"/>
          <p:cNvSpPr/>
          <p:nvPr/>
        </p:nvSpPr>
        <p:spPr>
          <a:xfrm>
            <a:off x="640080" y="2322576"/>
            <a:ext cx="1554480" cy="502920"/>
          </a:xfrm>
          <a:prstGeom prst="rect">
            <a:avLst/>
          </a:prstGeom>
          <a:solidFill>
            <a:srgbClr val="4A6FA5"/>
          </a:solidFill>
          <a:ln w="12700">
            <a:solidFill>
              <a:srgbClr val="4A6FA5"/>
            </a:solidFill>
            <a:prstDash val="solid"/>
          </a:ln>
        </p:spPr>
        <p:txBody>
          <a:bodyPr/>
          <a:lstStyle/>
          <a:p>
            <a:endParaRPr lang="en-US"/>
          </a:p>
        </p:txBody>
      </p:sp>
      <p:sp>
        <p:nvSpPr>
          <p:cNvPr id="12" name="Text 10"/>
          <p:cNvSpPr/>
          <p:nvPr/>
        </p:nvSpPr>
        <p:spPr>
          <a:xfrm>
            <a:off x="640080" y="2322576"/>
            <a:ext cx="1554480" cy="502920"/>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Exponential</a:t>
            </a:r>
            <a:endParaRPr lang="en-US" sz="1500" dirty="0"/>
          </a:p>
        </p:txBody>
      </p:sp>
      <p:sp>
        <p:nvSpPr>
          <p:cNvPr id="13" name="Text 11"/>
          <p:cNvSpPr/>
          <p:nvPr/>
        </p:nvSpPr>
        <p:spPr>
          <a:xfrm>
            <a:off x="2377440" y="2322576"/>
            <a:ext cx="6309360" cy="502920"/>
          </a:xfrm>
          <a:prstGeom prst="rect">
            <a:avLst/>
          </a:prstGeom>
          <a:noFill/>
          <a:ln/>
        </p:spPr>
        <p:txBody>
          <a:bodyPr wrap="square" rtlCol="0" anchor="ctr"/>
          <a:lstStyle/>
          <a:p>
            <a:pPr marL="0" indent="0">
              <a:buNone/>
            </a:pPr>
            <a:r>
              <a:rPr lang="en-US" sz="1300" dirty="0">
                <a:solidFill>
                  <a:srgbClr val="1A1A2E"/>
                </a:solidFill>
                <a:latin typeface="Arial" pitchFamily="34" charset="0"/>
                <a:ea typeface="Arial" pitchFamily="34" charset="-122"/>
                <a:cs typeface="Arial" pitchFamily="34" charset="-120"/>
              </a:rPr>
              <a:t>Inter-arrival times in random arrival processes.</a:t>
            </a:r>
            <a:endParaRPr lang="en-US" sz="1300" dirty="0"/>
          </a:p>
        </p:txBody>
      </p:sp>
      <p:sp>
        <p:nvSpPr>
          <p:cNvPr id="14" name="Shape 12"/>
          <p:cNvSpPr/>
          <p:nvPr/>
        </p:nvSpPr>
        <p:spPr>
          <a:xfrm>
            <a:off x="640080" y="2889504"/>
            <a:ext cx="1554480" cy="502920"/>
          </a:xfrm>
          <a:prstGeom prst="rect">
            <a:avLst/>
          </a:prstGeom>
          <a:solidFill>
            <a:srgbClr val="4A6FA5"/>
          </a:solidFill>
          <a:ln w="12700">
            <a:solidFill>
              <a:srgbClr val="4A6FA5"/>
            </a:solidFill>
            <a:prstDash val="solid"/>
          </a:ln>
        </p:spPr>
        <p:txBody>
          <a:bodyPr/>
          <a:lstStyle/>
          <a:p>
            <a:endParaRPr lang="en-US"/>
          </a:p>
        </p:txBody>
      </p:sp>
      <p:sp>
        <p:nvSpPr>
          <p:cNvPr id="15" name="Text 13"/>
          <p:cNvSpPr/>
          <p:nvPr/>
        </p:nvSpPr>
        <p:spPr>
          <a:xfrm>
            <a:off x="640080" y="2889504"/>
            <a:ext cx="1554480" cy="502920"/>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Triangular</a:t>
            </a:r>
            <a:endParaRPr lang="en-US" sz="1500" dirty="0"/>
          </a:p>
        </p:txBody>
      </p:sp>
      <p:sp>
        <p:nvSpPr>
          <p:cNvPr id="16" name="Text 14"/>
          <p:cNvSpPr/>
          <p:nvPr/>
        </p:nvSpPr>
        <p:spPr>
          <a:xfrm>
            <a:off x="2377440" y="2889504"/>
            <a:ext cx="6309360" cy="502920"/>
          </a:xfrm>
          <a:prstGeom prst="rect">
            <a:avLst/>
          </a:prstGeom>
          <a:noFill/>
          <a:ln/>
        </p:spPr>
        <p:txBody>
          <a:bodyPr wrap="square" rtlCol="0" anchor="ctr"/>
          <a:lstStyle/>
          <a:p>
            <a:pPr marL="0" indent="0">
              <a:buNone/>
            </a:pPr>
            <a:r>
              <a:rPr lang="en-US" sz="1300" dirty="0">
                <a:solidFill>
                  <a:srgbClr val="1A1A2E"/>
                </a:solidFill>
                <a:latin typeface="Arial" pitchFamily="34" charset="0"/>
                <a:ea typeface="Arial" pitchFamily="34" charset="-122"/>
                <a:cs typeface="Arial" pitchFamily="34" charset="-120"/>
              </a:rPr>
              <a:t>Best/likely/worst expert estimates. When data is thin.</a:t>
            </a:r>
            <a:endParaRPr lang="en-US" sz="1300" dirty="0"/>
          </a:p>
        </p:txBody>
      </p:sp>
      <p:sp>
        <p:nvSpPr>
          <p:cNvPr id="17" name="Shape 15"/>
          <p:cNvSpPr/>
          <p:nvPr/>
        </p:nvSpPr>
        <p:spPr>
          <a:xfrm>
            <a:off x="640080" y="3456432"/>
            <a:ext cx="1554480" cy="502920"/>
          </a:xfrm>
          <a:prstGeom prst="rect">
            <a:avLst/>
          </a:prstGeom>
          <a:solidFill>
            <a:srgbClr val="4A6FA5"/>
          </a:solidFill>
          <a:ln w="12700">
            <a:solidFill>
              <a:srgbClr val="4A6FA5"/>
            </a:solidFill>
            <a:prstDash val="solid"/>
          </a:ln>
        </p:spPr>
        <p:txBody>
          <a:bodyPr/>
          <a:lstStyle/>
          <a:p>
            <a:endParaRPr lang="en-US"/>
          </a:p>
        </p:txBody>
      </p:sp>
      <p:sp>
        <p:nvSpPr>
          <p:cNvPr id="18" name="Text 16"/>
          <p:cNvSpPr/>
          <p:nvPr/>
        </p:nvSpPr>
        <p:spPr>
          <a:xfrm>
            <a:off x="640080" y="3456432"/>
            <a:ext cx="1554480" cy="502920"/>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Poisson</a:t>
            </a:r>
            <a:endParaRPr lang="en-US" sz="1500" dirty="0"/>
          </a:p>
        </p:txBody>
      </p:sp>
      <p:sp>
        <p:nvSpPr>
          <p:cNvPr id="19" name="Text 17"/>
          <p:cNvSpPr/>
          <p:nvPr/>
        </p:nvSpPr>
        <p:spPr>
          <a:xfrm>
            <a:off x="2377440" y="3456432"/>
            <a:ext cx="6309360" cy="502920"/>
          </a:xfrm>
          <a:prstGeom prst="rect">
            <a:avLst/>
          </a:prstGeom>
          <a:noFill/>
          <a:ln/>
        </p:spPr>
        <p:txBody>
          <a:bodyPr wrap="square" rtlCol="0" anchor="ctr"/>
          <a:lstStyle/>
          <a:p>
            <a:pPr marL="0" indent="0">
              <a:buNone/>
            </a:pPr>
            <a:r>
              <a:rPr lang="en-US" sz="1300" dirty="0">
                <a:solidFill>
                  <a:srgbClr val="1A1A2E"/>
                </a:solidFill>
                <a:latin typeface="Arial" pitchFamily="34" charset="0"/>
                <a:ea typeface="Arial" pitchFamily="34" charset="-122"/>
                <a:cs typeface="Arial" pitchFamily="34" charset="-120"/>
              </a:rPr>
              <a:t>Counts of independent events. Arrivals per hour, defects per batch.</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ccentBar">
            <a:extLst>
              <a:ext uri="{FF2B5EF4-FFF2-40B4-BE49-F238E27FC236}">
                <a16:creationId xmlns:a16="http://schemas.microsoft.com/office/drawing/2014/main" id="{ECFF9889-F1C3-D44F-9E5D-25329EF89091}"/>
              </a:ext>
            </a:extLst>
          </p:cNvPr>
          <p:cNvSpPr/>
          <p:nvPr/>
        </p:nvSpPr>
        <p:spPr>
          <a:xfrm>
            <a:off x="0" y="0"/>
            <a:ext cx="9144000" cy="76200"/>
          </a:xfrm>
          <a:prstGeom prst="rect">
            <a:avLst/>
          </a:prstGeom>
          <a:solidFill>
            <a:srgbClr val="4A6FA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6C8BA728-52E0-2447-89F7-08683AAB22C8}"/>
              </a:ext>
            </a:extLst>
          </p:cNvPr>
          <p:cNvSpPr txBox="1"/>
          <p:nvPr/>
        </p:nvSpPr>
        <p:spPr>
          <a:xfrm>
            <a:off x="457200" y="368300"/>
            <a:ext cx="6350000" cy="635000"/>
          </a:xfrm>
          <a:prstGeom prst="rect">
            <a:avLst/>
          </a:prstGeom>
          <a:noFill/>
        </p:spPr>
        <p:txBody>
          <a:bodyPr vertOverflow="overflow" vert="horz" wrap="none" rtlCol="0" anchor="t">
            <a:noAutofit/>
          </a:bodyPr>
          <a:lstStyle/>
          <a:p>
            <a:pPr algn="l"/>
            <a:r>
              <a:rPr lang="en-US" sz="3200" b="1" dirty="0">
                <a:solidFill>
                  <a:srgbClr val="1A1A2E"/>
                </a:solidFill>
                <a:latin typeface="Arial"/>
                <a:cs typeface="Arial"/>
              </a:rPr>
              <a:t>Fitting a Curve</a:t>
            </a:r>
          </a:p>
        </p:txBody>
      </p:sp>
      <p:sp>
        <p:nvSpPr>
          <p:cNvPr id="5" name="TextBox 4">
            <a:extLst>
              <a:ext uri="{FF2B5EF4-FFF2-40B4-BE49-F238E27FC236}">
                <a16:creationId xmlns:a16="http://schemas.microsoft.com/office/drawing/2014/main" id="{408173C7-2C40-114C-8707-D3797E73E7D7}"/>
              </a:ext>
            </a:extLst>
          </p:cNvPr>
          <p:cNvSpPr txBox="1"/>
          <p:nvPr/>
        </p:nvSpPr>
        <p:spPr>
          <a:xfrm>
            <a:off x="457200" y="1117600"/>
            <a:ext cx="8229600" cy="304800"/>
          </a:xfrm>
          <a:prstGeom prst="rect">
            <a:avLst/>
          </a:prstGeom>
          <a:noFill/>
        </p:spPr>
        <p:txBody>
          <a:bodyPr vertOverflow="overflow" vert="horz" wrap="square" rtlCol="0" anchor="t">
            <a:noAutofit/>
          </a:bodyPr>
          <a:lstStyle/>
          <a:p>
            <a:pPr algn="l"/>
            <a:r>
              <a:rPr lang="en-US" sz="1600" i="1" dirty="0">
                <a:solidFill>
                  <a:srgbClr val="4A6FA5"/>
                </a:solidFill>
                <a:latin typeface="Arial"/>
                <a:cs typeface="Arial"/>
              </a:rPr>
              <a:t>Fit empirical data to a parametric distribution</a:t>
            </a:r>
          </a:p>
        </p:txBody>
      </p:sp>
      <p:pic>
        <p:nvPicPr>
          <p:cNvPr id="9" name="Picture 8">
            <a:extLst>
              <a:ext uri="{FF2B5EF4-FFF2-40B4-BE49-F238E27FC236}">
                <a16:creationId xmlns:a16="http://schemas.microsoft.com/office/drawing/2014/main" id="{91402A66-B9D6-D773-16B0-4EA27599A3F7}"/>
              </a:ext>
            </a:extLst>
          </p:cNvPr>
          <p:cNvPicPr>
            <a:picLocks noChangeAspect="1"/>
          </p:cNvPicPr>
          <p:nvPr/>
        </p:nvPicPr>
        <p:blipFill>
          <a:blip r:embed="rId2"/>
          <a:stretch>
            <a:fillRect/>
          </a:stretch>
        </p:blipFill>
        <p:spPr>
          <a:xfrm>
            <a:off x="1320800" y="1802492"/>
            <a:ext cx="5549127" cy="3099708"/>
          </a:xfrm>
          <a:prstGeom prst="rect">
            <a:avLst/>
          </a:prstGeom>
        </p:spPr>
      </p:pic>
    </p:spTree>
    <p:extLst>
      <p:ext uri="{BB962C8B-B14F-4D97-AF65-F5344CB8AC3E}">
        <p14:creationId xmlns:p14="http://schemas.microsoft.com/office/powerpoint/2010/main" val="3142165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Fitting distributions with SciPy</a:t>
            </a:r>
            <a:endParaRPr lang="en-US" sz="3200" dirty="0"/>
          </a:p>
        </p:txBody>
      </p:sp>
      <p:sp>
        <p:nvSpPr>
          <p:cNvPr id="4" name="Text 2"/>
          <p:cNvSpPr/>
          <p:nvPr/>
        </p:nvSpPr>
        <p:spPr>
          <a:xfrm>
            <a:off x="5943600" y="164592"/>
            <a:ext cx="274320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Block 2 · 20 min</a:t>
            </a:r>
            <a:endParaRPr lang="en-US" sz="1000" dirty="0"/>
          </a:p>
        </p:txBody>
      </p:sp>
      <p:sp>
        <p:nvSpPr>
          <p:cNvPr id="5" name="Shape 3"/>
          <p:cNvSpPr/>
          <p:nvPr/>
        </p:nvSpPr>
        <p:spPr>
          <a:xfrm>
            <a:off x="502920" y="1188720"/>
            <a:ext cx="1874520" cy="2377440"/>
          </a:xfrm>
          <a:prstGeom prst="rect">
            <a:avLst/>
          </a:prstGeom>
          <a:solidFill>
            <a:srgbClr val="FFFFFF"/>
          </a:solidFill>
          <a:ln w="12700">
            <a:solidFill>
              <a:srgbClr val="E5E7EB"/>
            </a:solidFill>
            <a:prstDash val="solid"/>
          </a:ln>
        </p:spPr>
        <p:txBody>
          <a:bodyPr/>
          <a:lstStyle/>
          <a:p>
            <a:endParaRPr lang="en-US"/>
          </a:p>
        </p:txBody>
      </p:sp>
      <p:sp>
        <p:nvSpPr>
          <p:cNvPr id="6" name="Shape 4"/>
          <p:cNvSpPr/>
          <p:nvPr/>
        </p:nvSpPr>
        <p:spPr>
          <a:xfrm>
            <a:off x="1165860" y="1371600"/>
            <a:ext cx="548640" cy="548640"/>
          </a:xfrm>
          <a:prstGeom prst="ellipse">
            <a:avLst/>
          </a:prstGeom>
          <a:solidFill>
            <a:srgbClr val="4A6FA5"/>
          </a:solidFill>
          <a:ln w="12700">
            <a:solidFill>
              <a:srgbClr val="4A6FA5"/>
            </a:solidFill>
            <a:prstDash val="solid"/>
          </a:ln>
        </p:spPr>
        <p:txBody>
          <a:bodyPr/>
          <a:lstStyle/>
          <a:p>
            <a:endParaRPr lang="en-US"/>
          </a:p>
        </p:txBody>
      </p:sp>
      <p:sp>
        <p:nvSpPr>
          <p:cNvPr id="7" name="Text 5"/>
          <p:cNvSpPr/>
          <p:nvPr/>
        </p:nvSpPr>
        <p:spPr>
          <a:xfrm>
            <a:off x="1165860" y="1371600"/>
            <a:ext cx="548640" cy="54864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8" name="Text 6"/>
          <p:cNvSpPr/>
          <p:nvPr/>
        </p:nvSpPr>
        <p:spPr>
          <a:xfrm>
            <a:off x="594360" y="2103120"/>
            <a:ext cx="1691640" cy="365760"/>
          </a:xfrm>
          <a:prstGeom prst="rect">
            <a:avLst/>
          </a:prstGeom>
          <a:noFill/>
          <a:ln/>
        </p:spPr>
        <p:txBody>
          <a:bodyPr wrap="square" rtlCol="0" anchor="ctr"/>
          <a:lstStyle/>
          <a:p>
            <a:pPr marL="0" indent="0" algn="ctr">
              <a:buNone/>
            </a:pPr>
            <a:r>
              <a:rPr lang="en-US" sz="1400" b="1" dirty="0">
                <a:solidFill>
                  <a:srgbClr val="1A1A2E"/>
                </a:solidFill>
                <a:latin typeface="Arial" pitchFamily="34" charset="0"/>
                <a:ea typeface="Arial" pitchFamily="34" charset="-122"/>
                <a:cs typeface="Arial" pitchFamily="34" charset="-120"/>
              </a:rPr>
              <a:t>Pick a candidate</a:t>
            </a:r>
            <a:endParaRPr lang="en-US" sz="1400" dirty="0"/>
          </a:p>
        </p:txBody>
      </p:sp>
      <p:sp>
        <p:nvSpPr>
          <p:cNvPr id="9" name="Text 7"/>
          <p:cNvSpPr/>
          <p:nvPr/>
        </p:nvSpPr>
        <p:spPr>
          <a:xfrm>
            <a:off x="640080" y="2514600"/>
            <a:ext cx="1600200" cy="914400"/>
          </a:xfrm>
          <a:prstGeom prst="rect">
            <a:avLst/>
          </a:prstGeom>
          <a:noFill/>
          <a:ln/>
        </p:spPr>
        <p:txBody>
          <a:bodyPr wrap="square" rtlCol="0" anchor="t"/>
          <a:lstStyle/>
          <a:p>
            <a:pPr marL="0" indent="0" algn="ctr">
              <a:buNone/>
            </a:pPr>
            <a:r>
              <a:rPr lang="en-US" sz="1100" dirty="0">
                <a:solidFill>
                  <a:srgbClr val="6B7280"/>
                </a:solidFill>
                <a:latin typeface="Arial" pitchFamily="34" charset="0"/>
                <a:ea typeface="Arial" pitchFamily="34" charset="-122"/>
                <a:cs typeface="Arial" pitchFamily="34" charset="-120"/>
              </a:rPr>
              <a:t>From domain knowledge, not from the data alone.</a:t>
            </a:r>
            <a:endParaRPr lang="en-US" sz="1100" dirty="0"/>
          </a:p>
        </p:txBody>
      </p:sp>
      <p:sp>
        <p:nvSpPr>
          <p:cNvPr id="10" name="Shape 8"/>
          <p:cNvSpPr/>
          <p:nvPr/>
        </p:nvSpPr>
        <p:spPr>
          <a:xfrm>
            <a:off x="2560320" y="1188720"/>
            <a:ext cx="1874520" cy="2377440"/>
          </a:xfrm>
          <a:prstGeom prst="rect">
            <a:avLst/>
          </a:prstGeom>
          <a:solidFill>
            <a:srgbClr val="FFFFFF"/>
          </a:solidFill>
          <a:ln w="12700">
            <a:solidFill>
              <a:srgbClr val="E5E7EB"/>
            </a:solidFill>
            <a:prstDash val="solid"/>
          </a:ln>
        </p:spPr>
        <p:txBody>
          <a:bodyPr/>
          <a:lstStyle/>
          <a:p>
            <a:endParaRPr lang="en-US"/>
          </a:p>
        </p:txBody>
      </p:sp>
      <p:sp>
        <p:nvSpPr>
          <p:cNvPr id="11" name="Shape 9"/>
          <p:cNvSpPr/>
          <p:nvPr/>
        </p:nvSpPr>
        <p:spPr>
          <a:xfrm>
            <a:off x="3223260" y="1371600"/>
            <a:ext cx="548640" cy="548640"/>
          </a:xfrm>
          <a:prstGeom prst="ellipse">
            <a:avLst/>
          </a:prstGeom>
          <a:solidFill>
            <a:srgbClr val="4A6FA5"/>
          </a:solidFill>
          <a:ln w="12700">
            <a:solidFill>
              <a:srgbClr val="4A6FA5"/>
            </a:solidFill>
            <a:prstDash val="solid"/>
          </a:ln>
        </p:spPr>
        <p:txBody>
          <a:bodyPr/>
          <a:lstStyle/>
          <a:p>
            <a:endParaRPr lang="en-US"/>
          </a:p>
        </p:txBody>
      </p:sp>
      <p:sp>
        <p:nvSpPr>
          <p:cNvPr id="12" name="Text 10"/>
          <p:cNvSpPr/>
          <p:nvPr/>
        </p:nvSpPr>
        <p:spPr>
          <a:xfrm>
            <a:off x="3223260" y="1371600"/>
            <a:ext cx="548640" cy="54864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3" name="Text 11"/>
          <p:cNvSpPr/>
          <p:nvPr/>
        </p:nvSpPr>
        <p:spPr>
          <a:xfrm>
            <a:off x="2651760" y="2103120"/>
            <a:ext cx="1691640" cy="365760"/>
          </a:xfrm>
          <a:prstGeom prst="rect">
            <a:avLst/>
          </a:prstGeom>
          <a:noFill/>
          <a:ln/>
        </p:spPr>
        <p:txBody>
          <a:bodyPr wrap="square" rtlCol="0" anchor="ctr"/>
          <a:lstStyle/>
          <a:p>
            <a:pPr marL="0" indent="0" algn="ctr">
              <a:buNone/>
            </a:pPr>
            <a:r>
              <a:rPr lang="en-US" sz="1400" b="1" dirty="0">
                <a:solidFill>
                  <a:srgbClr val="1A1A2E"/>
                </a:solidFill>
                <a:latin typeface="Arial" pitchFamily="34" charset="0"/>
                <a:ea typeface="Arial" pitchFamily="34" charset="-122"/>
                <a:cs typeface="Arial" pitchFamily="34" charset="-120"/>
              </a:rPr>
              <a:t>Fit parameters</a:t>
            </a:r>
            <a:endParaRPr lang="en-US" sz="1400" dirty="0"/>
          </a:p>
        </p:txBody>
      </p:sp>
      <p:sp>
        <p:nvSpPr>
          <p:cNvPr id="14" name="Text 12"/>
          <p:cNvSpPr/>
          <p:nvPr/>
        </p:nvSpPr>
        <p:spPr>
          <a:xfrm>
            <a:off x="2697480" y="2514600"/>
            <a:ext cx="1600200" cy="914400"/>
          </a:xfrm>
          <a:prstGeom prst="rect">
            <a:avLst/>
          </a:prstGeom>
          <a:noFill/>
          <a:ln/>
        </p:spPr>
        <p:txBody>
          <a:bodyPr wrap="square" rtlCol="0" anchor="t"/>
          <a:lstStyle/>
          <a:p>
            <a:pPr marL="0" indent="0" algn="ctr">
              <a:buNone/>
            </a:pPr>
            <a:r>
              <a:rPr lang="en-US" sz="1100" dirty="0">
                <a:solidFill>
                  <a:srgbClr val="6B7280"/>
                </a:solidFill>
                <a:latin typeface="Arial" pitchFamily="34" charset="0"/>
                <a:ea typeface="Arial" pitchFamily="34" charset="-122"/>
                <a:cs typeface="Arial" pitchFamily="34" charset="-120"/>
              </a:rPr>
              <a:t>stats.expon.fit(...)</a:t>
            </a:r>
            <a:endParaRPr lang="en-US" sz="1100" dirty="0"/>
          </a:p>
          <a:p>
            <a:pPr marL="0" indent="0" algn="ctr">
              <a:buNone/>
            </a:pPr>
            <a:r>
              <a:rPr lang="en-US" sz="1100" dirty="0">
                <a:solidFill>
                  <a:srgbClr val="6B7280"/>
                </a:solidFill>
                <a:latin typeface="Arial" pitchFamily="34" charset="0"/>
                <a:ea typeface="Arial" pitchFamily="34" charset="-122"/>
                <a:cs typeface="Arial" pitchFamily="34" charset="-120"/>
              </a:rPr>
              <a:t>stats.lognorm.fit(..., floc=0)</a:t>
            </a:r>
            <a:endParaRPr lang="en-US" sz="1100" dirty="0"/>
          </a:p>
        </p:txBody>
      </p:sp>
      <p:sp>
        <p:nvSpPr>
          <p:cNvPr id="15" name="Shape 13"/>
          <p:cNvSpPr/>
          <p:nvPr/>
        </p:nvSpPr>
        <p:spPr>
          <a:xfrm>
            <a:off x="4617720" y="1188720"/>
            <a:ext cx="1874520" cy="2377440"/>
          </a:xfrm>
          <a:prstGeom prst="rect">
            <a:avLst/>
          </a:prstGeom>
          <a:solidFill>
            <a:srgbClr val="FFFFFF"/>
          </a:solidFill>
          <a:ln w="12700">
            <a:solidFill>
              <a:srgbClr val="E5E7EB"/>
            </a:solidFill>
            <a:prstDash val="solid"/>
          </a:ln>
        </p:spPr>
        <p:txBody>
          <a:bodyPr/>
          <a:lstStyle/>
          <a:p>
            <a:endParaRPr lang="en-US"/>
          </a:p>
        </p:txBody>
      </p:sp>
      <p:sp>
        <p:nvSpPr>
          <p:cNvPr id="16" name="Shape 14"/>
          <p:cNvSpPr/>
          <p:nvPr/>
        </p:nvSpPr>
        <p:spPr>
          <a:xfrm>
            <a:off x="5280660" y="1371600"/>
            <a:ext cx="548640" cy="548640"/>
          </a:xfrm>
          <a:prstGeom prst="ellipse">
            <a:avLst/>
          </a:prstGeom>
          <a:solidFill>
            <a:srgbClr val="4A6FA5"/>
          </a:solidFill>
          <a:ln w="12700">
            <a:solidFill>
              <a:srgbClr val="4A6FA5"/>
            </a:solidFill>
            <a:prstDash val="solid"/>
          </a:ln>
        </p:spPr>
        <p:txBody>
          <a:bodyPr/>
          <a:lstStyle/>
          <a:p>
            <a:endParaRPr lang="en-US"/>
          </a:p>
        </p:txBody>
      </p:sp>
      <p:sp>
        <p:nvSpPr>
          <p:cNvPr id="17" name="Text 15"/>
          <p:cNvSpPr/>
          <p:nvPr/>
        </p:nvSpPr>
        <p:spPr>
          <a:xfrm>
            <a:off x="5280660" y="1371600"/>
            <a:ext cx="548640" cy="54864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8" name="Text 16"/>
          <p:cNvSpPr/>
          <p:nvPr/>
        </p:nvSpPr>
        <p:spPr>
          <a:xfrm>
            <a:off x="4709160" y="2103120"/>
            <a:ext cx="1691640" cy="365760"/>
          </a:xfrm>
          <a:prstGeom prst="rect">
            <a:avLst/>
          </a:prstGeom>
          <a:noFill/>
          <a:ln/>
        </p:spPr>
        <p:txBody>
          <a:bodyPr wrap="square" rtlCol="0" anchor="ctr"/>
          <a:lstStyle/>
          <a:p>
            <a:pPr marL="0" indent="0" algn="ctr">
              <a:buNone/>
            </a:pPr>
            <a:r>
              <a:rPr lang="en-US" sz="1400" b="1" dirty="0">
                <a:solidFill>
                  <a:srgbClr val="1A1A2E"/>
                </a:solidFill>
                <a:latin typeface="Arial" pitchFamily="34" charset="0"/>
                <a:ea typeface="Arial" pitchFamily="34" charset="-122"/>
                <a:cs typeface="Arial" pitchFamily="34" charset="-120"/>
              </a:rPr>
              <a:t>Visualize fit</a:t>
            </a:r>
            <a:endParaRPr lang="en-US" sz="1400" dirty="0"/>
          </a:p>
        </p:txBody>
      </p:sp>
      <p:sp>
        <p:nvSpPr>
          <p:cNvPr id="19" name="Text 17"/>
          <p:cNvSpPr/>
          <p:nvPr/>
        </p:nvSpPr>
        <p:spPr>
          <a:xfrm>
            <a:off x="4754880" y="2514600"/>
            <a:ext cx="1600200" cy="914400"/>
          </a:xfrm>
          <a:prstGeom prst="rect">
            <a:avLst/>
          </a:prstGeom>
          <a:noFill/>
          <a:ln/>
        </p:spPr>
        <p:txBody>
          <a:bodyPr wrap="square" rtlCol="0" anchor="t"/>
          <a:lstStyle/>
          <a:p>
            <a:pPr marL="0" indent="0" algn="ctr">
              <a:buNone/>
            </a:pPr>
            <a:r>
              <a:rPr lang="en-US" sz="1100" dirty="0">
                <a:solidFill>
                  <a:srgbClr val="6B7280"/>
                </a:solidFill>
                <a:latin typeface="Arial" pitchFamily="34" charset="0"/>
                <a:ea typeface="Arial" pitchFamily="34" charset="-122"/>
                <a:cs typeface="Arial" pitchFamily="34" charset="-120"/>
              </a:rPr>
              <a:t>Histogram with PDF overlay. Q-Q plot for the tails.</a:t>
            </a:r>
            <a:endParaRPr lang="en-US" sz="1100" dirty="0"/>
          </a:p>
        </p:txBody>
      </p:sp>
      <p:sp>
        <p:nvSpPr>
          <p:cNvPr id="20" name="Shape 18"/>
          <p:cNvSpPr/>
          <p:nvPr/>
        </p:nvSpPr>
        <p:spPr>
          <a:xfrm>
            <a:off x="6675120" y="1188720"/>
            <a:ext cx="1874520" cy="2377440"/>
          </a:xfrm>
          <a:prstGeom prst="rect">
            <a:avLst/>
          </a:prstGeom>
          <a:solidFill>
            <a:srgbClr val="FFFFFF"/>
          </a:solidFill>
          <a:ln w="12700">
            <a:solidFill>
              <a:srgbClr val="E5E7EB"/>
            </a:solidFill>
            <a:prstDash val="solid"/>
          </a:ln>
        </p:spPr>
        <p:txBody>
          <a:bodyPr/>
          <a:lstStyle/>
          <a:p>
            <a:endParaRPr lang="en-US"/>
          </a:p>
        </p:txBody>
      </p:sp>
      <p:sp>
        <p:nvSpPr>
          <p:cNvPr id="21" name="Shape 19"/>
          <p:cNvSpPr/>
          <p:nvPr/>
        </p:nvSpPr>
        <p:spPr>
          <a:xfrm>
            <a:off x="7338060" y="1371600"/>
            <a:ext cx="548640" cy="548640"/>
          </a:xfrm>
          <a:prstGeom prst="ellipse">
            <a:avLst/>
          </a:prstGeom>
          <a:solidFill>
            <a:srgbClr val="4A6FA5"/>
          </a:solidFill>
          <a:ln w="12700">
            <a:solidFill>
              <a:srgbClr val="4A6FA5"/>
            </a:solidFill>
            <a:prstDash val="solid"/>
          </a:ln>
        </p:spPr>
        <p:txBody>
          <a:bodyPr/>
          <a:lstStyle/>
          <a:p>
            <a:endParaRPr lang="en-US"/>
          </a:p>
        </p:txBody>
      </p:sp>
      <p:sp>
        <p:nvSpPr>
          <p:cNvPr id="22" name="Text 20"/>
          <p:cNvSpPr/>
          <p:nvPr/>
        </p:nvSpPr>
        <p:spPr>
          <a:xfrm>
            <a:off x="7338060" y="1371600"/>
            <a:ext cx="548640" cy="54864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23" name="Text 21"/>
          <p:cNvSpPr/>
          <p:nvPr/>
        </p:nvSpPr>
        <p:spPr>
          <a:xfrm>
            <a:off x="6766560" y="2103120"/>
            <a:ext cx="1691640" cy="365760"/>
          </a:xfrm>
          <a:prstGeom prst="rect">
            <a:avLst/>
          </a:prstGeom>
          <a:noFill/>
          <a:ln/>
        </p:spPr>
        <p:txBody>
          <a:bodyPr wrap="square" rtlCol="0" anchor="ctr"/>
          <a:lstStyle/>
          <a:p>
            <a:pPr marL="0" indent="0" algn="ctr">
              <a:buNone/>
            </a:pPr>
            <a:r>
              <a:rPr lang="en-US" sz="1400" b="1" dirty="0">
                <a:solidFill>
                  <a:srgbClr val="1A1A2E"/>
                </a:solidFill>
                <a:latin typeface="Arial" pitchFamily="34" charset="0"/>
                <a:ea typeface="Arial" pitchFamily="34" charset="-122"/>
                <a:cs typeface="Arial" pitchFamily="34" charset="-120"/>
              </a:rPr>
              <a:t>Sanity check</a:t>
            </a:r>
            <a:endParaRPr lang="en-US" sz="1400" dirty="0"/>
          </a:p>
        </p:txBody>
      </p:sp>
      <p:sp>
        <p:nvSpPr>
          <p:cNvPr id="24" name="Text 22"/>
          <p:cNvSpPr/>
          <p:nvPr/>
        </p:nvSpPr>
        <p:spPr>
          <a:xfrm>
            <a:off x="6812280" y="2514600"/>
            <a:ext cx="1600200" cy="914400"/>
          </a:xfrm>
          <a:prstGeom prst="rect">
            <a:avLst/>
          </a:prstGeom>
          <a:noFill/>
          <a:ln/>
        </p:spPr>
        <p:txBody>
          <a:bodyPr wrap="square" rtlCol="0" anchor="t"/>
          <a:lstStyle/>
          <a:p>
            <a:pPr marL="0" indent="0" algn="ctr">
              <a:buNone/>
            </a:pPr>
            <a:r>
              <a:rPr lang="en-US" sz="1100" dirty="0">
                <a:solidFill>
                  <a:srgbClr val="6B7280"/>
                </a:solidFill>
                <a:latin typeface="Arial" pitchFamily="34" charset="0"/>
                <a:ea typeface="Arial" pitchFamily="34" charset="-122"/>
                <a:cs typeface="Arial" pitchFamily="34" charset="-120"/>
              </a:rPr>
              <a:t>KS test as a guardrail. </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Exercise 2 — Fit and explore</a:t>
            </a:r>
            <a:endParaRPr lang="en-US" sz="3200" dirty="0"/>
          </a:p>
        </p:txBody>
      </p:sp>
      <p:sp>
        <p:nvSpPr>
          <p:cNvPr id="5" name="Text 3"/>
          <p:cNvSpPr/>
          <p:nvPr/>
        </p:nvSpPr>
        <p:spPr>
          <a:xfrm>
            <a:off x="457200" y="1188720"/>
            <a:ext cx="8229600" cy="365760"/>
          </a:xfrm>
          <a:prstGeom prst="rect">
            <a:avLst/>
          </a:prstGeom>
          <a:noFill/>
          <a:ln/>
        </p:spPr>
        <p:txBody>
          <a:bodyPr wrap="square" rtlCol="0" anchor="ctr"/>
          <a:lstStyle/>
          <a:p>
            <a:pPr marL="0" indent="0">
              <a:buNone/>
            </a:pPr>
            <a:r>
              <a:rPr lang="en-US" sz="1600" dirty="0">
                <a:solidFill>
                  <a:srgbClr val="6B7280"/>
                </a:solidFill>
                <a:latin typeface="Arial" pitchFamily="34" charset="0"/>
                <a:ea typeface="Arial" pitchFamily="34" charset="-122"/>
                <a:cs typeface="Arial" pitchFamily="34" charset="-120"/>
              </a:rPr>
              <a:t>In the Block 2 notebook:</a:t>
            </a:r>
            <a:endParaRPr lang="en-US" sz="1600" dirty="0"/>
          </a:p>
        </p:txBody>
      </p:sp>
      <p:sp>
        <p:nvSpPr>
          <p:cNvPr id="6" name="Shape 4"/>
          <p:cNvSpPr/>
          <p:nvPr/>
        </p:nvSpPr>
        <p:spPr>
          <a:xfrm>
            <a:off x="640080" y="1755648"/>
            <a:ext cx="274320" cy="274320"/>
          </a:xfrm>
          <a:prstGeom prst="ellipse">
            <a:avLst/>
          </a:prstGeom>
          <a:solidFill>
            <a:srgbClr val="4A6FA5"/>
          </a:solidFill>
          <a:ln w="12700">
            <a:solidFill>
              <a:srgbClr val="4A6FA5"/>
            </a:solidFill>
            <a:prstDash val="solid"/>
          </a:ln>
        </p:spPr>
        <p:txBody>
          <a:bodyPr/>
          <a:lstStyle/>
          <a:p>
            <a:endParaRPr lang="en-US"/>
          </a:p>
        </p:txBody>
      </p:sp>
      <p:sp>
        <p:nvSpPr>
          <p:cNvPr id="7" name="Text 5"/>
          <p:cNvSpPr/>
          <p:nvPr/>
        </p:nvSpPr>
        <p:spPr>
          <a:xfrm>
            <a:off x="640080" y="1755648"/>
            <a:ext cx="274320" cy="2743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1097280" y="1691640"/>
            <a:ext cx="7498080" cy="274320"/>
          </a:xfrm>
          <a:prstGeom prst="rect">
            <a:avLst/>
          </a:prstGeom>
          <a:noFill/>
          <a:ln/>
        </p:spPr>
        <p:txBody>
          <a:bodyPr wrap="square" rtlCol="0" anchor="ctr"/>
          <a:lstStyle/>
          <a:p>
            <a:pPr marL="0" indent="0">
              <a:buNone/>
            </a:pPr>
            <a:r>
              <a:rPr lang="en-US" sz="1400" b="1" dirty="0">
                <a:solidFill>
                  <a:srgbClr val="1A1A2E"/>
                </a:solidFill>
                <a:latin typeface="Arial" pitchFamily="34" charset="0"/>
                <a:ea typeface="Arial" pitchFamily="34" charset="-122"/>
                <a:cs typeface="Arial" pitchFamily="34" charset="-120"/>
              </a:rPr>
              <a:t>Fit exponential to morning-rush inter-arrivals</a:t>
            </a:r>
            <a:endParaRPr lang="en-US" sz="1400" dirty="0"/>
          </a:p>
        </p:txBody>
      </p:sp>
      <p:sp>
        <p:nvSpPr>
          <p:cNvPr id="9" name="Text 7"/>
          <p:cNvSpPr/>
          <p:nvPr/>
        </p:nvSpPr>
        <p:spPr>
          <a:xfrm>
            <a:off x="1097280" y="1965960"/>
            <a:ext cx="7498080" cy="274320"/>
          </a:xfrm>
          <a:prstGeom prst="rect">
            <a:avLst/>
          </a:prstGeom>
          <a:noFill/>
          <a:ln/>
        </p:spPr>
        <p:txBody>
          <a:bodyPr wrap="square" rtlCol="0" anchor="ctr"/>
          <a:lstStyle/>
          <a:p>
            <a:pPr marL="0" indent="0">
              <a:buNone/>
            </a:pPr>
            <a:r>
              <a:rPr lang="en-US" sz="1200" dirty="0">
                <a:solidFill>
                  <a:srgbClr val="6B7280"/>
                </a:solidFill>
                <a:latin typeface="Arial" pitchFamily="34" charset="0"/>
                <a:ea typeface="Arial" pitchFamily="34" charset="-122"/>
                <a:cs typeface="Arial" pitchFamily="34" charset="-120"/>
              </a:rPr>
              <a:t>Recover the 30/hr rate from data with stats.expon.fit.</a:t>
            </a:r>
            <a:endParaRPr lang="en-US" sz="1200" dirty="0"/>
          </a:p>
        </p:txBody>
      </p:sp>
      <p:sp>
        <p:nvSpPr>
          <p:cNvPr id="10" name="Shape 8"/>
          <p:cNvSpPr/>
          <p:nvPr/>
        </p:nvSpPr>
        <p:spPr>
          <a:xfrm>
            <a:off x="640080" y="2350008"/>
            <a:ext cx="274320" cy="274320"/>
          </a:xfrm>
          <a:prstGeom prst="ellipse">
            <a:avLst/>
          </a:prstGeom>
          <a:solidFill>
            <a:srgbClr val="4A6FA5"/>
          </a:solidFill>
          <a:ln w="12700">
            <a:solidFill>
              <a:srgbClr val="4A6FA5"/>
            </a:solidFill>
            <a:prstDash val="solid"/>
          </a:ln>
        </p:spPr>
        <p:txBody>
          <a:bodyPr/>
          <a:lstStyle/>
          <a:p>
            <a:endParaRPr lang="en-US"/>
          </a:p>
        </p:txBody>
      </p:sp>
      <p:sp>
        <p:nvSpPr>
          <p:cNvPr id="11" name="Text 9"/>
          <p:cNvSpPr/>
          <p:nvPr/>
        </p:nvSpPr>
        <p:spPr>
          <a:xfrm>
            <a:off x="640080" y="2350008"/>
            <a:ext cx="274320" cy="2743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2" name="Text 10"/>
          <p:cNvSpPr/>
          <p:nvPr/>
        </p:nvSpPr>
        <p:spPr>
          <a:xfrm>
            <a:off x="1097280" y="2286000"/>
            <a:ext cx="7498080" cy="274320"/>
          </a:xfrm>
          <a:prstGeom prst="rect">
            <a:avLst/>
          </a:prstGeom>
          <a:noFill/>
          <a:ln/>
        </p:spPr>
        <p:txBody>
          <a:bodyPr wrap="square" rtlCol="0" anchor="ctr"/>
          <a:lstStyle/>
          <a:p>
            <a:pPr marL="0" indent="0">
              <a:buNone/>
            </a:pPr>
            <a:r>
              <a:rPr lang="en-US" sz="1400" b="1" dirty="0">
                <a:solidFill>
                  <a:srgbClr val="1A1A2E"/>
                </a:solidFill>
                <a:latin typeface="Arial" pitchFamily="34" charset="0"/>
                <a:ea typeface="Arial" pitchFamily="34" charset="-122"/>
                <a:cs typeface="Arial" pitchFamily="34" charset="-120"/>
              </a:rPr>
              <a:t>Fit lognormal to service times per order type</a:t>
            </a:r>
            <a:endParaRPr lang="en-US" sz="1400" dirty="0"/>
          </a:p>
        </p:txBody>
      </p:sp>
      <p:sp>
        <p:nvSpPr>
          <p:cNvPr id="13" name="Text 11"/>
          <p:cNvSpPr/>
          <p:nvPr/>
        </p:nvSpPr>
        <p:spPr>
          <a:xfrm>
            <a:off x="1097280" y="2560320"/>
            <a:ext cx="7498080" cy="274320"/>
          </a:xfrm>
          <a:prstGeom prst="rect">
            <a:avLst/>
          </a:prstGeom>
          <a:noFill/>
          <a:ln/>
        </p:spPr>
        <p:txBody>
          <a:bodyPr wrap="square" rtlCol="0" anchor="ctr"/>
          <a:lstStyle/>
          <a:p>
            <a:pPr marL="0" indent="0">
              <a:buNone/>
            </a:pPr>
            <a:r>
              <a:rPr lang="en-US" sz="1200" dirty="0">
                <a:solidFill>
                  <a:srgbClr val="6B7280"/>
                </a:solidFill>
                <a:latin typeface="Arial" pitchFamily="34" charset="0"/>
                <a:ea typeface="Arial" pitchFamily="34" charset="-122"/>
                <a:cs typeface="Arial" pitchFamily="34" charset="-120"/>
              </a:rPr>
              <a:t>Drip, espresso, blended. Visualize the three fits side by side.</a:t>
            </a:r>
            <a:endParaRPr lang="en-US" sz="1200" dirty="0"/>
          </a:p>
        </p:txBody>
      </p:sp>
      <p:sp>
        <p:nvSpPr>
          <p:cNvPr id="14" name="Shape 12"/>
          <p:cNvSpPr/>
          <p:nvPr/>
        </p:nvSpPr>
        <p:spPr>
          <a:xfrm>
            <a:off x="640080" y="2944368"/>
            <a:ext cx="274320" cy="274320"/>
          </a:xfrm>
          <a:prstGeom prst="ellipse">
            <a:avLst/>
          </a:prstGeom>
          <a:solidFill>
            <a:srgbClr val="4A6FA5"/>
          </a:solidFill>
          <a:ln w="12700">
            <a:solidFill>
              <a:srgbClr val="4A6FA5"/>
            </a:solidFill>
            <a:prstDash val="solid"/>
          </a:ln>
        </p:spPr>
        <p:txBody>
          <a:bodyPr/>
          <a:lstStyle/>
          <a:p>
            <a:endParaRPr lang="en-US"/>
          </a:p>
        </p:txBody>
      </p:sp>
      <p:sp>
        <p:nvSpPr>
          <p:cNvPr id="15" name="Text 13"/>
          <p:cNvSpPr/>
          <p:nvPr/>
        </p:nvSpPr>
        <p:spPr>
          <a:xfrm>
            <a:off x="640080" y="2944368"/>
            <a:ext cx="274320" cy="2743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6" name="Text 14"/>
          <p:cNvSpPr/>
          <p:nvPr/>
        </p:nvSpPr>
        <p:spPr>
          <a:xfrm>
            <a:off x="1097280" y="2880360"/>
            <a:ext cx="7498080" cy="274320"/>
          </a:xfrm>
          <a:prstGeom prst="rect">
            <a:avLst/>
          </a:prstGeom>
          <a:noFill/>
          <a:ln/>
        </p:spPr>
        <p:txBody>
          <a:bodyPr wrap="square" rtlCol="0" anchor="ctr"/>
          <a:lstStyle/>
          <a:p>
            <a:pPr marL="0" indent="0">
              <a:buNone/>
            </a:pPr>
            <a:r>
              <a:rPr lang="en-US" sz="1400" b="1" dirty="0">
                <a:solidFill>
                  <a:srgbClr val="1A1A2E"/>
                </a:solidFill>
                <a:latin typeface="Arial" pitchFamily="34" charset="0"/>
                <a:ea typeface="Arial" pitchFamily="34" charset="-122"/>
                <a:cs typeface="Arial" pitchFamily="34" charset="-120"/>
              </a:rPr>
              <a:t>Explore: change espresso σ and watch P90</a:t>
            </a:r>
            <a:endParaRPr lang="en-US" sz="1400" dirty="0"/>
          </a:p>
        </p:txBody>
      </p:sp>
      <p:sp>
        <p:nvSpPr>
          <p:cNvPr id="17" name="Text 15"/>
          <p:cNvSpPr/>
          <p:nvPr/>
        </p:nvSpPr>
        <p:spPr>
          <a:xfrm>
            <a:off x="1097280" y="3154680"/>
            <a:ext cx="7498080" cy="274320"/>
          </a:xfrm>
          <a:prstGeom prst="rect">
            <a:avLst/>
          </a:prstGeom>
          <a:noFill/>
          <a:ln/>
        </p:spPr>
        <p:txBody>
          <a:bodyPr wrap="square" rtlCol="0" anchor="ctr"/>
          <a:lstStyle/>
          <a:p>
            <a:pPr marL="0" indent="0">
              <a:buNone/>
            </a:pPr>
            <a:r>
              <a:rPr lang="en-US" sz="1200" dirty="0">
                <a:solidFill>
                  <a:srgbClr val="6B7280"/>
                </a:solidFill>
                <a:latin typeface="Arial" pitchFamily="34" charset="0"/>
                <a:ea typeface="Arial" pitchFamily="34" charset="-122"/>
                <a:cs typeface="Arial" pitchFamily="34" charset="-120"/>
              </a:rPr>
              <a:t>Operationalize the 'long-tail' intuition.</a:t>
            </a:r>
            <a:endParaRPr lang="en-US" sz="1200" dirty="0"/>
          </a:p>
        </p:txBody>
      </p:sp>
      <p:sp>
        <p:nvSpPr>
          <p:cNvPr id="18" name="Shape 16"/>
          <p:cNvSpPr/>
          <p:nvPr/>
        </p:nvSpPr>
        <p:spPr>
          <a:xfrm>
            <a:off x="640080" y="3538728"/>
            <a:ext cx="274320" cy="274320"/>
          </a:xfrm>
          <a:prstGeom prst="ellipse">
            <a:avLst/>
          </a:prstGeom>
          <a:solidFill>
            <a:srgbClr val="4A6FA5"/>
          </a:solidFill>
          <a:ln w="12700">
            <a:solidFill>
              <a:srgbClr val="4A6FA5"/>
            </a:solidFill>
            <a:prstDash val="solid"/>
          </a:ln>
        </p:spPr>
        <p:txBody>
          <a:bodyPr/>
          <a:lstStyle/>
          <a:p>
            <a:endParaRPr lang="en-US"/>
          </a:p>
        </p:txBody>
      </p:sp>
      <p:sp>
        <p:nvSpPr>
          <p:cNvPr id="19" name="Text 17"/>
          <p:cNvSpPr/>
          <p:nvPr/>
        </p:nvSpPr>
        <p:spPr>
          <a:xfrm>
            <a:off x="640080" y="3538728"/>
            <a:ext cx="274320" cy="2743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0" name="Text 18"/>
          <p:cNvSpPr/>
          <p:nvPr/>
        </p:nvSpPr>
        <p:spPr>
          <a:xfrm>
            <a:off x="1097280" y="3474720"/>
            <a:ext cx="7498080" cy="274320"/>
          </a:xfrm>
          <a:prstGeom prst="rect">
            <a:avLst/>
          </a:prstGeom>
          <a:noFill/>
          <a:ln/>
        </p:spPr>
        <p:txBody>
          <a:bodyPr wrap="square" rtlCol="0" anchor="ctr"/>
          <a:lstStyle/>
          <a:p>
            <a:pPr marL="0" indent="0">
              <a:buNone/>
            </a:pPr>
            <a:r>
              <a:rPr lang="en-US" sz="1400" b="1" dirty="0">
                <a:solidFill>
                  <a:srgbClr val="1A1A2E"/>
                </a:solidFill>
                <a:latin typeface="Arial" pitchFamily="34" charset="0"/>
                <a:ea typeface="Arial" pitchFamily="34" charset="-122"/>
                <a:cs typeface="Arial" pitchFamily="34" charset="-120"/>
              </a:rPr>
              <a:t>Compute the M/M/c utilization sanity check</a:t>
            </a:r>
            <a:endParaRPr lang="en-US" sz="1400" dirty="0"/>
          </a:p>
        </p:txBody>
      </p:sp>
      <p:sp>
        <p:nvSpPr>
          <p:cNvPr id="21" name="Text 19"/>
          <p:cNvSpPr/>
          <p:nvPr/>
        </p:nvSpPr>
        <p:spPr>
          <a:xfrm>
            <a:off x="1097280" y="3749040"/>
            <a:ext cx="7498080" cy="274320"/>
          </a:xfrm>
          <a:prstGeom prst="rect">
            <a:avLst/>
          </a:prstGeom>
          <a:noFill/>
          <a:ln/>
        </p:spPr>
        <p:txBody>
          <a:bodyPr wrap="square" rtlCol="0" anchor="ctr"/>
          <a:lstStyle/>
          <a:p>
            <a:pPr marL="0" indent="0">
              <a:buNone/>
            </a:pPr>
            <a:r>
              <a:rPr lang="en-US" sz="1200" dirty="0">
                <a:solidFill>
                  <a:srgbClr val="6B7280"/>
                </a:solidFill>
                <a:latin typeface="Arial" pitchFamily="34" charset="0"/>
                <a:ea typeface="Arial" pitchFamily="34" charset="-122"/>
                <a:cs typeface="Arial" pitchFamily="34" charset="-120"/>
              </a:rPr>
              <a:t>Reproduce the 0.83 number from the data.</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Spec-driven simulation development</a:t>
            </a:r>
            <a:endParaRPr lang="en-US" sz="3200" dirty="0"/>
          </a:p>
        </p:txBody>
      </p:sp>
      <p:sp>
        <p:nvSpPr>
          <p:cNvPr id="5" name="Text 3"/>
          <p:cNvSpPr/>
          <p:nvPr/>
        </p:nvSpPr>
        <p:spPr>
          <a:xfrm>
            <a:off x="457200" y="1188720"/>
            <a:ext cx="8229600" cy="457200"/>
          </a:xfrm>
          <a:prstGeom prst="rect">
            <a:avLst/>
          </a:prstGeom>
          <a:noFill/>
          <a:ln/>
        </p:spPr>
        <p:txBody>
          <a:bodyPr wrap="square" rtlCol="0" anchor="ctr"/>
          <a:lstStyle/>
          <a:p>
            <a:pPr marL="0" indent="0" algn="ctr">
              <a:buNone/>
            </a:pPr>
            <a:r>
              <a:rPr lang="en-US" sz="1800" i="1" dirty="0">
                <a:solidFill>
                  <a:srgbClr val="1A1A2E"/>
                </a:solidFill>
                <a:latin typeface="Arial" pitchFamily="34" charset="0"/>
                <a:ea typeface="Arial" pitchFamily="34" charset="-122"/>
                <a:cs typeface="Arial" pitchFamily="34" charset="-120"/>
              </a:rPr>
              <a:t>Simulation code is deceptively easy to write and easy to get wrong.</a:t>
            </a:r>
            <a:endParaRPr lang="en-US" sz="1800" dirty="0"/>
          </a:p>
        </p:txBody>
      </p:sp>
      <p:sp>
        <p:nvSpPr>
          <p:cNvPr id="6" name="Text 4"/>
          <p:cNvSpPr/>
          <p:nvPr/>
        </p:nvSpPr>
        <p:spPr>
          <a:xfrm>
            <a:off x="457200" y="1691640"/>
            <a:ext cx="8229600" cy="731520"/>
          </a:xfrm>
          <a:prstGeom prst="rect">
            <a:avLst/>
          </a:prstGeom>
          <a:noFill/>
          <a:ln/>
        </p:spPr>
        <p:txBody>
          <a:bodyPr wrap="square" rtlCol="0" anchor="ctr"/>
          <a:lstStyle/>
          <a:p>
            <a:pPr marL="0" indent="0" algn="ctr">
              <a:buNone/>
            </a:pPr>
            <a:r>
              <a:rPr lang="en-US" sz="1600" dirty="0">
                <a:solidFill>
                  <a:srgbClr val="B85042"/>
                </a:solidFill>
                <a:latin typeface="Arial" pitchFamily="34" charset="0"/>
                <a:ea typeface="Arial" pitchFamily="34" charset="-122"/>
                <a:cs typeface="Arial" pitchFamily="34" charset="-120"/>
              </a:rPr>
              <a:t>A misspecified distribution rarely produces an error.</a:t>
            </a:r>
            <a:endParaRPr lang="en-US" sz="1600" dirty="0"/>
          </a:p>
          <a:p>
            <a:pPr marL="0" indent="0" algn="ctr">
              <a:buNone/>
            </a:pPr>
            <a:r>
              <a:rPr lang="en-US" sz="1600" dirty="0">
                <a:solidFill>
                  <a:srgbClr val="B85042"/>
                </a:solidFill>
                <a:latin typeface="Arial" pitchFamily="34" charset="0"/>
                <a:ea typeface="Arial" pitchFamily="34" charset="-122"/>
                <a:cs typeface="Arial" pitchFamily="34" charset="-120"/>
              </a:rPr>
              <a:t>It produces a plausible-looking wrong answer.</a:t>
            </a:r>
            <a:endParaRPr lang="en-US" sz="1600" dirty="0"/>
          </a:p>
        </p:txBody>
      </p:sp>
      <p:sp>
        <p:nvSpPr>
          <p:cNvPr id="7" name="Shape 5"/>
          <p:cNvSpPr/>
          <p:nvPr/>
        </p:nvSpPr>
        <p:spPr>
          <a:xfrm>
            <a:off x="480060" y="2743200"/>
            <a:ext cx="2606040" cy="1371600"/>
          </a:xfrm>
          <a:prstGeom prst="rect">
            <a:avLst/>
          </a:prstGeom>
          <a:solidFill>
            <a:srgbClr val="FFFFFF"/>
          </a:solidFill>
          <a:ln w="12700">
            <a:solidFill>
              <a:srgbClr val="E5E7EB"/>
            </a:solidFill>
            <a:prstDash val="solid"/>
          </a:ln>
        </p:spPr>
        <p:txBody>
          <a:bodyPr/>
          <a:lstStyle/>
          <a:p>
            <a:endParaRPr lang="en-US"/>
          </a:p>
        </p:txBody>
      </p:sp>
      <p:sp>
        <p:nvSpPr>
          <p:cNvPr id="8" name="Shape 6"/>
          <p:cNvSpPr/>
          <p:nvPr/>
        </p:nvSpPr>
        <p:spPr>
          <a:xfrm>
            <a:off x="480060" y="2743200"/>
            <a:ext cx="73152" cy="1371600"/>
          </a:xfrm>
          <a:prstGeom prst="rect">
            <a:avLst/>
          </a:prstGeom>
          <a:solidFill>
            <a:srgbClr val="4A6FA5"/>
          </a:solidFill>
          <a:ln w="12700">
            <a:solidFill>
              <a:srgbClr val="4A6FA5"/>
            </a:solidFill>
            <a:prstDash val="solid"/>
          </a:ln>
        </p:spPr>
        <p:txBody>
          <a:bodyPr/>
          <a:lstStyle/>
          <a:p>
            <a:endParaRPr lang="en-US"/>
          </a:p>
        </p:txBody>
      </p:sp>
      <p:sp>
        <p:nvSpPr>
          <p:cNvPr id="9" name="Text 7"/>
          <p:cNvSpPr/>
          <p:nvPr/>
        </p:nvSpPr>
        <p:spPr>
          <a:xfrm>
            <a:off x="708660" y="2880360"/>
            <a:ext cx="224028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Forces clarity</a:t>
            </a:r>
            <a:endParaRPr lang="en-US" sz="1600" dirty="0"/>
          </a:p>
        </p:txBody>
      </p:sp>
      <p:sp>
        <p:nvSpPr>
          <p:cNvPr id="10" name="Text 8"/>
          <p:cNvSpPr/>
          <p:nvPr/>
        </p:nvSpPr>
        <p:spPr>
          <a:xfrm>
            <a:off x="708660" y="3291840"/>
            <a:ext cx="2240280" cy="73152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About modeling decisions before coding begins.</a:t>
            </a:r>
            <a:endParaRPr lang="en-US" sz="1200" dirty="0"/>
          </a:p>
        </p:txBody>
      </p:sp>
      <p:sp>
        <p:nvSpPr>
          <p:cNvPr id="11" name="Shape 9"/>
          <p:cNvSpPr/>
          <p:nvPr/>
        </p:nvSpPr>
        <p:spPr>
          <a:xfrm>
            <a:off x="3268980" y="2743200"/>
            <a:ext cx="2606040" cy="1371600"/>
          </a:xfrm>
          <a:prstGeom prst="rect">
            <a:avLst/>
          </a:prstGeom>
          <a:solidFill>
            <a:srgbClr val="FFFFFF"/>
          </a:solidFill>
          <a:ln w="12700">
            <a:solidFill>
              <a:srgbClr val="E5E7EB"/>
            </a:solidFill>
            <a:prstDash val="solid"/>
          </a:ln>
        </p:spPr>
        <p:txBody>
          <a:bodyPr/>
          <a:lstStyle/>
          <a:p>
            <a:endParaRPr lang="en-US"/>
          </a:p>
        </p:txBody>
      </p:sp>
      <p:sp>
        <p:nvSpPr>
          <p:cNvPr id="12" name="Shape 10"/>
          <p:cNvSpPr/>
          <p:nvPr/>
        </p:nvSpPr>
        <p:spPr>
          <a:xfrm>
            <a:off x="3268980" y="2743200"/>
            <a:ext cx="73152" cy="1371600"/>
          </a:xfrm>
          <a:prstGeom prst="rect">
            <a:avLst/>
          </a:prstGeom>
          <a:solidFill>
            <a:srgbClr val="4A6FA5"/>
          </a:solidFill>
          <a:ln w="12700">
            <a:solidFill>
              <a:srgbClr val="4A6FA5"/>
            </a:solidFill>
            <a:prstDash val="solid"/>
          </a:ln>
        </p:spPr>
        <p:txBody>
          <a:bodyPr/>
          <a:lstStyle/>
          <a:p>
            <a:endParaRPr lang="en-US"/>
          </a:p>
        </p:txBody>
      </p:sp>
      <p:sp>
        <p:nvSpPr>
          <p:cNvPr id="13" name="Text 11"/>
          <p:cNvSpPr/>
          <p:nvPr/>
        </p:nvSpPr>
        <p:spPr>
          <a:xfrm>
            <a:off x="3497580" y="2880360"/>
            <a:ext cx="224028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Reviewable by domain experts</a:t>
            </a:r>
            <a:endParaRPr lang="en-US" sz="1600" dirty="0"/>
          </a:p>
        </p:txBody>
      </p:sp>
      <p:sp>
        <p:nvSpPr>
          <p:cNvPr id="14" name="Text 12"/>
          <p:cNvSpPr/>
          <p:nvPr/>
        </p:nvSpPr>
        <p:spPr>
          <a:xfrm>
            <a:off x="3497580" y="3291840"/>
            <a:ext cx="2240280" cy="73152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Without making them read code.</a:t>
            </a:r>
            <a:endParaRPr lang="en-US" sz="1200" dirty="0"/>
          </a:p>
        </p:txBody>
      </p:sp>
      <p:sp>
        <p:nvSpPr>
          <p:cNvPr id="15" name="Shape 13"/>
          <p:cNvSpPr/>
          <p:nvPr/>
        </p:nvSpPr>
        <p:spPr>
          <a:xfrm>
            <a:off x="6057900" y="2743200"/>
            <a:ext cx="2606040" cy="1371600"/>
          </a:xfrm>
          <a:prstGeom prst="rect">
            <a:avLst/>
          </a:prstGeom>
          <a:solidFill>
            <a:srgbClr val="FFFFFF"/>
          </a:solidFill>
          <a:ln w="12700">
            <a:solidFill>
              <a:srgbClr val="E5E7EB"/>
            </a:solidFill>
            <a:prstDash val="solid"/>
          </a:ln>
        </p:spPr>
        <p:txBody>
          <a:bodyPr/>
          <a:lstStyle/>
          <a:p>
            <a:endParaRPr lang="en-US"/>
          </a:p>
        </p:txBody>
      </p:sp>
      <p:sp>
        <p:nvSpPr>
          <p:cNvPr id="16" name="Shape 14"/>
          <p:cNvSpPr/>
          <p:nvPr/>
        </p:nvSpPr>
        <p:spPr>
          <a:xfrm>
            <a:off x="6057900" y="2743200"/>
            <a:ext cx="73152" cy="1371600"/>
          </a:xfrm>
          <a:prstGeom prst="rect">
            <a:avLst/>
          </a:prstGeom>
          <a:solidFill>
            <a:srgbClr val="4A6FA5"/>
          </a:solidFill>
          <a:ln w="12700">
            <a:solidFill>
              <a:srgbClr val="4A6FA5"/>
            </a:solidFill>
            <a:prstDash val="solid"/>
          </a:ln>
        </p:spPr>
        <p:txBody>
          <a:bodyPr/>
          <a:lstStyle/>
          <a:p>
            <a:endParaRPr lang="en-US"/>
          </a:p>
        </p:txBody>
      </p:sp>
      <p:sp>
        <p:nvSpPr>
          <p:cNvPr id="17" name="Text 15"/>
          <p:cNvSpPr/>
          <p:nvPr/>
        </p:nvSpPr>
        <p:spPr>
          <a:xfrm>
            <a:off x="6286500" y="2880360"/>
            <a:ext cx="224028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Becomes the LLM prompt</a:t>
            </a:r>
            <a:endParaRPr lang="en-US" sz="1600" dirty="0"/>
          </a:p>
        </p:txBody>
      </p:sp>
      <p:sp>
        <p:nvSpPr>
          <p:cNvPr id="18" name="Text 16"/>
          <p:cNvSpPr/>
          <p:nvPr/>
        </p:nvSpPr>
        <p:spPr>
          <a:xfrm>
            <a:off x="6286500" y="3291840"/>
            <a:ext cx="2240280" cy="73152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A precise spec is a precise prompt.</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14">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Three templates, one workflow</a:t>
            </a:r>
            <a:endParaRPr lang="en-US" sz="3200" dirty="0"/>
          </a:p>
        </p:txBody>
      </p:sp>
      <p:sp>
        <p:nvSpPr>
          <p:cNvPr id="4" name="Text 2"/>
          <p:cNvSpPr/>
          <p:nvPr/>
        </p:nvSpPr>
        <p:spPr>
          <a:xfrm>
            <a:off x="5943600" y="164592"/>
            <a:ext cx="274320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Block 3 · 20 min</a:t>
            </a:r>
            <a:endParaRPr lang="en-US" sz="1000" dirty="0"/>
          </a:p>
        </p:txBody>
      </p:sp>
      <p:sp>
        <p:nvSpPr>
          <p:cNvPr id="5" name="Shape 3"/>
          <p:cNvSpPr/>
          <p:nvPr/>
        </p:nvSpPr>
        <p:spPr>
          <a:xfrm>
            <a:off x="548640" y="1554480"/>
            <a:ext cx="2377440" cy="2194560"/>
          </a:xfrm>
          <a:prstGeom prst="rect">
            <a:avLst/>
          </a:prstGeom>
          <a:solidFill>
            <a:srgbClr val="FFFFFF"/>
          </a:solidFill>
          <a:ln w="12700">
            <a:solidFill>
              <a:srgbClr val="E5E7EB"/>
            </a:solidFill>
            <a:prstDash val="solid"/>
          </a:ln>
        </p:spPr>
        <p:txBody>
          <a:bodyPr/>
          <a:lstStyle/>
          <a:p>
            <a:endParaRPr lang="en-US"/>
          </a:p>
        </p:txBody>
      </p:sp>
      <p:sp>
        <p:nvSpPr>
          <p:cNvPr id="6" name="Shape 4"/>
          <p:cNvSpPr/>
          <p:nvPr/>
        </p:nvSpPr>
        <p:spPr>
          <a:xfrm>
            <a:off x="1417320" y="1783080"/>
            <a:ext cx="640080" cy="640080"/>
          </a:xfrm>
          <a:prstGeom prst="ellipse">
            <a:avLst/>
          </a:prstGeom>
          <a:solidFill>
            <a:srgbClr val="4A6FA5"/>
          </a:solidFill>
          <a:ln w="12700">
            <a:solidFill>
              <a:srgbClr val="4A6FA5"/>
            </a:solidFill>
            <a:prstDash val="solid"/>
          </a:ln>
        </p:spPr>
        <p:txBody>
          <a:bodyPr/>
          <a:lstStyle/>
          <a:p>
            <a:endParaRPr lang="en-US"/>
          </a:p>
        </p:txBody>
      </p:sp>
      <p:sp>
        <p:nvSpPr>
          <p:cNvPr id="7" name="Text 5"/>
          <p:cNvSpPr/>
          <p:nvPr/>
        </p:nvSpPr>
        <p:spPr>
          <a:xfrm>
            <a:off x="1417320" y="1783080"/>
            <a:ext cx="640080" cy="64008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A</a:t>
            </a:r>
            <a:endParaRPr lang="en-US" sz="2800" dirty="0"/>
          </a:p>
        </p:txBody>
      </p:sp>
      <p:sp>
        <p:nvSpPr>
          <p:cNvPr id="8" name="Text 6"/>
          <p:cNvSpPr/>
          <p:nvPr/>
        </p:nvSpPr>
        <p:spPr>
          <a:xfrm>
            <a:off x="685800" y="2514600"/>
            <a:ext cx="2103120" cy="457200"/>
          </a:xfrm>
          <a:prstGeom prst="rect">
            <a:avLst/>
          </a:prstGeom>
          <a:noFill/>
          <a:ln/>
        </p:spPr>
        <p:txBody>
          <a:bodyPr wrap="square" rtlCol="0" anchor="ctr"/>
          <a:lstStyle/>
          <a:p>
            <a:pPr marL="0" indent="0" algn="ctr">
              <a:buNone/>
            </a:pPr>
            <a:r>
              <a:rPr lang="en-US" sz="1400" b="1" dirty="0">
                <a:solidFill>
                  <a:srgbClr val="1A1A2E"/>
                </a:solidFill>
                <a:latin typeface="Arial" pitchFamily="34" charset="0"/>
                <a:ea typeface="Arial" pitchFamily="34" charset="-122"/>
                <a:cs typeface="Arial" pitchFamily="34" charset="-120"/>
              </a:rPr>
              <a:t>Process &amp; Resource Spec</a:t>
            </a:r>
            <a:endParaRPr lang="en-US" sz="1400" dirty="0"/>
          </a:p>
        </p:txBody>
      </p:sp>
      <p:sp>
        <p:nvSpPr>
          <p:cNvPr id="9" name="Text 7"/>
          <p:cNvSpPr/>
          <p:nvPr/>
        </p:nvSpPr>
        <p:spPr>
          <a:xfrm>
            <a:off x="685800" y="2971800"/>
            <a:ext cx="2103120" cy="731520"/>
          </a:xfrm>
          <a:prstGeom prst="rect">
            <a:avLst/>
          </a:prstGeom>
          <a:noFill/>
          <a:ln/>
        </p:spPr>
        <p:txBody>
          <a:bodyPr wrap="square" rtlCol="0" anchor="t"/>
          <a:lstStyle/>
          <a:p>
            <a:pPr marL="0" indent="0" algn="ctr">
              <a:buNone/>
            </a:pPr>
            <a:r>
              <a:rPr lang="en-US" sz="1100" dirty="0">
                <a:solidFill>
                  <a:srgbClr val="6B7280"/>
                </a:solidFill>
                <a:latin typeface="Arial" pitchFamily="34" charset="0"/>
                <a:ea typeface="Arial" pitchFamily="34" charset="-122"/>
                <a:cs typeface="Arial" pitchFamily="34" charset="-120"/>
              </a:rPr>
              <a:t>Entities, resources, queue rules, distributions, scenarios, pre-checks.</a:t>
            </a:r>
            <a:endParaRPr lang="en-US" sz="1100" dirty="0"/>
          </a:p>
        </p:txBody>
      </p:sp>
      <p:sp>
        <p:nvSpPr>
          <p:cNvPr id="10" name="Text 8"/>
          <p:cNvSpPr/>
          <p:nvPr/>
        </p:nvSpPr>
        <p:spPr>
          <a:xfrm>
            <a:off x="2926080" y="2286000"/>
            <a:ext cx="457200" cy="731520"/>
          </a:xfrm>
          <a:prstGeom prst="rect">
            <a:avLst/>
          </a:prstGeom>
          <a:noFill/>
          <a:ln/>
        </p:spPr>
        <p:txBody>
          <a:bodyPr wrap="square" rtlCol="0" anchor="ctr"/>
          <a:lstStyle/>
          <a:p>
            <a:pPr marL="0" indent="0" algn="ctr">
              <a:buNone/>
            </a:pPr>
            <a:r>
              <a:rPr lang="en-US" sz="3600" b="1" dirty="0">
                <a:solidFill>
                  <a:srgbClr val="4A6FA5"/>
                </a:solidFill>
                <a:latin typeface="Arial" pitchFamily="34" charset="0"/>
                <a:ea typeface="Arial" pitchFamily="34" charset="-122"/>
                <a:cs typeface="Arial" pitchFamily="34" charset="-120"/>
              </a:rPr>
              <a:t>→</a:t>
            </a:r>
            <a:endParaRPr lang="en-US" sz="3600" dirty="0"/>
          </a:p>
        </p:txBody>
      </p:sp>
      <p:sp>
        <p:nvSpPr>
          <p:cNvPr id="11" name="Shape 9"/>
          <p:cNvSpPr/>
          <p:nvPr/>
        </p:nvSpPr>
        <p:spPr>
          <a:xfrm>
            <a:off x="3383280" y="1554480"/>
            <a:ext cx="2377440" cy="2194560"/>
          </a:xfrm>
          <a:prstGeom prst="rect">
            <a:avLst/>
          </a:prstGeom>
          <a:solidFill>
            <a:srgbClr val="FFFFFF"/>
          </a:solidFill>
          <a:ln w="12700">
            <a:solidFill>
              <a:srgbClr val="E5E7EB"/>
            </a:solidFill>
            <a:prstDash val="solid"/>
          </a:ln>
        </p:spPr>
        <p:txBody>
          <a:bodyPr/>
          <a:lstStyle/>
          <a:p>
            <a:endParaRPr lang="en-US"/>
          </a:p>
        </p:txBody>
      </p:sp>
      <p:sp>
        <p:nvSpPr>
          <p:cNvPr id="12" name="Shape 10"/>
          <p:cNvSpPr/>
          <p:nvPr/>
        </p:nvSpPr>
        <p:spPr>
          <a:xfrm>
            <a:off x="4251960" y="1783080"/>
            <a:ext cx="640080" cy="640080"/>
          </a:xfrm>
          <a:prstGeom prst="ellipse">
            <a:avLst/>
          </a:prstGeom>
          <a:solidFill>
            <a:srgbClr val="4A6FA5"/>
          </a:solidFill>
          <a:ln w="12700">
            <a:solidFill>
              <a:srgbClr val="4A6FA5"/>
            </a:solidFill>
            <a:prstDash val="solid"/>
          </a:ln>
        </p:spPr>
        <p:txBody>
          <a:bodyPr/>
          <a:lstStyle/>
          <a:p>
            <a:endParaRPr lang="en-US"/>
          </a:p>
        </p:txBody>
      </p:sp>
      <p:sp>
        <p:nvSpPr>
          <p:cNvPr id="13" name="Text 11"/>
          <p:cNvSpPr/>
          <p:nvPr/>
        </p:nvSpPr>
        <p:spPr>
          <a:xfrm>
            <a:off x="4251960" y="1783080"/>
            <a:ext cx="640080" cy="64008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B</a:t>
            </a:r>
            <a:endParaRPr lang="en-US" sz="2800" dirty="0"/>
          </a:p>
        </p:txBody>
      </p:sp>
      <p:sp>
        <p:nvSpPr>
          <p:cNvPr id="14" name="Text 12"/>
          <p:cNvSpPr/>
          <p:nvPr/>
        </p:nvSpPr>
        <p:spPr>
          <a:xfrm>
            <a:off x="3520440" y="2514600"/>
            <a:ext cx="2103120" cy="457200"/>
          </a:xfrm>
          <a:prstGeom prst="rect">
            <a:avLst/>
          </a:prstGeom>
          <a:noFill/>
          <a:ln/>
        </p:spPr>
        <p:txBody>
          <a:bodyPr wrap="square" rtlCol="0" anchor="ctr"/>
          <a:lstStyle/>
          <a:p>
            <a:pPr marL="0" indent="0" algn="ctr">
              <a:buNone/>
            </a:pPr>
            <a:r>
              <a:rPr lang="en-US" sz="1400" b="1" dirty="0">
                <a:solidFill>
                  <a:srgbClr val="1A1A2E"/>
                </a:solidFill>
                <a:latin typeface="Arial" pitchFamily="34" charset="0"/>
                <a:ea typeface="Arial" pitchFamily="34" charset="-122"/>
                <a:cs typeface="Arial" pitchFamily="34" charset="-120"/>
              </a:rPr>
              <a:t>Code Generation Prompt</a:t>
            </a:r>
            <a:endParaRPr lang="en-US" sz="1400" dirty="0"/>
          </a:p>
        </p:txBody>
      </p:sp>
      <p:sp>
        <p:nvSpPr>
          <p:cNvPr id="15" name="Text 13"/>
          <p:cNvSpPr/>
          <p:nvPr/>
        </p:nvSpPr>
        <p:spPr>
          <a:xfrm>
            <a:off x="3520440" y="2971800"/>
            <a:ext cx="2103120" cy="731520"/>
          </a:xfrm>
          <a:prstGeom prst="rect">
            <a:avLst/>
          </a:prstGeom>
          <a:noFill/>
          <a:ln/>
        </p:spPr>
        <p:txBody>
          <a:bodyPr wrap="square" rtlCol="0" anchor="t"/>
          <a:lstStyle/>
          <a:p>
            <a:pPr marL="0" indent="0" algn="ctr">
              <a:buNone/>
            </a:pPr>
            <a:r>
              <a:rPr lang="en-US" sz="1100" dirty="0">
                <a:solidFill>
                  <a:srgbClr val="6B7280"/>
                </a:solidFill>
                <a:latin typeface="Arial" pitchFamily="34" charset="0"/>
                <a:ea typeface="Arial" pitchFamily="34" charset="-122"/>
                <a:cs typeface="Arial" pitchFamily="34" charset="-120"/>
              </a:rPr>
              <a:t>Wraps Template A. Prescribes the 5-function SimPy architecture.</a:t>
            </a:r>
            <a:endParaRPr lang="en-US" sz="1100" dirty="0"/>
          </a:p>
        </p:txBody>
      </p:sp>
      <p:sp>
        <p:nvSpPr>
          <p:cNvPr id="16" name="Text 14"/>
          <p:cNvSpPr/>
          <p:nvPr/>
        </p:nvSpPr>
        <p:spPr>
          <a:xfrm>
            <a:off x="5760720" y="2286000"/>
            <a:ext cx="457200" cy="731520"/>
          </a:xfrm>
          <a:prstGeom prst="rect">
            <a:avLst/>
          </a:prstGeom>
          <a:noFill/>
          <a:ln/>
        </p:spPr>
        <p:txBody>
          <a:bodyPr wrap="square" rtlCol="0" anchor="ctr"/>
          <a:lstStyle/>
          <a:p>
            <a:pPr marL="0" indent="0" algn="ctr">
              <a:buNone/>
            </a:pPr>
            <a:r>
              <a:rPr lang="en-US" sz="3600" b="1" dirty="0">
                <a:solidFill>
                  <a:srgbClr val="4A6FA5"/>
                </a:solidFill>
                <a:latin typeface="Arial" pitchFamily="34" charset="0"/>
                <a:ea typeface="Arial" pitchFamily="34" charset="-122"/>
                <a:cs typeface="Arial" pitchFamily="34" charset="-120"/>
              </a:rPr>
              <a:t>→</a:t>
            </a:r>
            <a:endParaRPr lang="en-US" sz="3600" dirty="0"/>
          </a:p>
        </p:txBody>
      </p:sp>
      <p:sp>
        <p:nvSpPr>
          <p:cNvPr id="17" name="Shape 15"/>
          <p:cNvSpPr/>
          <p:nvPr/>
        </p:nvSpPr>
        <p:spPr>
          <a:xfrm>
            <a:off x="6217920" y="1554480"/>
            <a:ext cx="2377440" cy="2194560"/>
          </a:xfrm>
          <a:prstGeom prst="rect">
            <a:avLst/>
          </a:prstGeom>
          <a:solidFill>
            <a:srgbClr val="FFFFFF"/>
          </a:solidFill>
          <a:ln w="12700">
            <a:solidFill>
              <a:srgbClr val="E5E7EB"/>
            </a:solidFill>
            <a:prstDash val="solid"/>
          </a:ln>
        </p:spPr>
        <p:txBody>
          <a:bodyPr/>
          <a:lstStyle/>
          <a:p>
            <a:endParaRPr lang="en-US"/>
          </a:p>
        </p:txBody>
      </p:sp>
      <p:sp>
        <p:nvSpPr>
          <p:cNvPr id="18" name="Shape 16"/>
          <p:cNvSpPr/>
          <p:nvPr/>
        </p:nvSpPr>
        <p:spPr>
          <a:xfrm>
            <a:off x="7086600" y="1783080"/>
            <a:ext cx="640080" cy="640080"/>
          </a:xfrm>
          <a:prstGeom prst="ellipse">
            <a:avLst/>
          </a:prstGeom>
          <a:solidFill>
            <a:srgbClr val="4A6FA5"/>
          </a:solidFill>
          <a:ln w="12700">
            <a:solidFill>
              <a:srgbClr val="4A6FA5"/>
            </a:solidFill>
            <a:prstDash val="solid"/>
          </a:ln>
        </p:spPr>
        <p:txBody>
          <a:bodyPr/>
          <a:lstStyle/>
          <a:p>
            <a:endParaRPr lang="en-US"/>
          </a:p>
        </p:txBody>
      </p:sp>
      <p:sp>
        <p:nvSpPr>
          <p:cNvPr id="19" name="Text 17"/>
          <p:cNvSpPr/>
          <p:nvPr/>
        </p:nvSpPr>
        <p:spPr>
          <a:xfrm>
            <a:off x="7086600" y="1783080"/>
            <a:ext cx="640080" cy="64008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C</a:t>
            </a:r>
            <a:endParaRPr lang="en-US" sz="2800" dirty="0"/>
          </a:p>
        </p:txBody>
      </p:sp>
      <p:sp>
        <p:nvSpPr>
          <p:cNvPr id="20" name="Text 18"/>
          <p:cNvSpPr/>
          <p:nvPr/>
        </p:nvSpPr>
        <p:spPr>
          <a:xfrm>
            <a:off x="6355080" y="2514600"/>
            <a:ext cx="2103120" cy="457200"/>
          </a:xfrm>
          <a:prstGeom prst="rect">
            <a:avLst/>
          </a:prstGeom>
          <a:noFill/>
          <a:ln/>
        </p:spPr>
        <p:txBody>
          <a:bodyPr wrap="square" rtlCol="0" anchor="ctr"/>
          <a:lstStyle/>
          <a:p>
            <a:pPr marL="0" indent="0" algn="ctr">
              <a:buNone/>
            </a:pPr>
            <a:r>
              <a:rPr lang="en-US" sz="1400" b="1" dirty="0">
                <a:solidFill>
                  <a:srgbClr val="1A1A2E"/>
                </a:solidFill>
                <a:latin typeface="Arial" pitchFamily="34" charset="0"/>
                <a:ea typeface="Arial" pitchFamily="34" charset="-122"/>
                <a:cs typeface="Arial" pitchFamily="34" charset="-120"/>
              </a:rPr>
              <a:t>Validation &amp; Results</a:t>
            </a:r>
            <a:endParaRPr lang="en-US" sz="1400" dirty="0"/>
          </a:p>
        </p:txBody>
      </p:sp>
      <p:sp>
        <p:nvSpPr>
          <p:cNvPr id="21" name="Text 19"/>
          <p:cNvSpPr/>
          <p:nvPr/>
        </p:nvSpPr>
        <p:spPr>
          <a:xfrm>
            <a:off x="6355080" y="2971800"/>
            <a:ext cx="2103120" cy="731520"/>
          </a:xfrm>
          <a:prstGeom prst="rect">
            <a:avLst/>
          </a:prstGeom>
          <a:noFill/>
          <a:ln/>
        </p:spPr>
        <p:txBody>
          <a:bodyPr wrap="square" rtlCol="0" anchor="t"/>
          <a:lstStyle/>
          <a:p>
            <a:pPr marL="0" indent="0" algn="ctr">
              <a:buNone/>
            </a:pPr>
            <a:r>
              <a:rPr lang="en-US" sz="1100" dirty="0">
                <a:solidFill>
                  <a:srgbClr val="6B7280"/>
                </a:solidFill>
                <a:latin typeface="Arial" pitchFamily="34" charset="0"/>
                <a:ea typeface="Arial" pitchFamily="34" charset="-122"/>
                <a:cs typeface="Arial" pitchFamily="34" charset="-120"/>
              </a:rPr>
              <a:t>Spec compliance, internal consistency, reasonableness, communication readiness.</a:t>
            </a:r>
            <a:endParaRPr lang="en-US" sz="1100" dirty="0"/>
          </a:p>
        </p:txBody>
      </p:sp>
      <p:sp>
        <p:nvSpPr>
          <p:cNvPr id="22" name="Text 20"/>
          <p:cNvSpPr/>
          <p:nvPr/>
        </p:nvSpPr>
        <p:spPr>
          <a:xfrm>
            <a:off x="457200" y="4023360"/>
            <a:ext cx="8229600" cy="365760"/>
          </a:xfrm>
          <a:prstGeom prst="rect">
            <a:avLst/>
          </a:prstGeom>
          <a:noFill/>
          <a:ln/>
        </p:spPr>
        <p:txBody>
          <a:bodyPr wrap="square" rtlCol="0" anchor="ctr"/>
          <a:lstStyle/>
          <a:p>
            <a:pPr marL="0" indent="0" algn="ctr">
              <a:buNone/>
            </a:pPr>
            <a:r>
              <a:rPr lang="en-US" sz="1200" i="1" dirty="0">
                <a:solidFill>
                  <a:srgbClr val="6B7280"/>
                </a:solidFill>
                <a:latin typeface="Arial" pitchFamily="34" charset="0"/>
                <a:ea typeface="Arial" pitchFamily="34" charset="-122"/>
                <a:cs typeface="Arial" pitchFamily="34" charset="-120"/>
              </a:rPr>
              <a:t>The same A → B → C loop applies to Monte Carlo, system dynamics, and ABM.</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15">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Template A — what's inside the spec</a:t>
            </a:r>
            <a:endParaRPr lang="en-US" sz="3200" dirty="0"/>
          </a:p>
        </p:txBody>
      </p:sp>
      <p:sp>
        <p:nvSpPr>
          <p:cNvPr id="4" name="Text 2"/>
          <p:cNvSpPr/>
          <p:nvPr/>
        </p:nvSpPr>
        <p:spPr>
          <a:xfrm>
            <a:off x="5943600" y="164592"/>
            <a:ext cx="274320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Block 3 · 20 min</a:t>
            </a:r>
            <a:endParaRPr lang="en-US" sz="1000" dirty="0"/>
          </a:p>
        </p:txBody>
      </p:sp>
      <p:sp>
        <p:nvSpPr>
          <p:cNvPr id="5" name="Shape 3"/>
          <p:cNvSpPr/>
          <p:nvPr/>
        </p:nvSpPr>
        <p:spPr>
          <a:xfrm>
            <a:off x="548640" y="1188720"/>
            <a:ext cx="3931920" cy="868680"/>
          </a:xfrm>
          <a:prstGeom prst="rect">
            <a:avLst/>
          </a:prstGeom>
          <a:solidFill>
            <a:srgbClr val="FFFFFF"/>
          </a:solidFill>
          <a:ln w="12700">
            <a:solidFill>
              <a:srgbClr val="E5E7EB"/>
            </a:solidFill>
            <a:prstDash val="solid"/>
          </a:ln>
        </p:spPr>
        <p:txBody>
          <a:bodyPr/>
          <a:lstStyle/>
          <a:p>
            <a:endParaRPr lang="en-US"/>
          </a:p>
        </p:txBody>
      </p:sp>
      <p:sp>
        <p:nvSpPr>
          <p:cNvPr id="6" name="Shape 4"/>
          <p:cNvSpPr/>
          <p:nvPr/>
        </p:nvSpPr>
        <p:spPr>
          <a:xfrm>
            <a:off x="548640" y="1188720"/>
            <a:ext cx="73152" cy="868680"/>
          </a:xfrm>
          <a:prstGeom prst="rect">
            <a:avLst/>
          </a:prstGeom>
          <a:solidFill>
            <a:srgbClr val="4A6FA5"/>
          </a:solidFill>
          <a:ln w="12700">
            <a:solidFill>
              <a:srgbClr val="4A6FA5"/>
            </a:solidFill>
            <a:prstDash val="solid"/>
          </a:ln>
        </p:spPr>
        <p:txBody>
          <a:bodyPr/>
          <a:lstStyle/>
          <a:p>
            <a:endParaRPr lang="en-US"/>
          </a:p>
        </p:txBody>
      </p:sp>
      <p:sp>
        <p:nvSpPr>
          <p:cNvPr id="7" name="Text 5"/>
          <p:cNvSpPr/>
          <p:nvPr/>
        </p:nvSpPr>
        <p:spPr>
          <a:xfrm>
            <a:off x="777240" y="1325880"/>
            <a:ext cx="35661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Entities</a:t>
            </a:r>
            <a:endParaRPr lang="en-US" sz="1600" dirty="0"/>
          </a:p>
        </p:txBody>
      </p:sp>
      <p:sp>
        <p:nvSpPr>
          <p:cNvPr id="8" name="Text 6"/>
          <p:cNvSpPr/>
          <p:nvPr/>
        </p:nvSpPr>
        <p:spPr>
          <a:xfrm>
            <a:off x="777240" y="1737360"/>
            <a:ext cx="3566160" cy="22860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Customers with order type, patience threshold.</a:t>
            </a:r>
            <a:endParaRPr lang="en-US" sz="1200" dirty="0"/>
          </a:p>
        </p:txBody>
      </p:sp>
      <p:sp>
        <p:nvSpPr>
          <p:cNvPr id="9" name="Shape 7"/>
          <p:cNvSpPr/>
          <p:nvPr/>
        </p:nvSpPr>
        <p:spPr>
          <a:xfrm>
            <a:off x="4663440" y="1188720"/>
            <a:ext cx="3931920" cy="868680"/>
          </a:xfrm>
          <a:prstGeom prst="rect">
            <a:avLst/>
          </a:prstGeom>
          <a:solidFill>
            <a:srgbClr val="FFFFFF"/>
          </a:solidFill>
          <a:ln w="12700">
            <a:solidFill>
              <a:srgbClr val="E5E7EB"/>
            </a:solidFill>
            <a:prstDash val="solid"/>
          </a:ln>
        </p:spPr>
        <p:txBody>
          <a:bodyPr/>
          <a:lstStyle/>
          <a:p>
            <a:endParaRPr lang="en-US"/>
          </a:p>
        </p:txBody>
      </p:sp>
      <p:sp>
        <p:nvSpPr>
          <p:cNvPr id="10" name="Shape 8"/>
          <p:cNvSpPr/>
          <p:nvPr/>
        </p:nvSpPr>
        <p:spPr>
          <a:xfrm>
            <a:off x="4663440" y="1188720"/>
            <a:ext cx="73152" cy="868680"/>
          </a:xfrm>
          <a:prstGeom prst="rect">
            <a:avLst/>
          </a:prstGeom>
          <a:solidFill>
            <a:srgbClr val="4A6FA5"/>
          </a:solidFill>
          <a:ln w="12700">
            <a:solidFill>
              <a:srgbClr val="4A6FA5"/>
            </a:solidFill>
            <a:prstDash val="solid"/>
          </a:ln>
        </p:spPr>
        <p:txBody>
          <a:bodyPr/>
          <a:lstStyle/>
          <a:p>
            <a:endParaRPr lang="en-US"/>
          </a:p>
        </p:txBody>
      </p:sp>
      <p:sp>
        <p:nvSpPr>
          <p:cNvPr id="11" name="Text 9"/>
          <p:cNvSpPr/>
          <p:nvPr/>
        </p:nvSpPr>
        <p:spPr>
          <a:xfrm>
            <a:off x="4892040" y="1325880"/>
            <a:ext cx="35661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Resources</a:t>
            </a:r>
            <a:endParaRPr lang="en-US" sz="1600" dirty="0"/>
          </a:p>
        </p:txBody>
      </p:sp>
      <p:sp>
        <p:nvSpPr>
          <p:cNvPr id="12" name="Text 10"/>
          <p:cNvSpPr/>
          <p:nvPr/>
        </p:nvSpPr>
        <p:spPr>
          <a:xfrm>
            <a:off x="4892040" y="1737360"/>
            <a:ext cx="3566160" cy="22860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Baristas. Capacity that varies by shift.</a:t>
            </a:r>
            <a:endParaRPr lang="en-US" sz="1200" dirty="0"/>
          </a:p>
        </p:txBody>
      </p:sp>
      <p:sp>
        <p:nvSpPr>
          <p:cNvPr id="13" name="Shape 11"/>
          <p:cNvSpPr/>
          <p:nvPr/>
        </p:nvSpPr>
        <p:spPr>
          <a:xfrm>
            <a:off x="548640" y="2240280"/>
            <a:ext cx="3931920" cy="868680"/>
          </a:xfrm>
          <a:prstGeom prst="rect">
            <a:avLst/>
          </a:prstGeom>
          <a:solidFill>
            <a:srgbClr val="FFFFFF"/>
          </a:solidFill>
          <a:ln w="12700">
            <a:solidFill>
              <a:srgbClr val="E5E7EB"/>
            </a:solidFill>
            <a:prstDash val="solid"/>
          </a:ln>
        </p:spPr>
        <p:txBody>
          <a:bodyPr/>
          <a:lstStyle/>
          <a:p>
            <a:endParaRPr lang="en-US"/>
          </a:p>
        </p:txBody>
      </p:sp>
      <p:sp>
        <p:nvSpPr>
          <p:cNvPr id="14" name="Shape 12"/>
          <p:cNvSpPr/>
          <p:nvPr/>
        </p:nvSpPr>
        <p:spPr>
          <a:xfrm>
            <a:off x="548640" y="2240280"/>
            <a:ext cx="73152" cy="868680"/>
          </a:xfrm>
          <a:prstGeom prst="rect">
            <a:avLst/>
          </a:prstGeom>
          <a:solidFill>
            <a:srgbClr val="4A6FA5"/>
          </a:solidFill>
          <a:ln w="12700">
            <a:solidFill>
              <a:srgbClr val="4A6FA5"/>
            </a:solidFill>
            <a:prstDash val="solid"/>
          </a:ln>
        </p:spPr>
        <p:txBody>
          <a:bodyPr/>
          <a:lstStyle/>
          <a:p>
            <a:endParaRPr lang="en-US"/>
          </a:p>
        </p:txBody>
      </p:sp>
      <p:sp>
        <p:nvSpPr>
          <p:cNvPr id="15" name="Text 13"/>
          <p:cNvSpPr/>
          <p:nvPr/>
        </p:nvSpPr>
        <p:spPr>
          <a:xfrm>
            <a:off x="777240" y="2377440"/>
            <a:ext cx="35661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Queue behavior</a:t>
            </a:r>
            <a:endParaRPr lang="en-US" sz="1600" dirty="0"/>
          </a:p>
        </p:txBody>
      </p:sp>
      <p:sp>
        <p:nvSpPr>
          <p:cNvPr id="16" name="Text 14"/>
          <p:cNvSpPr/>
          <p:nvPr/>
        </p:nvSpPr>
        <p:spPr>
          <a:xfrm>
            <a:off x="777240" y="2788920"/>
            <a:ext cx="3566160" cy="22860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FIFO. Balking at queue ≥ 8 at arrival.</a:t>
            </a:r>
            <a:endParaRPr lang="en-US" sz="1200" dirty="0"/>
          </a:p>
        </p:txBody>
      </p:sp>
      <p:sp>
        <p:nvSpPr>
          <p:cNvPr id="17" name="Shape 15"/>
          <p:cNvSpPr/>
          <p:nvPr/>
        </p:nvSpPr>
        <p:spPr>
          <a:xfrm>
            <a:off x="4663440" y="2240280"/>
            <a:ext cx="3931920" cy="868680"/>
          </a:xfrm>
          <a:prstGeom prst="rect">
            <a:avLst/>
          </a:prstGeom>
          <a:solidFill>
            <a:srgbClr val="FFFFFF"/>
          </a:solidFill>
          <a:ln w="12700">
            <a:solidFill>
              <a:srgbClr val="E5E7EB"/>
            </a:solidFill>
            <a:prstDash val="solid"/>
          </a:ln>
        </p:spPr>
        <p:txBody>
          <a:bodyPr/>
          <a:lstStyle/>
          <a:p>
            <a:endParaRPr lang="en-US"/>
          </a:p>
        </p:txBody>
      </p:sp>
      <p:sp>
        <p:nvSpPr>
          <p:cNvPr id="18" name="Shape 16"/>
          <p:cNvSpPr/>
          <p:nvPr/>
        </p:nvSpPr>
        <p:spPr>
          <a:xfrm>
            <a:off x="4663440" y="2240280"/>
            <a:ext cx="73152" cy="868680"/>
          </a:xfrm>
          <a:prstGeom prst="rect">
            <a:avLst/>
          </a:prstGeom>
          <a:solidFill>
            <a:srgbClr val="4A6FA5"/>
          </a:solidFill>
          <a:ln w="12700">
            <a:solidFill>
              <a:srgbClr val="4A6FA5"/>
            </a:solidFill>
            <a:prstDash val="solid"/>
          </a:ln>
        </p:spPr>
        <p:txBody>
          <a:bodyPr/>
          <a:lstStyle/>
          <a:p>
            <a:endParaRPr lang="en-US"/>
          </a:p>
        </p:txBody>
      </p:sp>
      <p:sp>
        <p:nvSpPr>
          <p:cNvPr id="19" name="Text 17"/>
          <p:cNvSpPr/>
          <p:nvPr/>
        </p:nvSpPr>
        <p:spPr>
          <a:xfrm>
            <a:off x="4882896" y="2240280"/>
            <a:ext cx="35661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Distributions</a:t>
            </a:r>
            <a:endParaRPr lang="en-US" sz="1600" dirty="0"/>
          </a:p>
        </p:txBody>
      </p:sp>
      <p:sp>
        <p:nvSpPr>
          <p:cNvPr id="20" name="Text 18"/>
          <p:cNvSpPr/>
          <p:nvPr/>
        </p:nvSpPr>
        <p:spPr>
          <a:xfrm>
            <a:off x="4882896" y="2651760"/>
            <a:ext cx="3566160" cy="22860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Exponential arrivals, lognormal service per order type.</a:t>
            </a:r>
            <a:endParaRPr lang="en-US" sz="1200" dirty="0"/>
          </a:p>
        </p:txBody>
      </p:sp>
      <p:sp>
        <p:nvSpPr>
          <p:cNvPr id="21" name="Shape 19"/>
          <p:cNvSpPr/>
          <p:nvPr/>
        </p:nvSpPr>
        <p:spPr>
          <a:xfrm>
            <a:off x="548640" y="3291840"/>
            <a:ext cx="3931920" cy="868680"/>
          </a:xfrm>
          <a:prstGeom prst="rect">
            <a:avLst/>
          </a:prstGeom>
          <a:solidFill>
            <a:srgbClr val="FFFFFF"/>
          </a:solidFill>
          <a:ln w="12700">
            <a:solidFill>
              <a:srgbClr val="E5E7EB"/>
            </a:solidFill>
            <a:prstDash val="solid"/>
          </a:ln>
        </p:spPr>
        <p:txBody>
          <a:bodyPr/>
          <a:lstStyle/>
          <a:p>
            <a:endParaRPr lang="en-US"/>
          </a:p>
        </p:txBody>
      </p:sp>
      <p:sp>
        <p:nvSpPr>
          <p:cNvPr id="22" name="Shape 20"/>
          <p:cNvSpPr/>
          <p:nvPr/>
        </p:nvSpPr>
        <p:spPr>
          <a:xfrm>
            <a:off x="548640" y="3291840"/>
            <a:ext cx="73152" cy="868680"/>
          </a:xfrm>
          <a:prstGeom prst="rect">
            <a:avLst/>
          </a:prstGeom>
          <a:solidFill>
            <a:srgbClr val="4A6FA5"/>
          </a:solidFill>
          <a:ln w="12700">
            <a:solidFill>
              <a:srgbClr val="4A6FA5"/>
            </a:solidFill>
            <a:prstDash val="solid"/>
          </a:ln>
        </p:spPr>
        <p:txBody>
          <a:bodyPr/>
          <a:lstStyle/>
          <a:p>
            <a:endParaRPr lang="en-US"/>
          </a:p>
        </p:txBody>
      </p:sp>
      <p:sp>
        <p:nvSpPr>
          <p:cNvPr id="23" name="Text 21"/>
          <p:cNvSpPr/>
          <p:nvPr/>
        </p:nvSpPr>
        <p:spPr>
          <a:xfrm>
            <a:off x="768096" y="3309730"/>
            <a:ext cx="35661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Scenarios</a:t>
            </a:r>
            <a:endParaRPr lang="en-US" sz="1600" dirty="0"/>
          </a:p>
        </p:txBody>
      </p:sp>
      <p:sp>
        <p:nvSpPr>
          <p:cNvPr id="24" name="Text 22"/>
          <p:cNvSpPr/>
          <p:nvPr/>
        </p:nvSpPr>
        <p:spPr>
          <a:xfrm>
            <a:off x="768096" y="3721210"/>
            <a:ext cx="3566160" cy="22860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Baseline, A: rush boost, B: all-day three, C: process change.</a:t>
            </a:r>
            <a:endParaRPr lang="en-US" sz="1200" dirty="0"/>
          </a:p>
        </p:txBody>
      </p:sp>
      <p:sp>
        <p:nvSpPr>
          <p:cNvPr id="25" name="Shape 23"/>
          <p:cNvSpPr/>
          <p:nvPr/>
        </p:nvSpPr>
        <p:spPr>
          <a:xfrm>
            <a:off x="4663440" y="3291840"/>
            <a:ext cx="3931920" cy="868680"/>
          </a:xfrm>
          <a:prstGeom prst="rect">
            <a:avLst/>
          </a:prstGeom>
          <a:solidFill>
            <a:srgbClr val="FFFFFF"/>
          </a:solidFill>
          <a:ln w="12700">
            <a:solidFill>
              <a:srgbClr val="E5E7EB"/>
            </a:solidFill>
            <a:prstDash val="solid"/>
          </a:ln>
        </p:spPr>
        <p:txBody>
          <a:bodyPr/>
          <a:lstStyle/>
          <a:p>
            <a:endParaRPr lang="en-US"/>
          </a:p>
        </p:txBody>
      </p:sp>
      <p:sp>
        <p:nvSpPr>
          <p:cNvPr id="26" name="Shape 24"/>
          <p:cNvSpPr/>
          <p:nvPr/>
        </p:nvSpPr>
        <p:spPr>
          <a:xfrm>
            <a:off x="4663440" y="3291840"/>
            <a:ext cx="73152" cy="868680"/>
          </a:xfrm>
          <a:prstGeom prst="rect">
            <a:avLst/>
          </a:prstGeom>
          <a:solidFill>
            <a:srgbClr val="4A6FA5"/>
          </a:solidFill>
          <a:ln w="12700">
            <a:solidFill>
              <a:srgbClr val="4A6FA5"/>
            </a:solidFill>
            <a:prstDash val="solid"/>
          </a:ln>
        </p:spPr>
        <p:txBody>
          <a:bodyPr/>
          <a:lstStyle/>
          <a:p>
            <a:endParaRPr lang="en-US"/>
          </a:p>
        </p:txBody>
      </p:sp>
      <p:sp>
        <p:nvSpPr>
          <p:cNvPr id="27" name="Text 25"/>
          <p:cNvSpPr/>
          <p:nvPr/>
        </p:nvSpPr>
        <p:spPr>
          <a:xfrm>
            <a:off x="4882896" y="3309730"/>
            <a:ext cx="35661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Pre-checks</a:t>
            </a:r>
            <a:endParaRPr lang="en-US" sz="1600" dirty="0"/>
          </a:p>
        </p:txBody>
      </p:sp>
      <p:sp>
        <p:nvSpPr>
          <p:cNvPr id="28" name="Text 26"/>
          <p:cNvSpPr/>
          <p:nvPr/>
        </p:nvSpPr>
        <p:spPr>
          <a:xfrm>
            <a:off x="4882896" y="3721210"/>
            <a:ext cx="3566160" cy="22860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M/M/c utilization. Cost calculation. Sanity numbers.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16">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Exercise 3 — Review the completed Template A</a:t>
            </a:r>
            <a:endParaRPr lang="en-US" sz="3200" dirty="0"/>
          </a:p>
        </p:txBody>
      </p:sp>
      <p:sp>
        <p:nvSpPr>
          <p:cNvPr id="5" name="Text 3"/>
          <p:cNvSpPr/>
          <p:nvPr/>
        </p:nvSpPr>
        <p:spPr>
          <a:xfrm>
            <a:off x="457200" y="1188720"/>
            <a:ext cx="8229600" cy="365760"/>
          </a:xfrm>
          <a:prstGeom prst="rect">
            <a:avLst/>
          </a:prstGeom>
          <a:noFill/>
          <a:ln/>
        </p:spPr>
        <p:txBody>
          <a:bodyPr wrap="square" rtlCol="0" anchor="ctr"/>
          <a:lstStyle/>
          <a:p>
            <a:pPr marL="0" indent="0">
              <a:buNone/>
            </a:pPr>
            <a:r>
              <a:rPr lang="en-US" sz="1600" dirty="0">
                <a:solidFill>
                  <a:srgbClr val="6B7280"/>
                </a:solidFill>
                <a:latin typeface="Arial" pitchFamily="34" charset="0"/>
                <a:ea typeface="Arial" pitchFamily="34" charset="-122"/>
                <a:cs typeface="Arial" pitchFamily="34" charset="-120"/>
              </a:rPr>
              <a:t>Review the completed Template A and verify each specification:</a:t>
            </a:r>
            <a:endParaRPr lang="en-US" sz="1600" dirty="0"/>
          </a:p>
        </p:txBody>
      </p:sp>
      <p:sp>
        <p:nvSpPr>
          <p:cNvPr id="6" name="Text 4"/>
          <p:cNvSpPr/>
          <p:nvPr/>
        </p:nvSpPr>
        <p:spPr>
          <a:xfrm>
            <a:off x="640080" y="1783080"/>
            <a:ext cx="3657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097280" y="1783080"/>
            <a:ext cx="7498080" cy="365760"/>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Balk rate is set — confirm the queue-length threshold that triggers a walkaway</a:t>
            </a:r>
            <a:endParaRPr lang="en-US" sz="1400" dirty="0"/>
          </a:p>
        </p:txBody>
      </p:sp>
      <p:sp>
        <p:nvSpPr>
          <p:cNvPr id="8" name="Text 6"/>
          <p:cNvSpPr/>
          <p:nvPr/>
        </p:nvSpPr>
        <p:spPr>
          <a:xfrm>
            <a:off x="640080" y="2331720"/>
            <a:ext cx="3657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2.</a:t>
            </a:r>
            <a:endParaRPr lang="en-US" sz="1600" dirty="0"/>
          </a:p>
        </p:txBody>
      </p:sp>
      <p:sp>
        <p:nvSpPr>
          <p:cNvPr id="9" name="Text 7"/>
          <p:cNvSpPr/>
          <p:nvPr/>
        </p:nvSpPr>
        <p:spPr>
          <a:xfrm>
            <a:off x="1097280" y="2331720"/>
            <a:ext cx="7498080" cy="365760"/>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Espresso distribution parameters are set — confirm the lognormal μ and σ for espresso</a:t>
            </a:r>
            <a:endParaRPr lang="en-US" sz="1400" dirty="0"/>
          </a:p>
        </p:txBody>
      </p:sp>
      <p:sp>
        <p:nvSpPr>
          <p:cNvPr id="10" name="Text 8"/>
          <p:cNvSpPr/>
          <p:nvPr/>
        </p:nvSpPr>
        <p:spPr>
          <a:xfrm>
            <a:off x="640080" y="2880360"/>
            <a:ext cx="3657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3.</a:t>
            </a:r>
            <a:endParaRPr lang="en-US" sz="1600" dirty="0"/>
          </a:p>
        </p:txBody>
      </p:sp>
      <p:sp>
        <p:nvSpPr>
          <p:cNvPr id="11" name="Text 9"/>
          <p:cNvSpPr/>
          <p:nvPr/>
        </p:nvSpPr>
        <p:spPr>
          <a:xfrm>
            <a:off x="1097280" y="2880360"/>
            <a:ext cx="7498080" cy="365760"/>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Staffing schedule is defined — confirm baristas per time window across the day</a:t>
            </a:r>
            <a:endParaRPr lang="en-US" sz="1400" dirty="0"/>
          </a:p>
        </p:txBody>
      </p:sp>
      <p:sp>
        <p:nvSpPr>
          <p:cNvPr id="12" name="Text 10"/>
          <p:cNvSpPr/>
          <p:nvPr/>
        </p:nvSpPr>
        <p:spPr>
          <a:xfrm>
            <a:off x="640080" y="3429000"/>
            <a:ext cx="3657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4.</a:t>
            </a:r>
            <a:endParaRPr lang="en-US" sz="1600" dirty="0"/>
          </a:p>
        </p:txBody>
      </p:sp>
      <p:sp>
        <p:nvSpPr>
          <p:cNvPr id="13" name="Text 11"/>
          <p:cNvSpPr/>
          <p:nvPr/>
        </p:nvSpPr>
        <p:spPr>
          <a:xfrm>
            <a:off x="1097280" y="3429000"/>
            <a:ext cx="7498080" cy="365760"/>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Labor rate per hour is set — confirm the hourly wage used in cost calculations</a:t>
            </a:r>
            <a:endParaRPr lang="en-US" sz="1400" dirty="0"/>
          </a:p>
        </p:txBody>
      </p:sp>
      <p:sp>
        <p:nvSpPr>
          <p:cNvPr id="14" name="Text 12"/>
          <p:cNvSpPr/>
          <p:nvPr/>
        </p:nvSpPr>
        <p:spPr>
          <a:xfrm>
            <a:off x="457200" y="4114800"/>
            <a:ext cx="8229600" cy="548640"/>
          </a:xfrm>
          <a:prstGeom prst="rect">
            <a:avLst/>
          </a:prstGeom>
          <a:noFill/>
          <a:ln/>
        </p:spPr>
        <p:txBody>
          <a:bodyPr wrap="square" rtlCol="0" anchor="ctr"/>
          <a:lstStyle/>
          <a:p>
            <a:pPr marL="0" indent="0" algn="ctr">
              <a:buNone/>
            </a:pPr>
            <a:r>
              <a:rPr lang="en-US" sz="1200" i="1" dirty="0">
                <a:solidFill>
                  <a:srgbClr val="6B7280"/>
                </a:solidFill>
                <a:latin typeface="Arial" pitchFamily="34" charset="0"/>
                <a:ea typeface="Arial" pitchFamily="34" charset="-122"/>
                <a:cs typeface="Arial" pitchFamily="34" charset="-120"/>
              </a:rPr>
              <a:t>Verifying a completed spec is the same skill as filling one in.</a:t>
            </a:r>
            <a:endParaRPr lang="en-US" sz="1200" dirty="0"/>
          </a:p>
          <a:p>
            <a:pPr marL="0" indent="0" algn="ctr">
              <a:buNone/>
            </a:pPr>
            <a:r>
              <a:rPr lang="en-US" sz="1200" i="1" dirty="0">
                <a:solidFill>
                  <a:srgbClr val="6B7280"/>
                </a:solidFill>
                <a:latin typeface="Arial" pitchFamily="34" charset="0"/>
                <a:ea typeface="Arial" pitchFamily="34" charset="-122"/>
                <a:cs typeface="Arial" pitchFamily="34" charset="-120"/>
              </a:rPr>
              <a:t>If a value is missing or ambiguous, the simulation can't run reliably.</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17">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Template B — turning the spec into code</a:t>
            </a:r>
            <a:endParaRPr lang="en-US" sz="3200" dirty="0"/>
          </a:p>
        </p:txBody>
      </p:sp>
      <p:sp>
        <p:nvSpPr>
          <p:cNvPr id="4" name="Text 2"/>
          <p:cNvSpPr/>
          <p:nvPr/>
        </p:nvSpPr>
        <p:spPr>
          <a:xfrm>
            <a:off x="5943600" y="164592"/>
            <a:ext cx="274320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Block 4 · 25 min</a:t>
            </a:r>
            <a:endParaRPr lang="en-US" sz="1000" dirty="0"/>
          </a:p>
        </p:txBody>
      </p:sp>
      <p:sp>
        <p:nvSpPr>
          <p:cNvPr id="5" name="Text 3"/>
          <p:cNvSpPr/>
          <p:nvPr/>
        </p:nvSpPr>
        <p:spPr>
          <a:xfrm>
            <a:off x="457200" y="1188720"/>
            <a:ext cx="8229600" cy="365760"/>
          </a:xfrm>
          <a:prstGeom prst="rect">
            <a:avLst/>
          </a:prstGeom>
          <a:noFill/>
          <a:ln/>
        </p:spPr>
        <p:txBody>
          <a:bodyPr wrap="square" rtlCol="0" anchor="ctr"/>
          <a:lstStyle/>
          <a:p>
            <a:pPr marL="0" indent="0" algn="ctr">
              <a:buNone/>
            </a:pPr>
            <a:r>
              <a:rPr lang="en-US" sz="1600" i="1" dirty="0">
                <a:solidFill>
                  <a:srgbClr val="6B7280"/>
                </a:solidFill>
                <a:latin typeface="Arial" pitchFamily="34" charset="0"/>
                <a:ea typeface="Arial" pitchFamily="34" charset="-122"/>
                <a:cs typeface="Arial" pitchFamily="34" charset="-120"/>
              </a:rPr>
              <a:t>A code-generation prompt prescribes architecture and intent.</a:t>
            </a:r>
            <a:endParaRPr lang="en-US" sz="1600" dirty="0"/>
          </a:p>
        </p:txBody>
      </p:sp>
      <p:sp>
        <p:nvSpPr>
          <p:cNvPr id="6" name="Shape 4"/>
          <p:cNvSpPr/>
          <p:nvPr/>
        </p:nvSpPr>
        <p:spPr>
          <a:xfrm>
            <a:off x="640080" y="1691640"/>
            <a:ext cx="2926080" cy="457200"/>
          </a:xfrm>
          <a:prstGeom prst="rect">
            <a:avLst/>
          </a:prstGeom>
          <a:solidFill>
            <a:srgbClr val="4A6FA5"/>
          </a:solidFill>
          <a:ln w="12700">
            <a:solidFill>
              <a:srgbClr val="4A6FA5"/>
            </a:solidFill>
            <a:prstDash val="solid"/>
          </a:ln>
        </p:spPr>
        <p:txBody>
          <a:bodyPr/>
          <a:lstStyle/>
          <a:p>
            <a:endParaRPr lang="en-US"/>
          </a:p>
        </p:txBody>
      </p:sp>
      <p:sp>
        <p:nvSpPr>
          <p:cNvPr id="7" name="Text 5"/>
          <p:cNvSpPr/>
          <p:nvPr/>
        </p:nvSpPr>
        <p:spPr>
          <a:xfrm>
            <a:off x="731520" y="1691640"/>
            <a:ext cx="2743200" cy="45720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entity_process(...)</a:t>
            </a:r>
            <a:endParaRPr lang="en-US" sz="1300" dirty="0"/>
          </a:p>
        </p:txBody>
      </p:sp>
      <p:sp>
        <p:nvSpPr>
          <p:cNvPr id="8" name="Text 6"/>
          <p:cNvSpPr/>
          <p:nvPr/>
        </p:nvSpPr>
        <p:spPr>
          <a:xfrm>
            <a:off x="3749040" y="1691640"/>
            <a:ext cx="4937760" cy="457200"/>
          </a:xfrm>
          <a:prstGeom prst="rect">
            <a:avLst/>
          </a:prstGeom>
          <a:noFill/>
          <a:ln/>
        </p:spPr>
        <p:txBody>
          <a:bodyPr wrap="square" rtlCol="0" anchor="ctr"/>
          <a:lstStyle/>
          <a:p>
            <a:pPr marL="0" indent="0">
              <a:buNone/>
            </a:pPr>
            <a:r>
              <a:rPr lang="en-US" sz="1300" dirty="0">
                <a:solidFill>
                  <a:srgbClr val="1A1A2E"/>
                </a:solidFill>
                <a:latin typeface="Arial" pitchFamily="34" charset="0"/>
                <a:ea typeface="Arial" pitchFamily="34" charset="-122"/>
                <a:cs typeface="Arial" pitchFamily="34" charset="-120"/>
              </a:rPr>
              <a:t>Customer lifecycle: arrive → balk-or-queue → serve → depart</a:t>
            </a:r>
            <a:endParaRPr lang="en-US" sz="1300" dirty="0"/>
          </a:p>
        </p:txBody>
      </p:sp>
      <p:sp>
        <p:nvSpPr>
          <p:cNvPr id="9" name="Shape 7"/>
          <p:cNvSpPr/>
          <p:nvPr/>
        </p:nvSpPr>
        <p:spPr>
          <a:xfrm>
            <a:off x="640080" y="2194560"/>
            <a:ext cx="2926080" cy="457200"/>
          </a:xfrm>
          <a:prstGeom prst="rect">
            <a:avLst/>
          </a:prstGeom>
          <a:solidFill>
            <a:srgbClr val="4A6FA5"/>
          </a:solidFill>
          <a:ln w="12700">
            <a:solidFill>
              <a:srgbClr val="4A6FA5"/>
            </a:solidFill>
            <a:prstDash val="solid"/>
          </a:ln>
        </p:spPr>
        <p:txBody>
          <a:bodyPr/>
          <a:lstStyle/>
          <a:p>
            <a:endParaRPr lang="en-US"/>
          </a:p>
        </p:txBody>
      </p:sp>
      <p:sp>
        <p:nvSpPr>
          <p:cNvPr id="10" name="Text 8"/>
          <p:cNvSpPr/>
          <p:nvPr/>
        </p:nvSpPr>
        <p:spPr>
          <a:xfrm>
            <a:off x="731520" y="2194560"/>
            <a:ext cx="2743200" cy="45720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entity_generator(...)</a:t>
            </a:r>
            <a:endParaRPr lang="en-US" sz="1300" dirty="0"/>
          </a:p>
        </p:txBody>
      </p:sp>
      <p:sp>
        <p:nvSpPr>
          <p:cNvPr id="11" name="Text 9"/>
          <p:cNvSpPr/>
          <p:nvPr/>
        </p:nvSpPr>
        <p:spPr>
          <a:xfrm>
            <a:off x="3749040" y="2194560"/>
            <a:ext cx="4937760" cy="457200"/>
          </a:xfrm>
          <a:prstGeom prst="rect">
            <a:avLst/>
          </a:prstGeom>
          <a:noFill/>
          <a:ln/>
        </p:spPr>
        <p:txBody>
          <a:bodyPr wrap="square" rtlCol="0" anchor="ctr"/>
          <a:lstStyle/>
          <a:p>
            <a:pPr marL="0" indent="0">
              <a:buNone/>
            </a:pPr>
            <a:r>
              <a:rPr lang="en-US" sz="1300" dirty="0">
                <a:solidFill>
                  <a:srgbClr val="1A1A2E"/>
                </a:solidFill>
                <a:latin typeface="Arial" pitchFamily="34" charset="0"/>
                <a:ea typeface="Arial" pitchFamily="34" charset="-122"/>
                <a:cs typeface="Arial" pitchFamily="34" charset="-120"/>
              </a:rPr>
              <a:t>Time-varying Poisson arrivals</a:t>
            </a:r>
            <a:endParaRPr lang="en-US" sz="1300" dirty="0"/>
          </a:p>
        </p:txBody>
      </p:sp>
      <p:sp>
        <p:nvSpPr>
          <p:cNvPr id="12" name="Shape 10"/>
          <p:cNvSpPr/>
          <p:nvPr/>
        </p:nvSpPr>
        <p:spPr>
          <a:xfrm>
            <a:off x="640080" y="2697480"/>
            <a:ext cx="2926080" cy="457200"/>
          </a:xfrm>
          <a:prstGeom prst="rect">
            <a:avLst/>
          </a:prstGeom>
          <a:solidFill>
            <a:srgbClr val="4A6FA5"/>
          </a:solidFill>
          <a:ln w="12700">
            <a:solidFill>
              <a:srgbClr val="4A6FA5"/>
            </a:solidFill>
            <a:prstDash val="solid"/>
          </a:ln>
        </p:spPr>
        <p:txBody>
          <a:bodyPr/>
          <a:lstStyle/>
          <a:p>
            <a:endParaRPr lang="en-US"/>
          </a:p>
        </p:txBody>
      </p:sp>
      <p:sp>
        <p:nvSpPr>
          <p:cNvPr id="13" name="Text 11"/>
          <p:cNvSpPr/>
          <p:nvPr/>
        </p:nvSpPr>
        <p:spPr>
          <a:xfrm>
            <a:off x="731520" y="2697480"/>
            <a:ext cx="2743200" cy="45720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run_single_replication(...)</a:t>
            </a:r>
            <a:endParaRPr lang="en-US" sz="1300" dirty="0"/>
          </a:p>
        </p:txBody>
      </p:sp>
      <p:sp>
        <p:nvSpPr>
          <p:cNvPr id="14" name="Text 12"/>
          <p:cNvSpPr/>
          <p:nvPr/>
        </p:nvSpPr>
        <p:spPr>
          <a:xfrm>
            <a:off x="3749040" y="2697480"/>
            <a:ext cx="4937760" cy="457200"/>
          </a:xfrm>
          <a:prstGeom prst="rect">
            <a:avLst/>
          </a:prstGeom>
          <a:noFill/>
          <a:ln/>
        </p:spPr>
        <p:txBody>
          <a:bodyPr wrap="square" rtlCol="0" anchor="ctr"/>
          <a:lstStyle/>
          <a:p>
            <a:pPr marL="0" indent="0">
              <a:buNone/>
            </a:pPr>
            <a:r>
              <a:rPr lang="en-US" sz="1300" dirty="0">
                <a:solidFill>
                  <a:srgbClr val="1A1A2E"/>
                </a:solidFill>
                <a:latin typeface="Arial" pitchFamily="34" charset="0"/>
                <a:ea typeface="Arial" pitchFamily="34" charset="-122"/>
                <a:cs typeface="Arial" pitchFamily="34" charset="-120"/>
              </a:rPr>
              <a:t>One simulated day with given seed</a:t>
            </a:r>
            <a:endParaRPr lang="en-US" sz="1300" dirty="0"/>
          </a:p>
        </p:txBody>
      </p:sp>
      <p:sp>
        <p:nvSpPr>
          <p:cNvPr id="15" name="Shape 13"/>
          <p:cNvSpPr/>
          <p:nvPr/>
        </p:nvSpPr>
        <p:spPr>
          <a:xfrm>
            <a:off x="640080" y="3200400"/>
            <a:ext cx="2926080" cy="457200"/>
          </a:xfrm>
          <a:prstGeom prst="rect">
            <a:avLst/>
          </a:prstGeom>
          <a:solidFill>
            <a:srgbClr val="4A6FA5"/>
          </a:solidFill>
          <a:ln w="12700">
            <a:solidFill>
              <a:srgbClr val="4A6FA5"/>
            </a:solidFill>
            <a:prstDash val="solid"/>
          </a:ln>
        </p:spPr>
        <p:txBody>
          <a:bodyPr/>
          <a:lstStyle/>
          <a:p>
            <a:endParaRPr lang="en-US"/>
          </a:p>
        </p:txBody>
      </p:sp>
      <p:sp>
        <p:nvSpPr>
          <p:cNvPr id="16" name="Text 14"/>
          <p:cNvSpPr/>
          <p:nvPr/>
        </p:nvSpPr>
        <p:spPr>
          <a:xfrm>
            <a:off x="731520" y="3200400"/>
            <a:ext cx="2743200" cy="45720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run_scenario(...)</a:t>
            </a:r>
            <a:endParaRPr lang="en-US" sz="1300" dirty="0"/>
          </a:p>
        </p:txBody>
      </p:sp>
      <p:sp>
        <p:nvSpPr>
          <p:cNvPr id="17" name="Text 15"/>
          <p:cNvSpPr/>
          <p:nvPr/>
        </p:nvSpPr>
        <p:spPr>
          <a:xfrm>
            <a:off x="3749040" y="3200400"/>
            <a:ext cx="4937760" cy="457200"/>
          </a:xfrm>
          <a:prstGeom prst="rect">
            <a:avLst/>
          </a:prstGeom>
          <a:noFill/>
          <a:ln/>
        </p:spPr>
        <p:txBody>
          <a:bodyPr wrap="square" rtlCol="0" anchor="ctr"/>
          <a:lstStyle/>
          <a:p>
            <a:pPr marL="0" indent="0">
              <a:buNone/>
            </a:pPr>
            <a:r>
              <a:rPr lang="en-US" sz="1300" dirty="0">
                <a:solidFill>
                  <a:srgbClr val="1A1A2E"/>
                </a:solidFill>
                <a:latin typeface="Arial" pitchFamily="34" charset="0"/>
                <a:ea typeface="Arial" pitchFamily="34" charset="-122"/>
                <a:cs typeface="Arial" pitchFamily="34" charset="-120"/>
              </a:rPr>
              <a:t>N replications under one staffing plan</a:t>
            </a:r>
            <a:endParaRPr lang="en-US" sz="1300" dirty="0"/>
          </a:p>
        </p:txBody>
      </p:sp>
      <p:sp>
        <p:nvSpPr>
          <p:cNvPr id="18" name="Shape 16"/>
          <p:cNvSpPr/>
          <p:nvPr/>
        </p:nvSpPr>
        <p:spPr>
          <a:xfrm>
            <a:off x="640080" y="3703320"/>
            <a:ext cx="2926080" cy="457200"/>
          </a:xfrm>
          <a:prstGeom prst="rect">
            <a:avLst/>
          </a:prstGeom>
          <a:solidFill>
            <a:srgbClr val="4A6FA5"/>
          </a:solidFill>
          <a:ln w="12700">
            <a:solidFill>
              <a:srgbClr val="4A6FA5"/>
            </a:solidFill>
            <a:prstDash val="solid"/>
          </a:ln>
        </p:spPr>
        <p:txBody>
          <a:bodyPr/>
          <a:lstStyle/>
          <a:p>
            <a:endParaRPr lang="en-US"/>
          </a:p>
        </p:txBody>
      </p:sp>
      <p:sp>
        <p:nvSpPr>
          <p:cNvPr id="19" name="Text 17"/>
          <p:cNvSpPr/>
          <p:nvPr/>
        </p:nvSpPr>
        <p:spPr>
          <a:xfrm>
            <a:off x="731520" y="3703320"/>
            <a:ext cx="2743200" cy="45720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compare_scenarios(...)</a:t>
            </a:r>
            <a:endParaRPr lang="en-US" sz="1300" dirty="0"/>
          </a:p>
        </p:txBody>
      </p:sp>
      <p:sp>
        <p:nvSpPr>
          <p:cNvPr id="20" name="Text 18"/>
          <p:cNvSpPr/>
          <p:nvPr/>
        </p:nvSpPr>
        <p:spPr>
          <a:xfrm>
            <a:off x="3749040" y="3703320"/>
            <a:ext cx="4937760" cy="457200"/>
          </a:xfrm>
          <a:prstGeom prst="rect">
            <a:avLst/>
          </a:prstGeom>
          <a:noFill/>
          <a:ln/>
        </p:spPr>
        <p:txBody>
          <a:bodyPr wrap="square" rtlCol="0" anchor="ctr"/>
          <a:lstStyle/>
          <a:p>
            <a:pPr marL="0" indent="0">
              <a:buNone/>
            </a:pPr>
            <a:r>
              <a:rPr lang="en-US" sz="1300" dirty="0">
                <a:solidFill>
                  <a:srgbClr val="1A1A2E"/>
                </a:solidFill>
                <a:latin typeface="Arial" pitchFamily="34" charset="0"/>
                <a:ea typeface="Arial" pitchFamily="34" charset="-122"/>
                <a:cs typeface="Arial" pitchFamily="34" charset="-120"/>
              </a:rPr>
              <a:t>Aggregate, compare, report</a:t>
            </a:r>
            <a:endParaRPr lang="en-US" sz="1300" dirty="0"/>
          </a:p>
        </p:txBody>
      </p:sp>
      <p:sp>
        <p:nvSpPr>
          <p:cNvPr id="21" name="Text 19"/>
          <p:cNvSpPr/>
          <p:nvPr/>
        </p:nvSpPr>
        <p:spPr>
          <a:xfrm>
            <a:off x="457200" y="4297680"/>
            <a:ext cx="8229600" cy="365760"/>
          </a:xfrm>
          <a:prstGeom prst="rect">
            <a:avLst/>
          </a:prstGeom>
          <a:noFill/>
          <a:ln/>
        </p:spPr>
        <p:txBody>
          <a:bodyPr wrap="square" rtlCol="0" anchor="ctr"/>
          <a:lstStyle/>
          <a:p>
            <a:pPr marL="0" indent="0" algn="ctr">
              <a:buNone/>
            </a:pPr>
            <a:r>
              <a:rPr lang="en-US" sz="1200" i="1" dirty="0">
                <a:solidFill>
                  <a:srgbClr val="9CA3AF"/>
                </a:solidFill>
                <a:latin typeface="Arial" pitchFamily="34" charset="0"/>
                <a:ea typeface="Arial" pitchFamily="34" charset="-122"/>
                <a:cs typeface="Arial" pitchFamily="34" charset="-120"/>
              </a:rPr>
              <a:t>Prescribed architecture is what makes the generated code reviewable.</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18">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Six places the LLM earns its keep</a:t>
            </a:r>
            <a:endParaRPr lang="en-US" sz="3200" dirty="0"/>
          </a:p>
        </p:txBody>
      </p:sp>
      <p:sp>
        <p:nvSpPr>
          <p:cNvPr id="4" name="Text 2"/>
          <p:cNvSpPr/>
          <p:nvPr/>
        </p:nvSpPr>
        <p:spPr>
          <a:xfrm>
            <a:off x="5943600" y="164592"/>
            <a:ext cx="274320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Block 4 · 25 min</a:t>
            </a:r>
            <a:endParaRPr lang="en-US" sz="1000" dirty="0"/>
          </a:p>
        </p:txBody>
      </p:sp>
      <p:sp>
        <p:nvSpPr>
          <p:cNvPr id="5" name="Text 3"/>
          <p:cNvSpPr/>
          <p:nvPr/>
        </p:nvSpPr>
        <p:spPr>
          <a:xfrm>
            <a:off x="457200" y="1188720"/>
            <a:ext cx="8229600" cy="365760"/>
          </a:xfrm>
          <a:prstGeom prst="rect">
            <a:avLst/>
          </a:prstGeom>
          <a:noFill/>
          <a:ln/>
        </p:spPr>
        <p:txBody>
          <a:bodyPr wrap="square" rtlCol="0" anchor="ctr"/>
          <a:lstStyle/>
          <a:p>
            <a:pPr marL="0" indent="0" algn="ctr">
              <a:buNone/>
            </a:pPr>
            <a:r>
              <a:rPr lang="en-US" sz="1400" i="1" dirty="0">
                <a:solidFill>
                  <a:srgbClr val="6B7280"/>
                </a:solidFill>
                <a:latin typeface="Arial" pitchFamily="34" charset="0"/>
                <a:ea typeface="Arial" pitchFamily="34" charset="-122"/>
                <a:cs typeface="Arial" pitchFamily="34" charset="-120"/>
              </a:rPr>
              <a:t>Code generation is the most visible. The other five matter just as much.</a:t>
            </a:r>
            <a:endParaRPr lang="en-US" sz="1400" dirty="0"/>
          </a:p>
        </p:txBody>
      </p:sp>
      <p:sp>
        <p:nvSpPr>
          <p:cNvPr id="6" name="Shape 4"/>
          <p:cNvSpPr/>
          <p:nvPr/>
        </p:nvSpPr>
        <p:spPr>
          <a:xfrm>
            <a:off x="480060" y="1691640"/>
            <a:ext cx="2606040" cy="1280160"/>
          </a:xfrm>
          <a:prstGeom prst="rect">
            <a:avLst/>
          </a:prstGeom>
          <a:solidFill>
            <a:srgbClr val="FFFFFF"/>
          </a:solidFill>
          <a:ln w="12700">
            <a:solidFill>
              <a:srgbClr val="E5E7EB"/>
            </a:solidFill>
            <a:prstDash val="solid"/>
          </a:ln>
        </p:spPr>
        <p:txBody>
          <a:bodyPr/>
          <a:lstStyle/>
          <a:p>
            <a:endParaRPr lang="en-US"/>
          </a:p>
        </p:txBody>
      </p:sp>
      <p:sp>
        <p:nvSpPr>
          <p:cNvPr id="7" name="Shape 5"/>
          <p:cNvSpPr/>
          <p:nvPr/>
        </p:nvSpPr>
        <p:spPr>
          <a:xfrm>
            <a:off x="480060" y="1691640"/>
            <a:ext cx="73152" cy="1280160"/>
          </a:xfrm>
          <a:prstGeom prst="rect">
            <a:avLst/>
          </a:prstGeom>
          <a:solidFill>
            <a:srgbClr val="B85042"/>
          </a:solidFill>
          <a:ln w="12700">
            <a:solidFill>
              <a:srgbClr val="B85042"/>
            </a:solidFill>
            <a:prstDash val="solid"/>
          </a:ln>
        </p:spPr>
        <p:txBody>
          <a:bodyPr/>
          <a:lstStyle/>
          <a:p>
            <a:endParaRPr lang="en-US"/>
          </a:p>
        </p:txBody>
      </p:sp>
      <p:sp>
        <p:nvSpPr>
          <p:cNvPr id="8" name="Text 6"/>
          <p:cNvSpPr/>
          <p:nvPr/>
        </p:nvSpPr>
        <p:spPr>
          <a:xfrm>
            <a:off x="708660" y="1828800"/>
            <a:ext cx="2240280" cy="365760"/>
          </a:xfrm>
          <a:prstGeom prst="rect">
            <a:avLst/>
          </a:prstGeom>
          <a:noFill/>
          <a:ln/>
        </p:spPr>
        <p:txBody>
          <a:bodyPr wrap="square" rtlCol="0" anchor="ctr"/>
          <a:lstStyle/>
          <a:p>
            <a:pPr marL="0" indent="0">
              <a:buNone/>
            </a:pPr>
            <a:r>
              <a:rPr lang="en-US" sz="1600" b="1" dirty="0">
                <a:solidFill>
                  <a:srgbClr val="B85042"/>
                </a:solidFill>
                <a:latin typeface="Arial" pitchFamily="34" charset="0"/>
                <a:ea typeface="Arial" pitchFamily="34" charset="-122"/>
                <a:cs typeface="Arial" pitchFamily="34" charset="-120"/>
              </a:rPr>
              <a:t>1. Generate code</a:t>
            </a:r>
            <a:endParaRPr lang="en-US" sz="1600" dirty="0"/>
          </a:p>
        </p:txBody>
      </p:sp>
      <p:sp>
        <p:nvSpPr>
          <p:cNvPr id="9" name="Text 7"/>
          <p:cNvSpPr/>
          <p:nvPr/>
        </p:nvSpPr>
        <p:spPr>
          <a:xfrm>
            <a:off x="708660" y="2240280"/>
            <a:ext cx="2240280" cy="64008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From spec via Template B prompt.</a:t>
            </a:r>
            <a:endParaRPr lang="en-US" sz="1200" dirty="0"/>
          </a:p>
        </p:txBody>
      </p:sp>
      <p:sp>
        <p:nvSpPr>
          <p:cNvPr id="10" name="Text 8"/>
          <p:cNvSpPr/>
          <p:nvPr/>
        </p:nvSpPr>
        <p:spPr>
          <a:xfrm>
            <a:off x="2491740" y="1783080"/>
            <a:ext cx="502920" cy="228600"/>
          </a:xfrm>
          <a:prstGeom prst="rect">
            <a:avLst/>
          </a:prstGeom>
          <a:solidFill>
            <a:srgbClr val="B85042"/>
          </a:solid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LIVE</a:t>
            </a:r>
            <a:endParaRPr lang="en-US" sz="900" dirty="0"/>
          </a:p>
        </p:txBody>
      </p:sp>
      <p:sp>
        <p:nvSpPr>
          <p:cNvPr id="11" name="Shape 9"/>
          <p:cNvSpPr/>
          <p:nvPr/>
        </p:nvSpPr>
        <p:spPr>
          <a:xfrm>
            <a:off x="3268980" y="1691640"/>
            <a:ext cx="2606040" cy="1280160"/>
          </a:xfrm>
          <a:prstGeom prst="rect">
            <a:avLst/>
          </a:prstGeom>
          <a:solidFill>
            <a:srgbClr val="FFFFFF"/>
          </a:solidFill>
          <a:ln w="12700">
            <a:solidFill>
              <a:srgbClr val="E5E7EB"/>
            </a:solidFill>
            <a:prstDash val="solid"/>
          </a:ln>
        </p:spPr>
        <p:txBody>
          <a:bodyPr/>
          <a:lstStyle/>
          <a:p>
            <a:endParaRPr lang="en-US"/>
          </a:p>
        </p:txBody>
      </p:sp>
      <p:sp>
        <p:nvSpPr>
          <p:cNvPr id="12" name="Shape 10"/>
          <p:cNvSpPr/>
          <p:nvPr/>
        </p:nvSpPr>
        <p:spPr>
          <a:xfrm>
            <a:off x="3268980" y="1691640"/>
            <a:ext cx="73152" cy="1280160"/>
          </a:xfrm>
          <a:prstGeom prst="rect">
            <a:avLst/>
          </a:prstGeom>
          <a:solidFill>
            <a:srgbClr val="4A6FA5"/>
          </a:solidFill>
          <a:ln w="12700">
            <a:solidFill>
              <a:srgbClr val="4A6FA5"/>
            </a:solidFill>
            <a:prstDash val="solid"/>
          </a:ln>
        </p:spPr>
        <p:txBody>
          <a:bodyPr/>
          <a:lstStyle/>
          <a:p>
            <a:endParaRPr lang="en-US"/>
          </a:p>
        </p:txBody>
      </p:sp>
      <p:sp>
        <p:nvSpPr>
          <p:cNvPr id="13" name="Text 11"/>
          <p:cNvSpPr/>
          <p:nvPr/>
        </p:nvSpPr>
        <p:spPr>
          <a:xfrm>
            <a:off x="3497580" y="1828800"/>
            <a:ext cx="224028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2. Review logic</a:t>
            </a:r>
            <a:endParaRPr lang="en-US" sz="1600" dirty="0"/>
          </a:p>
        </p:txBody>
      </p:sp>
      <p:sp>
        <p:nvSpPr>
          <p:cNvPr id="14" name="Text 12"/>
          <p:cNvSpPr/>
          <p:nvPr/>
        </p:nvSpPr>
        <p:spPr>
          <a:xfrm>
            <a:off x="3497580" y="2240280"/>
            <a:ext cx="2240280" cy="64008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LLM walks each function; compare to your mental model.</a:t>
            </a:r>
            <a:endParaRPr lang="en-US" sz="1200" dirty="0"/>
          </a:p>
        </p:txBody>
      </p:sp>
      <p:sp>
        <p:nvSpPr>
          <p:cNvPr id="15" name="Shape 13"/>
          <p:cNvSpPr/>
          <p:nvPr/>
        </p:nvSpPr>
        <p:spPr>
          <a:xfrm>
            <a:off x="6057900" y="1691640"/>
            <a:ext cx="2606040" cy="1280160"/>
          </a:xfrm>
          <a:prstGeom prst="rect">
            <a:avLst/>
          </a:prstGeom>
          <a:solidFill>
            <a:srgbClr val="FFFFFF"/>
          </a:solidFill>
          <a:ln w="12700">
            <a:solidFill>
              <a:srgbClr val="E5E7EB"/>
            </a:solidFill>
            <a:prstDash val="solid"/>
          </a:ln>
        </p:spPr>
        <p:txBody>
          <a:bodyPr/>
          <a:lstStyle/>
          <a:p>
            <a:endParaRPr lang="en-US"/>
          </a:p>
        </p:txBody>
      </p:sp>
      <p:sp>
        <p:nvSpPr>
          <p:cNvPr id="16" name="Shape 14"/>
          <p:cNvSpPr/>
          <p:nvPr/>
        </p:nvSpPr>
        <p:spPr>
          <a:xfrm>
            <a:off x="6057900" y="1691640"/>
            <a:ext cx="73152" cy="1280160"/>
          </a:xfrm>
          <a:prstGeom prst="rect">
            <a:avLst/>
          </a:prstGeom>
          <a:solidFill>
            <a:srgbClr val="B85042"/>
          </a:solidFill>
          <a:ln w="12700">
            <a:solidFill>
              <a:srgbClr val="B85042"/>
            </a:solidFill>
            <a:prstDash val="solid"/>
          </a:ln>
        </p:spPr>
        <p:txBody>
          <a:bodyPr/>
          <a:lstStyle/>
          <a:p>
            <a:endParaRPr lang="en-US"/>
          </a:p>
        </p:txBody>
      </p:sp>
      <p:sp>
        <p:nvSpPr>
          <p:cNvPr id="17" name="Text 15"/>
          <p:cNvSpPr/>
          <p:nvPr/>
        </p:nvSpPr>
        <p:spPr>
          <a:xfrm>
            <a:off x="6286500" y="1828800"/>
            <a:ext cx="2240280" cy="365760"/>
          </a:xfrm>
          <a:prstGeom prst="rect">
            <a:avLst/>
          </a:prstGeom>
          <a:noFill/>
          <a:ln/>
        </p:spPr>
        <p:txBody>
          <a:bodyPr wrap="square" rtlCol="0" anchor="ctr"/>
          <a:lstStyle/>
          <a:p>
            <a:pPr marL="0" indent="0">
              <a:buNone/>
            </a:pPr>
            <a:r>
              <a:rPr lang="en-US" sz="1600" b="1" dirty="0">
                <a:solidFill>
                  <a:srgbClr val="B85042"/>
                </a:solidFill>
                <a:latin typeface="Arial" pitchFamily="34" charset="0"/>
                <a:ea typeface="Arial" pitchFamily="34" charset="-122"/>
                <a:cs typeface="Arial" pitchFamily="34" charset="-120"/>
              </a:rPr>
              <a:t>3. Verify spec compliance</a:t>
            </a:r>
            <a:endParaRPr lang="en-US" sz="1600" dirty="0"/>
          </a:p>
        </p:txBody>
      </p:sp>
      <p:sp>
        <p:nvSpPr>
          <p:cNvPr id="18" name="Text 16"/>
          <p:cNvSpPr/>
          <p:nvPr/>
        </p:nvSpPr>
        <p:spPr>
          <a:xfrm>
            <a:off x="6286500" y="2240280"/>
            <a:ext cx="2240280" cy="64008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Find deviations between spec and code.</a:t>
            </a:r>
            <a:endParaRPr lang="en-US" sz="1200" dirty="0"/>
          </a:p>
        </p:txBody>
      </p:sp>
      <p:sp>
        <p:nvSpPr>
          <p:cNvPr id="19" name="Text 17"/>
          <p:cNvSpPr/>
          <p:nvPr/>
        </p:nvSpPr>
        <p:spPr>
          <a:xfrm>
            <a:off x="8069580" y="1783080"/>
            <a:ext cx="502920" cy="228600"/>
          </a:xfrm>
          <a:prstGeom prst="rect">
            <a:avLst/>
          </a:prstGeom>
          <a:solidFill>
            <a:srgbClr val="B85042"/>
          </a:solid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LIVE</a:t>
            </a:r>
            <a:endParaRPr lang="en-US" sz="900" dirty="0"/>
          </a:p>
        </p:txBody>
      </p:sp>
      <p:sp>
        <p:nvSpPr>
          <p:cNvPr id="20" name="Shape 18"/>
          <p:cNvSpPr/>
          <p:nvPr/>
        </p:nvSpPr>
        <p:spPr>
          <a:xfrm>
            <a:off x="480060" y="3154680"/>
            <a:ext cx="2606040" cy="1280160"/>
          </a:xfrm>
          <a:prstGeom prst="rect">
            <a:avLst/>
          </a:prstGeom>
          <a:solidFill>
            <a:srgbClr val="FFFFFF"/>
          </a:solidFill>
          <a:ln w="12700">
            <a:solidFill>
              <a:srgbClr val="E5E7EB"/>
            </a:solidFill>
            <a:prstDash val="solid"/>
          </a:ln>
        </p:spPr>
        <p:txBody>
          <a:bodyPr/>
          <a:lstStyle/>
          <a:p>
            <a:endParaRPr lang="en-US"/>
          </a:p>
        </p:txBody>
      </p:sp>
      <p:sp>
        <p:nvSpPr>
          <p:cNvPr id="21" name="Shape 19"/>
          <p:cNvSpPr/>
          <p:nvPr/>
        </p:nvSpPr>
        <p:spPr>
          <a:xfrm>
            <a:off x="480060" y="3154680"/>
            <a:ext cx="73152" cy="1280160"/>
          </a:xfrm>
          <a:prstGeom prst="rect">
            <a:avLst/>
          </a:prstGeom>
          <a:solidFill>
            <a:srgbClr val="4A6FA5"/>
          </a:solidFill>
          <a:ln w="12700">
            <a:solidFill>
              <a:srgbClr val="4A6FA5"/>
            </a:solidFill>
            <a:prstDash val="solid"/>
          </a:ln>
        </p:spPr>
        <p:txBody>
          <a:bodyPr/>
          <a:lstStyle/>
          <a:p>
            <a:endParaRPr lang="en-US"/>
          </a:p>
        </p:txBody>
      </p:sp>
      <p:sp>
        <p:nvSpPr>
          <p:cNvPr id="22" name="Text 20"/>
          <p:cNvSpPr/>
          <p:nvPr/>
        </p:nvSpPr>
        <p:spPr>
          <a:xfrm>
            <a:off x="708660" y="3291840"/>
            <a:ext cx="224028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4. Validate vs reality</a:t>
            </a:r>
            <a:endParaRPr lang="en-US" sz="1600" dirty="0"/>
          </a:p>
        </p:txBody>
      </p:sp>
      <p:sp>
        <p:nvSpPr>
          <p:cNvPr id="23" name="Text 21"/>
          <p:cNvSpPr/>
          <p:nvPr/>
        </p:nvSpPr>
        <p:spPr>
          <a:xfrm>
            <a:off x="708660" y="3703320"/>
            <a:ext cx="2240280" cy="64008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Check whether output is plausible given domain knowledge.</a:t>
            </a:r>
            <a:endParaRPr lang="en-US" sz="1200" dirty="0"/>
          </a:p>
        </p:txBody>
      </p:sp>
      <p:sp>
        <p:nvSpPr>
          <p:cNvPr id="24" name="Shape 22"/>
          <p:cNvSpPr/>
          <p:nvPr/>
        </p:nvSpPr>
        <p:spPr>
          <a:xfrm>
            <a:off x="3268980" y="3154680"/>
            <a:ext cx="2606040" cy="1280160"/>
          </a:xfrm>
          <a:prstGeom prst="rect">
            <a:avLst/>
          </a:prstGeom>
          <a:solidFill>
            <a:srgbClr val="FFFFFF"/>
          </a:solidFill>
          <a:ln w="12700">
            <a:solidFill>
              <a:srgbClr val="E5E7EB"/>
            </a:solidFill>
            <a:prstDash val="solid"/>
          </a:ln>
        </p:spPr>
        <p:txBody>
          <a:bodyPr/>
          <a:lstStyle/>
          <a:p>
            <a:endParaRPr lang="en-US"/>
          </a:p>
        </p:txBody>
      </p:sp>
      <p:sp>
        <p:nvSpPr>
          <p:cNvPr id="25" name="Shape 23"/>
          <p:cNvSpPr/>
          <p:nvPr/>
        </p:nvSpPr>
        <p:spPr>
          <a:xfrm>
            <a:off x="3268980" y="3154680"/>
            <a:ext cx="73152" cy="1280160"/>
          </a:xfrm>
          <a:prstGeom prst="rect">
            <a:avLst/>
          </a:prstGeom>
          <a:solidFill>
            <a:srgbClr val="4A6FA5"/>
          </a:solidFill>
          <a:ln w="12700">
            <a:solidFill>
              <a:srgbClr val="4A6FA5"/>
            </a:solidFill>
            <a:prstDash val="solid"/>
          </a:ln>
        </p:spPr>
        <p:txBody>
          <a:bodyPr/>
          <a:lstStyle/>
          <a:p>
            <a:endParaRPr lang="en-US"/>
          </a:p>
        </p:txBody>
      </p:sp>
      <p:sp>
        <p:nvSpPr>
          <p:cNvPr id="26" name="Text 24"/>
          <p:cNvSpPr/>
          <p:nvPr/>
        </p:nvSpPr>
        <p:spPr>
          <a:xfrm>
            <a:off x="3497580" y="3291840"/>
            <a:ext cx="224028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5. Generate test scenarios</a:t>
            </a:r>
            <a:endParaRPr lang="en-US" sz="1600" dirty="0"/>
          </a:p>
        </p:txBody>
      </p:sp>
      <p:sp>
        <p:nvSpPr>
          <p:cNvPr id="27" name="Text 25"/>
          <p:cNvSpPr/>
          <p:nvPr/>
        </p:nvSpPr>
        <p:spPr>
          <a:xfrm>
            <a:off x="3497580" y="3703320"/>
            <a:ext cx="2240280" cy="64008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Adversarial what-ifs that stress the structure.</a:t>
            </a:r>
            <a:endParaRPr lang="en-US" sz="1200" dirty="0"/>
          </a:p>
        </p:txBody>
      </p:sp>
      <p:sp>
        <p:nvSpPr>
          <p:cNvPr id="28" name="Shape 26"/>
          <p:cNvSpPr/>
          <p:nvPr/>
        </p:nvSpPr>
        <p:spPr>
          <a:xfrm>
            <a:off x="6057900" y="3154680"/>
            <a:ext cx="2606040" cy="1280160"/>
          </a:xfrm>
          <a:prstGeom prst="rect">
            <a:avLst/>
          </a:prstGeom>
          <a:solidFill>
            <a:srgbClr val="FFFFFF"/>
          </a:solidFill>
          <a:ln w="12700">
            <a:solidFill>
              <a:srgbClr val="E5E7EB"/>
            </a:solidFill>
            <a:prstDash val="solid"/>
          </a:ln>
        </p:spPr>
        <p:txBody>
          <a:bodyPr/>
          <a:lstStyle/>
          <a:p>
            <a:endParaRPr lang="en-US"/>
          </a:p>
        </p:txBody>
      </p:sp>
      <p:sp>
        <p:nvSpPr>
          <p:cNvPr id="29" name="Shape 27"/>
          <p:cNvSpPr/>
          <p:nvPr/>
        </p:nvSpPr>
        <p:spPr>
          <a:xfrm>
            <a:off x="6057900" y="3154680"/>
            <a:ext cx="73152" cy="1280160"/>
          </a:xfrm>
          <a:prstGeom prst="rect">
            <a:avLst/>
          </a:prstGeom>
          <a:solidFill>
            <a:srgbClr val="4A6FA5"/>
          </a:solidFill>
          <a:ln w="12700">
            <a:solidFill>
              <a:srgbClr val="4A6FA5"/>
            </a:solidFill>
            <a:prstDash val="solid"/>
          </a:ln>
        </p:spPr>
        <p:txBody>
          <a:bodyPr/>
          <a:lstStyle/>
          <a:p>
            <a:endParaRPr lang="en-US"/>
          </a:p>
        </p:txBody>
      </p:sp>
      <p:sp>
        <p:nvSpPr>
          <p:cNvPr id="30" name="Text 28"/>
          <p:cNvSpPr/>
          <p:nvPr/>
        </p:nvSpPr>
        <p:spPr>
          <a:xfrm>
            <a:off x="6286500" y="3291840"/>
            <a:ext cx="224028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6. Document assumptions</a:t>
            </a:r>
            <a:endParaRPr lang="en-US" sz="1600" dirty="0"/>
          </a:p>
        </p:txBody>
      </p:sp>
      <p:sp>
        <p:nvSpPr>
          <p:cNvPr id="31" name="Text 29"/>
          <p:cNvSpPr/>
          <p:nvPr/>
        </p:nvSpPr>
        <p:spPr>
          <a:xfrm>
            <a:off x="6286500" y="3703320"/>
            <a:ext cx="2240280" cy="64008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Stakeholder-facing appendix and findings.</a:t>
            </a:r>
            <a:endParaRPr lang="en-US" sz="1200" dirty="0"/>
          </a:p>
        </p:txBody>
      </p:sp>
      <p:sp>
        <p:nvSpPr>
          <p:cNvPr id="32" name="Text 30"/>
          <p:cNvSpPr/>
          <p:nvPr/>
        </p:nvSpPr>
        <p:spPr>
          <a:xfrm>
            <a:off x="457200" y="4434840"/>
            <a:ext cx="8229600" cy="274320"/>
          </a:xfrm>
          <a:prstGeom prst="rect">
            <a:avLst/>
          </a:prstGeom>
          <a:noFill/>
          <a:ln/>
        </p:spPr>
        <p:txBody>
          <a:bodyPr wrap="square" rtlCol="0" anchor="ctr"/>
          <a:lstStyle/>
          <a:p>
            <a:pPr marL="0" indent="0" algn="ctr">
              <a:buNone/>
            </a:pPr>
            <a:r>
              <a:rPr lang="en-US" sz="1200" i="1" dirty="0">
                <a:solidFill>
                  <a:srgbClr val="6B7280"/>
                </a:solidFill>
                <a:latin typeface="Arial" pitchFamily="34" charset="0"/>
                <a:ea typeface="Arial" pitchFamily="34" charset="-122"/>
                <a:cs typeface="Arial" pitchFamily="34" charset="-120"/>
              </a:rPr>
              <a:t>Today: drill into 2 (live). The other 4 are pre-built notebook cells you run after the workshop.</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F1C2432-E50D-6C49-89A8-9FF64D61AF54}"/>
              </a:ext>
            </a:extLst>
          </p:cNvPr>
          <p:cNvSpPr/>
          <p:nvPr/>
        </p:nvSpPr>
        <p:spPr>
          <a:xfrm>
            <a:off x="0" y="0"/>
            <a:ext cx="9144000" cy="76200"/>
          </a:xfrm>
          <a:prstGeom prst="rect">
            <a:avLst/>
          </a:prstGeom>
          <a:solidFill>
            <a:srgbClr val="4A6FA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4CC862BB-043B-3F4B-B7F4-1ED1E94B3316}"/>
              </a:ext>
            </a:extLst>
          </p:cNvPr>
          <p:cNvSpPr txBox="1"/>
          <p:nvPr/>
        </p:nvSpPr>
        <p:spPr>
          <a:xfrm>
            <a:off x="457200" y="368300"/>
            <a:ext cx="2540000" cy="584775"/>
          </a:xfrm>
          <a:prstGeom prst="rect">
            <a:avLst/>
          </a:prstGeom>
          <a:noFill/>
          <a:ln>
            <a:noFill/>
          </a:ln>
        </p:spPr>
        <p:txBody>
          <a:bodyPr vertOverflow="overflow" vert="horz" wrap="square" rtlCol="0" anchor="t">
            <a:spAutoFit/>
          </a:bodyPr>
          <a:lstStyle/>
          <a:p>
            <a:pPr marL="0" indent="0">
              <a:buNone/>
            </a:pPr>
            <a:r>
              <a:rPr lang="en-US" sz="3200" b="1" dirty="0">
                <a:solidFill>
                  <a:srgbClr val="1A1A2E"/>
                </a:solidFill>
                <a:latin typeface="Arial" pitchFamily="34" charset="0"/>
                <a:ea typeface="Arial" pitchFamily="34" charset="-122"/>
                <a:cs typeface="Arial" pitchFamily="34" charset="-120"/>
              </a:rPr>
              <a:t>SimPy</a:t>
            </a:r>
          </a:p>
        </p:txBody>
      </p:sp>
      <p:sp>
        <p:nvSpPr>
          <p:cNvPr id="4" name="TextBox 3">
            <a:extLst>
              <a:ext uri="{FF2B5EF4-FFF2-40B4-BE49-F238E27FC236}">
                <a16:creationId xmlns:a16="http://schemas.microsoft.com/office/drawing/2014/main" id="{3D0E3319-D418-B040-9042-858C6A369909}"/>
              </a:ext>
            </a:extLst>
          </p:cNvPr>
          <p:cNvSpPr txBox="1"/>
          <p:nvPr/>
        </p:nvSpPr>
        <p:spPr>
          <a:xfrm>
            <a:off x="4876800" y="482600"/>
            <a:ext cx="3810000" cy="246221"/>
          </a:xfrm>
          <a:prstGeom prst="rect">
            <a:avLst/>
          </a:prstGeom>
          <a:noFill/>
          <a:ln>
            <a:noFill/>
          </a:ln>
        </p:spPr>
        <p:txBody>
          <a:bodyPr vertOverflow="overflow" vert="horz" wrap="square" rtlCol="0" anchor="t">
            <a:spAutoFit/>
          </a:bodyPr>
          <a:lstStyle/>
          <a:p>
            <a:pPr marL="0" indent="0" algn="r">
              <a:buNone/>
            </a:pPr>
            <a:r>
              <a:rPr lang="en-US" sz="1000" dirty="0">
                <a:solidFill>
                  <a:srgbClr val="9CA3AF"/>
                </a:solidFill>
                <a:latin typeface="Arial" pitchFamily="34" charset="0"/>
                <a:ea typeface="Arial" pitchFamily="34" charset="-122"/>
                <a:cs typeface="Arial" pitchFamily="34" charset="-120"/>
              </a:rPr>
              <a:t>Python · Discrete-event simulation</a:t>
            </a:r>
          </a:p>
        </p:txBody>
      </p:sp>
      <p:sp>
        <p:nvSpPr>
          <p:cNvPr id="5" name="TextBox 4">
            <a:extLst>
              <a:ext uri="{FF2B5EF4-FFF2-40B4-BE49-F238E27FC236}">
                <a16:creationId xmlns:a16="http://schemas.microsoft.com/office/drawing/2014/main" id="{224F1AE7-93F8-3241-933F-CBBE2D01B6EB}"/>
              </a:ext>
            </a:extLst>
          </p:cNvPr>
          <p:cNvSpPr txBox="1"/>
          <p:nvPr/>
        </p:nvSpPr>
        <p:spPr>
          <a:xfrm>
            <a:off x="457200" y="1117600"/>
            <a:ext cx="8229600" cy="338554"/>
          </a:xfrm>
          <a:prstGeom prst="rect">
            <a:avLst/>
          </a:prstGeom>
          <a:noFill/>
          <a:ln>
            <a:noFill/>
          </a:ln>
        </p:spPr>
        <p:txBody>
          <a:bodyPr vertOverflow="overflow" vert="horz" wrap="square" rtlCol="0" anchor="t">
            <a:spAutoFit/>
          </a:bodyPr>
          <a:lstStyle/>
          <a:p>
            <a:pPr marL="0" indent="0">
              <a:buNone/>
            </a:pPr>
            <a:r>
              <a:rPr lang="en-US" sz="1600" i="1" dirty="0">
                <a:solidFill>
                  <a:srgbClr val="4A6FA5"/>
                </a:solidFill>
                <a:latin typeface="Arial" pitchFamily="34" charset="0"/>
                <a:ea typeface="Arial" pitchFamily="34" charset="-122"/>
                <a:cs typeface="Arial" pitchFamily="34" charset="-120"/>
              </a:rPr>
              <a:t>A process-based discrete-event simulation framework for Python.</a:t>
            </a:r>
          </a:p>
        </p:txBody>
      </p:sp>
      <p:sp>
        <p:nvSpPr>
          <p:cNvPr id="6" name="TextBox 5">
            <a:extLst>
              <a:ext uri="{FF2B5EF4-FFF2-40B4-BE49-F238E27FC236}">
                <a16:creationId xmlns:a16="http://schemas.microsoft.com/office/drawing/2014/main" id="{F0C546D1-0A6B-6047-8E07-75C9C125597E}"/>
              </a:ext>
            </a:extLst>
          </p:cNvPr>
          <p:cNvSpPr txBox="1"/>
          <p:nvPr/>
        </p:nvSpPr>
        <p:spPr>
          <a:xfrm>
            <a:off x="457200" y="1625600"/>
            <a:ext cx="8229600" cy="2915413"/>
          </a:xfrm>
          <a:prstGeom prst="rect">
            <a:avLst/>
          </a:prstGeom>
          <a:noFill/>
          <a:ln>
            <a:noFill/>
          </a:ln>
        </p:spPr>
        <p:txBody>
          <a:bodyPr vertOverflow="overflow" vert="horz" wrap="square" rtlCol="0" anchor="t">
            <a:spAutoFit/>
          </a:bodyPr>
          <a:lstStyle/>
          <a:p>
            <a:pPr marL="228600" indent="-228600">
              <a:lnSpc>
                <a:spcPts val="2200"/>
              </a:lnSpc>
              <a:spcBef>
                <a:spcPts val="600"/>
              </a:spcBef>
              <a:buFont typeface="Arial" pitchFamily="34" charset="0"/>
              <a:buChar char="•"/>
            </a:pPr>
            <a:r>
              <a:rPr lang="en-US" sz="1600" b="1" dirty="0">
                <a:solidFill>
                  <a:srgbClr val="1A1A2E"/>
                </a:solidFill>
                <a:latin typeface="Arial" pitchFamily="34" charset="0"/>
                <a:ea typeface="Arial" pitchFamily="34" charset="-122"/>
                <a:cs typeface="Arial" pitchFamily="34" charset="-120"/>
              </a:rPr>
              <a:t>Processes:</a:t>
            </a:r>
            <a:r>
              <a:rPr lang="en-US" sz="1600" dirty="0">
                <a:solidFill>
                  <a:srgbClr val="1A1A2E"/>
                </a:solidFill>
                <a:latin typeface="Arial" pitchFamily="34" charset="0"/>
                <a:ea typeface="Arial" pitchFamily="34" charset="-122"/>
                <a:cs typeface="Arial" pitchFamily="34" charset="-120"/>
              </a:rPr>
              <a:t> Active entities (customers, patients, packets) modeled as Python generators that yield events.</a:t>
            </a:r>
          </a:p>
          <a:p>
            <a:pPr marL="228600" indent="-228600">
              <a:lnSpc>
                <a:spcPts val="2200"/>
              </a:lnSpc>
              <a:spcBef>
                <a:spcPts val="600"/>
              </a:spcBef>
              <a:buFont typeface="Arial" pitchFamily="34" charset="0"/>
              <a:buChar char="•"/>
            </a:pPr>
            <a:r>
              <a:rPr lang="en-US" sz="1600" b="1" dirty="0">
                <a:solidFill>
                  <a:srgbClr val="1A1A2E"/>
                </a:solidFill>
                <a:latin typeface="Arial" pitchFamily="34" charset="0"/>
                <a:ea typeface="Arial" pitchFamily="34" charset="-122"/>
                <a:cs typeface="Arial" pitchFamily="34" charset="-120"/>
              </a:rPr>
              <a:t>Resources:</a:t>
            </a:r>
            <a:r>
              <a:rPr lang="en-US" sz="1600" dirty="0">
                <a:solidFill>
                  <a:srgbClr val="1A1A2E"/>
                </a:solidFill>
                <a:latin typeface="Arial" pitchFamily="34" charset="0"/>
                <a:ea typeface="Arial" pitchFamily="34" charset="-122"/>
                <a:cs typeface="Arial" pitchFamily="34" charset="-120"/>
              </a:rPr>
              <a:t> Limited resources with capacity (servers, beds, machines) — processes request and release them.</a:t>
            </a:r>
          </a:p>
          <a:p>
            <a:pPr marL="228600" indent="-228600">
              <a:lnSpc>
                <a:spcPts val="2200"/>
              </a:lnSpc>
              <a:spcBef>
                <a:spcPts val="600"/>
              </a:spcBef>
              <a:buFont typeface="Arial" pitchFamily="34" charset="0"/>
              <a:buChar char="•"/>
            </a:pPr>
            <a:r>
              <a:rPr lang="en-US" sz="1600" b="1" dirty="0">
                <a:solidFill>
                  <a:srgbClr val="1A1A2E"/>
                </a:solidFill>
                <a:latin typeface="Arial" pitchFamily="34" charset="0"/>
                <a:ea typeface="Arial" pitchFamily="34" charset="-122"/>
                <a:cs typeface="Arial" pitchFamily="34" charset="-120"/>
              </a:rPr>
              <a:t>Queueing:</a:t>
            </a:r>
            <a:r>
              <a:rPr lang="en-US" sz="1600" dirty="0">
                <a:solidFill>
                  <a:srgbClr val="1A1A2E"/>
                </a:solidFill>
                <a:latin typeface="Arial" pitchFamily="34" charset="0"/>
                <a:ea typeface="Arial" pitchFamily="34" charset="-122"/>
                <a:cs typeface="Arial" pitchFamily="34" charset="-120"/>
              </a:rPr>
              <a:t> Built-in support for queues, preemption, priorities, and stores for inventory.</a:t>
            </a:r>
          </a:p>
          <a:p>
            <a:pPr marL="228600" indent="-228600">
              <a:lnSpc>
                <a:spcPts val="2200"/>
              </a:lnSpc>
              <a:spcBef>
                <a:spcPts val="600"/>
              </a:spcBef>
              <a:buFont typeface="Arial" pitchFamily="34" charset="0"/>
              <a:buChar char="•"/>
            </a:pPr>
            <a:r>
              <a:rPr lang="en-US" sz="1600" b="1" dirty="0">
                <a:solidFill>
                  <a:srgbClr val="1A1A2E"/>
                </a:solidFill>
                <a:latin typeface="Arial" pitchFamily="34" charset="0"/>
                <a:ea typeface="Arial" pitchFamily="34" charset="-122"/>
                <a:cs typeface="Arial" pitchFamily="34" charset="-120"/>
              </a:rPr>
              <a:t>Pythonic:</a:t>
            </a:r>
            <a:r>
              <a:rPr lang="en-US" sz="1600" dirty="0">
                <a:solidFill>
                  <a:srgbClr val="1A1A2E"/>
                </a:solidFill>
                <a:latin typeface="Arial" pitchFamily="34" charset="0"/>
                <a:ea typeface="Arial" pitchFamily="34" charset="-122"/>
                <a:cs typeface="Arial" pitchFamily="34" charset="-120"/>
              </a:rPr>
              <a:t> Lightweight, pure Python — install with pip, runs anywhere, integrates with NumPy and pandas for analysis.</a:t>
            </a:r>
          </a:p>
          <a:p>
            <a:pPr marL="228600" indent="-228600">
              <a:lnSpc>
                <a:spcPts val="2200"/>
              </a:lnSpc>
              <a:spcBef>
                <a:spcPts val="600"/>
              </a:spcBef>
              <a:buFont typeface="Arial" pitchFamily="34" charset="0"/>
              <a:buChar char="•"/>
            </a:pPr>
            <a:r>
              <a:rPr lang="en-US" sz="1600" b="1" dirty="0">
                <a:solidFill>
                  <a:srgbClr val="1A1A2E"/>
                </a:solidFill>
                <a:latin typeface="Arial" pitchFamily="34" charset="0"/>
                <a:ea typeface="Arial" pitchFamily="34" charset="-122"/>
                <a:cs typeface="Arial" pitchFamily="34" charset="-120"/>
              </a:rPr>
              <a:t>Open:</a:t>
            </a:r>
            <a:r>
              <a:rPr lang="en-US" sz="1600" dirty="0">
                <a:solidFill>
                  <a:srgbClr val="1A1A2E"/>
                </a:solidFill>
                <a:latin typeface="Arial" pitchFamily="34" charset="0"/>
                <a:ea typeface="Arial" pitchFamily="34" charset="-122"/>
                <a:cs typeface="Arial" pitchFamily="34" charset="-120"/>
              </a:rPr>
              <a:t> Free and open-source (MIT license); active community and well-documented examples.</a:t>
            </a:r>
          </a:p>
        </p:txBody>
      </p:sp>
    </p:spTree>
    <p:extLst>
      <p:ext uri="{BB962C8B-B14F-4D97-AF65-F5344CB8AC3E}">
        <p14:creationId xmlns:p14="http://schemas.microsoft.com/office/powerpoint/2010/main" val="38872869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9">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Demo — Spec to SimPy</a:t>
            </a:r>
            <a:endParaRPr lang="en-US" sz="3200" dirty="0"/>
          </a:p>
        </p:txBody>
      </p:sp>
      <p:sp>
        <p:nvSpPr>
          <p:cNvPr id="4" name="Text 2"/>
          <p:cNvSpPr/>
          <p:nvPr/>
        </p:nvSpPr>
        <p:spPr>
          <a:xfrm>
            <a:off x="5943600" y="164592"/>
            <a:ext cx="274320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Block 4 · 25 min</a:t>
            </a:r>
            <a:endParaRPr lang="en-US" sz="1000" dirty="0"/>
          </a:p>
        </p:txBody>
      </p:sp>
      <p:sp>
        <p:nvSpPr>
          <p:cNvPr id="5" name="Text 3"/>
          <p:cNvSpPr/>
          <p:nvPr/>
        </p:nvSpPr>
        <p:spPr>
          <a:xfrm>
            <a:off x="457200" y="1463040"/>
            <a:ext cx="8229600" cy="914400"/>
          </a:xfrm>
          <a:prstGeom prst="rect">
            <a:avLst/>
          </a:prstGeom>
          <a:noFill/>
          <a:ln/>
        </p:spPr>
        <p:txBody>
          <a:bodyPr wrap="square" rtlCol="0" anchor="ctr"/>
          <a:lstStyle/>
          <a:p>
            <a:pPr marL="0" indent="0" algn="ctr">
              <a:buNone/>
            </a:pPr>
            <a:r>
              <a:rPr lang="en-US" sz="6000" b="1" dirty="0">
                <a:solidFill>
                  <a:srgbClr val="4A6FA5"/>
                </a:solidFill>
                <a:latin typeface="Arial" pitchFamily="34" charset="0"/>
                <a:ea typeface="Arial" pitchFamily="34" charset="-122"/>
                <a:cs typeface="Arial" pitchFamily="34" charset="-120"/>
              </a:rPr>
              <a:t>DEMO</a:t>
            </a:r>
            <a:endParaRPr lang="en-US" sz="6000" dirty="0"/>
          </a:p>
        </p:txBody>
      </p:sp>
      <p:sp>
        <p:nvSpPr>
          <p:cNvPr id="6" name="Text 4"/>
          <p:cNvSpPr/>
          <p:nvPr/>
        </p:nvSpPr>
        <p:spPr>
          <a:xfrm>
            <a:off x="457200" y="2468880"/>
            <a:ext cx="8229600" cy="914400"/>
          </a:xfrm>
          <a:prstGeom prst="rect">
            <a:avLst/>
          </a:prstGeom>
          <a:noFill/>
          <a:ln/>
        </p:spPr>
        <p:txBody>
          <a:bodyPr wrap="square" rtlCol="0" anchor="t"/>
          <a:lstStyle/>
          <a:p>
            <a:pPr marL="0" indent="0" algn="ctr">
              <a:buNone/>
            </a:pPr>
            <a:r>
              <a:rPr lang="en-US" sz="1800" dirty="0">
                <a:solidFill>
                  <a:srgbClr val="1A1A2E"/>
                </a:solidFill>
                <a:latin typeface="Arial" pitchFamily="34" charset="0"/>
                <a:ea typeface="Arial" pitchFamily="34" charset="-122"/>
                <a:cs typeface="Arial" pitchFamily="34" charset="-120"/>
              </a:rPr>
              <a:t>Pre-captured LLM chat.</a:t>
            </a:r>
            <a:endParaRPr lang="en-US" sz="1800" dirty="0"/>
          </a:p>
          <a:p>
            <a:pPr marL="0" indent="0" algn="ctr">
              <a:buNone/>
            </a:pPr>
            <a:r>
              <a:rPr lang="en-US" sz="1800" dirty="0">
                <a:solidFill>
                  <a:srgbClr val="1A1A2E"/>
                </a:solidFill>
                <a:latin typeface="Arial" pitchFamily="34" charset="0"/>
                <a:ea typeface="Arial" pitchFamily="34" charset="-122"/>
                <a:cs typeface="Arial" pitchFamily="34" charset="-120"/>
              </a:rPr>
              <a:t>Template A + Template B → SimPy code → run → matches.</a:t>
            </a:r>
            <a:endParaRPr lang="en-US" sz="1800" dirty="0"/>
          </a:p>
        </p:txBody>
      </p:sp>
      <p:sp>
        <p:nvSpPr>
          <p:cNvPr id="7" name="Text 5"/>
          <p:cNvSpPr/>
          <p:nvPr/>
        </p:nvSpPr>
        <p:spPr>
          <a:xfrm>
            <a:off x="457200" y="3474720"/>
            <a:ext cx="8229600" cy="731520"/>
          </a:xfrm>
          <a:prstGeom prst="rect">
            <a:avLst/>
          </a:prstGeom>
          <a:noFill/>
          <a:ln/>
        </p:spPr>
        <p:txBody>
          <a:bodyPr wrap="square" rtlCol="0" anchor="ctr"/>
          <a:lstStyle/>
          <a:p>
            <a:pPr marL="0" indent="0" algn="ctr">
              <a:buNone/>
            </a:pPr>
            <a:r>
              <a:rPr lang="en-US" sz="1400" i="1" dirty="0">
                <a:solidFill>
                  <a:srgbClr val="6B7280"/>
                </a:solidFill>
                <a:latin typeface="Arial" pitchFamily="34" charset="0"/>
                <a:ea typeface="Arial" pitchFamily="34" charset="-122"/>
                <a:cs typeface="Arial" pitchFamily="34" charset="-120"/>
              </a:rPr>
              <a:t>The point: a precise spec is a precise prompt.</a:t>
            </a:r>
            <a:endParaRPr lang="en-US" sz="1400" dirty="0"/>
          </a:p>
          <a:p>
            <a:pPr marL="0" indent="0" algn="ctr">
              <a:buNone/>
            </a:pPr>
            <a:r>
              <a:rPr lang="en-US" sz="1400" i="1" dirty="0">
                <a:solidFill>
                  <a:srgbClr val="6B7280"/>
                </a:solidFill>
                <a:latin typeface="Arial" pitchFamily="34" charset="0"/>
                <a:ea typeface="Arial" pitchFamily="34" charset="-122"/>
                <a:cs typeface="Arial" pitchFamily="34" charset="-120"/>
              </a:rPr>
              <a:t>Better spec → better code, every time.</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20">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Exercise 4 — Run the baseline</a:t>
            </a:r>
            <a:endParaRPr lang="en-US" sz="3200" dirty="0"/>
          </a:p>
        </p:txBody>
      </p:sp>
      <p:sp>
        <p:nvSpPr>
          <p:cNvPr id="5" name="Text 3"/>
          <p:cNvSpPr/>
          <p:nvPr/>
        </p:nvSpPr>
        <p:spPr>
          <a:xfrm>
            <a:off x="457200" y="1188720"/>
            <a:ext cx="8229600" cy="365760"/>
          </a:xfrm>
          <a:prstGeom prst="rect">
            <a:avLst/>
          </a:prstGeom>
          <a:noFill/>
          <a:ln/>
        </p:spPr>
        <p:txBody>
          <a:bodyPr wrap="square" rtlCol="0" anchor="ctr"/>
          <a:lstStyle/>
          <a:p>
            <a:pPr marL="0" indent="0">
              <a:buNone/>
            </a:pPr>
            <a:r>
              <a:rPr lang="en-US" sz="1600" dirty="0">
                <a:solidFill>
                  <a:srgbClr val="6B7280"/>
                </a:solidFill>
                <a:latin typeface="Arial" pitchFamily="34" charset="0"/>
                <a:ea typeface="Arial" pitchFamily="34" charset="-122"/>
                <a:cs typeface="Arial" pitchFamily="34" charset="-120"/>
              </a:rPr>
              <a:t>Run the baseline scenario at 50 replications. Read three signals:</a:t>
            </a:r>
            <a:endParaRPr lang="en-US" sz="1600" dirty="0"/>
          </a:p>
        </p:txBody>
      </p:sp>
      <p:sp>
        <p:nvSpPr>
          <p:cNvPr id="6" name="Shape 4"/>
          <p:cNvSpPr/>
          <p:nvPr/>
        </p:nvSpPr>
        <p:spPr>
          <a:xfrm>
            <a:off x="640080" y="1783080"/>
            <a:ext cx="73152" cy="640080"/>
          </a:xfrm>
          <a:prstGeom prst="rect">
            <a:avLst/>
          </a:prstGeom>
          <a:solidFill>
            <a:srgbClr val="4A6FA5"/>
          </a:solidFill>
          <a:ln w="12700">
            <a:solidFill>
              <a:srgbClr val="4A6FA5"/>
            </a:solidFill>
            <a:prstDash val="solid"/>
          </a:ln>
        </p:spPr>
        <p:txBody>
          <a:bodyPr/>
          <a:lstStyle/>
          <a:p>
            <a:endParaRPr lang="en-US"/>
          </a:p>
        </p:txBody>
      </p:sp>
      <p:sp>
        <p:nvSpPr>
          <p:cNvPr id="7" name="Text 5"/>
          <p:cNvSpPr/>
          <p:nvPr/>
        </p:nvSpPr>
        <p:spPr>
          <a:xfrm>
            <a:off x="868680" y="1783080"/>
            <a:ext cx="7772400" cy="320040"/>
          </a:xfrm>
          <a:prstGeom prst="rect">
            <a:avLst/>
          </a:prstGeom>
          <a:noFill/>
          <a:ln/>
        </p:spPr>
        <p:txBody>
          <a:bodyPr wrap="square" rtlCol="0" anchor="ctr"/>
          <a:lstStyle/>
          <a:p>
            <a:pPr marL="0" indent="0">
              <a:buNone/>
            </a:pPr>
            <a:r>
              <a:rPr lang="en-US" sz="1600" b="1" dirty="0">
                <a:solidFill>
                  <a:srgbClr val="1A1A2E"/>
                </a:solidFill>
                <a:latin typeface="Arial" pitchFamily="34" charset="0"/>
                <a:ea typeface="Arial" pitchFamily="34" charset="-122"/>
                <a:cs typeface="Arial" pitchFamily="34" charset="-120"/>
              </a:rPr>
              <a:t>Mean wait ≈ 2 min</a:t>
            </a:r>
            <a:endParaRPr lang="en-US" sz="1600" dirty="0"/>
          </a:p>
        </p:txBody>
      </p:sp>
      <p:sp>
        <p:nvSpPr>
          <p:cNvPr id="8" name="Text 6"/>
          <p:cNvSpPr/>
          <p:nvPr/>
        </p:nvSpPr>
        <p:spPr>
          <a:xfrm>
            <a:off x="868680" y="2103120"/>
            <a:ext cx="7772400" cy="320040"/>
          </a:xfrm>
          <a:prstGeom prst="rect">
            <a:avLst/>
          </a:prstGeom>
          <a:noFill/>
          <a:ln/>
        </p:spPr>
        <p:txBody>
          <a:bodyPr wrap="square" rtlCol="0" anchor="ctr"/>
          <a:lstStyle/>
          <a:p>
            <a:pPr marL="0" indent="0">
              <a:buNone/>
            </a:pPr>
            <a:r>
              <a:rPr lang="en-US" sz="1300" dirty="0">
                <a:solidFill>
                  <a:srgbClr val="6B7280"/>
                </a:solidFill>
                <a:latin typeface="Arial" pitchFamily="34" charset="0"/>
                <a:ea typeface="Arial" pitchFamily="34" charset="-122"/>
                <a:cs typeface="Arial" pitchFamily="34" charset="-120"/>
              </a:rPr>
              <a:t>Sounds fine. Hides the actual problem.</a:t>
            </a:r>
            <a:endParaRPr lang="en-US" sz="1300" dirty="0"/>
          </a:p>
        </p:txBody>
      </p:sp>
      <p:sp>
        <p:nvSpPr>
          <p:cNvPr id="9" name="Shape 7"/>
          <p:cNvSpPr/>
          <p:nvPr/>
        </p:nvSpPr>
        <p:spPr>
          <a:xfrm>
            <a:off x="640080" y="2560320"/>
            <a:ext cx="73152" cy="640080"/>
          </a:xfrm>
          <a:prstGeom prst="rect">
            <a:avLst/>
          </a:prstGeom>
          <a:solidFill>
            <a:srgbClr val="4A6FA5"/>
          </a:solidFill>
          <a:ln w="12700">
            <a:solidFill>
              <a:srgbClr val="4A6FA5"/>
            </a:solidFill>
            <a:prstDash val="solid"/>
          </a:ln>
        </p:spPr>
        <p:txBody>
          <a:bodyPr/>
          <a:lstStyle/>
          <a:p>
            <a:endParaRPr lang="en-US"/>
          </a:p>
        </p:txBody>
      </p:sp>
      <p:sp>
        <p:nvSpPr>
          <p:cNvPr id="10" name="Text 8"/>
          <p:cNvSpPr/>
          <p:nvPr/>
        </p:nvSpPr>
        <p:spPr>
          <a:xfrm>
            <a:off x="868680" y="2560320"/>
            <a:ext cx="7772400" cy="320040"/>
          </a:xfrm>
          <a:prstGeom prst="rect">
            <a:avLst/>
          </a:prstGeom>
          <a:noFill/>
          <a:ln/>
        </p:spPr>
        <p:txBody>
          <a:bodyPr wrap="square" rtlCol="0" anchor="ctr"/>
          <a:lstStyle/>
          <a:p>
            <a:pPr marL="0" indent="0">
              <a:buNone/>
            </a:pPr>
            <a:r>
              <a:rPr lang="en-US" sz="1600" b="1" dirty="0">
                <a:solidFill>
                  <a:srgbClr val="1A1A2E"/>
                </a:solidFill>
                <a:latin typeface="Arial" pitchFamily="34" charset="0"/>
                <a:ea typeface="Arial" pitchFamily="34" charset="-122"/>
                <a:cs typeface="Arial" pitchFamily="34" charset="-120"/>
              </a:rPr>
              <a:t>P90 wait ≈ 6.4 min</a:t>
            </a:r>
            <a:endParaRPr lang="en-US" sz="1600" dirty="0"/>
          </a:p>
        </p:txBody>
      </p:sp>
      <p:sp>
        <p:nvSpPr>
          <p:cNvPr id="11" name="Text 9"/>
          <p:cNvSpPr/>
          <p:nvPr/>
        </p:nvSpPr>
        <p:spPr>
          <a:xfrm>
            <a:off x="868680" y="2880360"/>
            <a:ext cx="7772400" cy="320040"/>
          </a:xfrm>
          <a:prstGeom prst="rect">
            <a:avLst/>
          </a:prstGeom>
          <a:noFill/>
          <a:ln/>
        </p:spPr>
        <p:txBody>
          <a:bodyPr wrap="square" rtlCol="0" anchor="ctr"/>
          <a:lstStyle/>
          <a:p>
            <a:pPr marL="0" indent="0">
              <a:buNone/>
            </a:pPr>
            <a:r>
              <a:rPr lang="en-US" sz="1300" dirty="0">
                <a:solidFill>
                  <a:srgbClr val="6B7280"/>
                </a:solidFill>
                <a:latin typeface="Arial" pitchFamily="34" charset="0"/>
                <a:ea typeface="Arial" pitchFamily="34" charset="-122"/>
                <a:cs typeface="Arial" pitchFamily="34" charset="-120"/>
              </a:rPr>
              <a:t>The customer behind the complicated order. This is what people feel.</a:t>
            </a:r>
            <a:endParaRPr lang="en-US" sz="1300" dirty="0"/>
          </a:p>
        </p:txBody>
      </p:sp>
      <p:sp>
        <p:nvSpPr>
          <p:cNvPr id="12" name="Shape 10"/>
          <p:cNvSpPr/>
          <p:nvPr/>
        </p:nvSpPr>
        <p:spPr>
          <a:xfrm>
            <a:off x="640080" y="3337560"/>
            <a:ext cx="73152" cy="640080"/>
          </a:xfrm>
          <a:prstGeom prst="rect">
            <a:avLst/>
          </a:prstGeom>
          <a:solidFill>
            <a:srgbClr val="4A6FA5"/>
          </a:solidFill>
          <a:ln w="12700">
            <a:solidFill>
              <a:srgbClr val="4A6FA5"/>
            </a:solidFill>
            <a:prstDash val="solid"/>
          </a:ln>
        </p:spPr>
        <p:txBody>
          <a:bodyPr/>
          <a:lstStyle/>
          <a:p>
            <a:endParaRPr lang="en-US"/>
          </a:p>
        </p:txBody>
      </p:sp>
      <p:sp>
        <p:nvSpPr>
          <p:cNvPr id="13" name="Text 11"/>
          <p:cNvSpPr/>
          <p:nvPr/>
        </p:nvSpPr>
        <p:spPr>
          <a:xfrm>
            <a:off x="868680" y="3337560"/>
            <a:ext cx="7772400" cy="320040"/>
          </a:xfrm>
          <a:prstGeom prst="rect">
            <a:avLst/>
          </a:prstGeom>
          <a:noFill/>
          <a:ln/>
        </p:spPr>
        <p:txBody>
          <a:bodyPr wrap="square" rtlCol="0" anchor="ctr"/>
          <a:lstStyle/>
          <a:p>
            <a:pPr marL="0" indent="0">
              <a:buNone/>
            </a:pPr>
            <a:r>
              <a:rPr lang="en-US" sz="1600" b="1" dirty="0">
                <a:solidFill>
                  <a:srgbClr val="1A1A2E"/>
                </a:solidFill>
                <a:latin typeface="Arial" pitchFamily="34" charset="0"/>
                <a:ea typeface="Arial" pitchFamily="34" charset="-122"/>
                <a:cs typeface="Arial" pitchFamily="34" charset="-120"/>
              </a:rPr>
              <a:t>Walkaway rate ≈ 0.9%</a:t>
            </a:r>
            <a:endParaRPr lang="en-US" sz="1600" dirty="0"/>
          </a:p>
        </p:txBody>
      </p:sp>
      <p:sp>
        <p:nvSpPr>
          <p:cNvPr id="14" name="Text 12"/>
          <p:cNvSpPr/>
          <p:nvPr/>
        </p:nvSpPr>
        <p:spPr>
          <a:xfrm>
            <a:off x="868680" y="3657600"/>
            <a:ext cx="7772400" cy="320040"/>
          </a:xfrm>
          <a:prstGeom prst="rect">
            <a:avLst/>
          </a:prstGeom>
          <a:noFill/>
          <a:ln/>
        </p:spPr>
        <p:txBody>
          <a:bodyPr wrap="square" rtlCol="0" anchor="ctr"/>
          <a:lstStyle/>
          <a:p>
            <a:pPr marL="0" indent="0">
              <a:buNone/>
            </a:pPr>
            <a:r>
              <a:rPr lang="en-US" sz="1300" dirty="0">
                <a:solidFill>
                  <a:srgbClr val="6B7280"/>
                </a:solidFill>
                <a:latin typeface="Arial" pitchFamily="34" charset="0"/>
                <a:ea typeface="Arial" pitchFamily="34" charset="-122"/>
                <a:cs typeface="Arial" pitchFamily="34" charset="-120"/>
              </a:rPr>
              <a:t>Lower than the owner expected. Not the main pain point.</a:t>
            </a:r>
            <a:endParaRPr lang="en-US" sz="1300" dirty="0"/>
          </a:p>
        </p:txBody>
      </p:sp>
      <p:sp>
        <p:nvSpPr>
          <p:cNvPr id="15" name="Text 13"/>
          <p:cNvSpPr/>
          <p:nvPr/>
        </p:nvSpPr>
        <p:spPr>
          <a:xfrm>
            <a:off x="457200" y="4160520"/>
            <a:ext cx="8229600" cy="365760"/>
          </a:xfrm>
          <a:prstGeom prst="rect">
            <a:avLst/>
          </a:prstGeom>
          <a:noFill/>
          <a:ln/>
        </p:spPr>
        <p:txBody>
          <a:bodyPr wrap="square" rtlCol="0" anchor="ctr"/>
          <a:lstStyle/>
          <a:p>
            <a:pPr marL="0" indent="0" algn="ctr">
              <a:buNone/>
            </a:pPr>
            <a:r>
              <a:rPr lang="en-US" sz="1300" i="1" dirty="0">
                <a:solidFill>
                  <a:srgbClr val="B85042"/>
                </a:solidFill>
                <a:latin typeface="Arial" pitchFamily="34" charset="0"/>
                <a:ea typeface="Arial" pitchFamily="34" charset="-122"/>
                <a:cs typeface="Arial" pitchFamily="34" charset="-120"/>
              </a:rPr>
              <a:t>Discussion: where is the actual customer-experience problem?</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21">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Validation — Template C</a:t>
            </a:r>
            <a:endParaRPr lang="en-US" sz="3200" dirty="0"/>
          </a:p>
        </p:txBody>
      </p:sp>
      <p:sp>
        <p:nvSpPr>
          <p:cNvPr id="4" name="Text 2"/>
          <p:cNvSpPr/>
          <p:nvPr/>
        </p:nvSpPr>
        <p:spPr>
          <a:xfrm>
            <a:off x="5943600" y="164592"/>
            <a:ext cx="274320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Block 5 · 15 min</a:t>
            </a:r>
            <a:endParaRPr lang="en-US" sz="1000" dirty="0"/>
          </a:p>
        </p:txBody>
      </p:sp>
      <p:sp>
        <p:nvSpPr>
          <p:cNvPr id="5" name="Text 3"/>
          <p:cNvSpPr/>
          <p:nvPr/>
        </p:nvSpPr>
        <p:spPr>
          <a:xfrm>
            <a:off x="457200" y="1188720"/>
            <a:ext cx="8229600" cy="365760"/>
          </a:xfrm>
          <a:prstGeom prst="rect">
            <a:avLst/>
          </a:prstGeom>
          <a:noFill/>
          <a:ln/>
        </p:spPr>
        <p:txBody>
          <a:bodyPr wrap="square" rtlCol="0" anchor="ctr"/>
          <a:lstStyle/>
          <a:p>
            <a:pPr marL="0" indent="0" algn="ctr">
              <a:buNone/>
            </a:pPr>
            <a:r>
              <a:rPr lang="en-US" sz="1600" i="1" dirty="0">
                <a:solidFill>
                  <a:srgbClr val="6B7280"/>
                </a:solidFill>
                <a:latin typeface="Arial" pitchFamily="34" charset="0"/>
                <a:ea typeface="Arial" pitchFamily="34" charset="-122"/>
                <a:cs typeface="Arial" pitchFamily="34" charset="-120"/>
              </a:rPr>
              <a:t>A simulation that runs is not the same as a simulation that's right.</a:t>
            </a:r>
            <a:endParaRPr lang="en-US" sz="1600" dirty="0"/>
          </a:p>
        </p:txBody>
      </p:sp>
      <p:sp>
        <p:nvSpPr>
          <p:cNvPr id="6" name="Shape 4"/>
          <p:cNvSpPr/>
          <p:nvPr/>
        </p:nvSpPr>
        <p:spPr>
          <a:xfrm>
            <a:off x="548640" y="1828800"/>
            <a:ext cx="3931920" cy="1325880"/>
          </a:xfrm>
          <a:prstGeom prst="rect">
            <a:avLst/>
          </a:prstGeom>
          <a:solidFill>
            <a:srgbClr val="FFFFFF"/>
          </a:solidFill>
          <a:ln w="12700">
            <a:solidFill>
              <a:srgbClr val="E5E7EB"/>
            </a:solidFill>
            <a:prstDash val="solid"/>
          </a:ln>
        </p:spPr>
        <p:txBody>
          <a:bodyPr/>
          <a:lstStyle/>
          <a:p>
            <a:endParaRPr lang="en-US"/>
          </a:p>
        </p:txBody>
      </p:sp>
      <p:sp>
        <p:nvSpPr>
          <p:cNvPr id="7" name="Shape 5"/>
          <p:cNvSpPr/>
          <p:nvPr/>
        </p:nvSpPr>
        <p:spPr>
          <a:xfrm>
            <a:off x="548640" y="1828800"/>
            <a:ext cx="73152" cy="1325880"/>
          </a:xfrm>
          <a:prstGeom prst="rect">
            <a:avLst/>
          </a:prstGeom>
          <a:solidFill>
            <a:srgbClr val="4A6FA5"/>
          </a:solidFill>
          <a:ln w="12700">
            <a:solidFill>
              <a:srgbClr val="4A6FA5"/>
            </a:solidFill>
            <a:prstDash val="solid"/>
          </a:ln>
        </p:spPr>
        <p:txBody>
          <a:bodyPr/>
          <a:lstStyle/>
          <a:p>
            <a:endParaRPr lang="en-US"/>
          </a:p>
        </p:txBody>
      </p:sp>
      <p:sp>
        <p:nvSpPr>
          <p:cNvPr id="8" name="Text 6"/>
          <p:cNvSpPr/>
          <p:nvPr/>
        </p:nvSpPr>
        <p:spPr>
          <a:xfrm>
            <a:off x="777240" y="1965960"/>
            <a:ext cx="35661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Verify spec compliance</a:t>
            </a:r>
            <a:endParaRPr lang="en-US" sz="1600" dirty="0"/>
          </a:p>
        </p:txBody>
      </p:sp>
      <p:sp>
        <p:nvSpPr>
          <p:cNvPr id="9" name="Text 7"/>
          <p:cNvSpPr/>
          <p:nvPr/>
        </p:nvSpPr>
        <p:spPr>
          <a:xfrm>
            <a:off x="777240" y="2377440"/>
            <a:ext cx="3566160" cy="68580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Does the code do what the spec says? LLM-assisted.</a:t>
            </a:r>
            <a:endParaRPr lang="en-US" sz="1200" dirty="0"/>
          </a:p>
        </p:txBody>
      </p:sp>
      <p:sp>
        <p:nvSpPr>
          <p:cNvPr id="10" name="Shape 8"/>
          <p:cNvSpPr/>
          <p:nvPr/>
        </p:nvSpPr>
        <p:spPr>
          <a:xfrm>
            <a:off x="4663440" y="1828800"/>
            <a:ext cx="3931920" cy="1325880"/>
          </a:xfrm>
          <a:prstGeom prst="rect">
            <a:avLst/>
          </a:prstGeom>
          <a:solidFill>
            <a:srgbClr val="FFFFFF"/>
          </a:solidFill>
          <a:ln w="12700">
            <a:solidFill>
              <a:srgbClr val="E5E7EB"/>
            </a:solidFill>
            <a:prstDash val="solid"/>
          </a:ln>
        </p:spPr>
        <p:txBody>
          <a:bodyPr/>
          <a:lstStyle/>
          <a:p>
            <a:endParaRPr lang="en-US"/>
          </a:p>
        </p:txBody>
      </p:sp>
      <p:sp>
        <p:nvSpPr>
          <p:cNvPr id="11" name="Shape 9"/>
          <p:cNvSpPr/>
          <p:nvPr/>
        </p:nvSpPr>
        <p:spPr>
          <a:xfrm>
            <a:off x="4663440" y="1828800"/>
            <a:ext cx="73152" cy="1325880"/>
          </a:xfrm>
          <a:prstGeom prst="rect">
            <a:avLst/>
          </a:prstGeom>
          <a:solidFill>
            <a:srgbClr val="4A6FA5"/>
          </a:solidFill>
          <a:ln w="12700">
            <a:solidFill>
              <a:srgbClr val="4A6FA5"/>
            </a:solidFill>
            <a:prstDash val="solid"/>
          </a:ln>
        </p:spPr>
        <p:txBody>
          <a:bodyPr/>
          <a:lstStyle/>
          <a:p>
            <a:endParaRPr lang="en-US"/>
          </a:p>
        </p:txBody>
      </p:sp>
      <p:sp>
        <p:nvSpPr>
          <p:cNvPr id="12" name="Text 10"/>
          <p:cNvSpPr/>
          <p:nvPr/>
        </p:nvSpPr>
        <p:spPr>
          <a:xfrm>
            <a:off x="4892040" y="1965960"/>
            <a:ext cx="35661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Internal consistency</a:t>
            </a:r>
            <a:endParaRPr lang="en-US" sz="1600" dirty="0"/>
          </a:p>
        </p:txBody>
      </p:sp>
      <p:sp>
        <p:nvSpPr>
          <p:cNvPr id="13" name="Text 11"/>
          <p:cNvSpPr/>
          <p:nvPr/>
        </p:nvSpPr>
        <p:spPr>
          <a:xfrm>
            <a:off x="4892040" y="2377440"/>
            <a:ext cx="3566160" cy="68580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Warm-up handling, replication counts, no negative durations.</a:t>
            </a:r>
            <a:endParaRPr lang="en-US" sz="1200" dirty="0"/>
          </a:p>
        </p:txBody>
      </p:sp>
      <p:sp>
        <p:nvSpPr>
          <p:cNvPr id="14" name="Shape 12"/>
          <p:cNvSpPr/>
          <p:nvPr/>
        </p:nvSpPr>
        <p:spPr>
          <a:xfrm>
            <a:off x="548640" y="3337560"/>
            <a:ext cx="3931920" cy="1325880"/>
          </a:xfrm>
          <a:prstGeom prst="rect">
            <a:avLst/>
          </a:prstGeom>
          <a:solidFill>
            <a:srgbClr val="FFFFFF"/>
          </a:solidFill>
          <a:ln w="12700">
            <a:solidFill>
              <a:srgbClr val="E5E7EB"/>
            </a:solidFill>
            <a:prstDash val="solid"/>
          </a:ln>
        </p:spPr>
        <p:txBody>
          <a:bodyPr/>
          <a:lstStyle/>
          <a:p>
            <a:endParaRPr lang="en-US"/>
          </a:p>
        </p:txBody>
      </p:sp>
      <p:sp>
        <p:nvSpPr>
          <p:cNvPr id="15" name="Shape 13"/>
          <p:cNvSpPr/>
          <p:nvPr/>
        </p:nvSpPr>
        <p:spPr>
          <a:xfrm>
            <a:off x="548640" y="3337560"/>
            <a:ext cx="73152" cy="1325880"/>
          </a:xfrm>
          <a:prstGeom prst="rect">
            <a:avLst/>
          </a:prstGeom>
          <a:solidFill>
            <a:srgbClr val="4A6FA5"/>
          </a:solidFill>
          <a:ln w="12700">
            <a:solidFill>
              <a:srgbClr val="4A6FA5"/>
            </a:solidFill>
            <a:prstDash val="solid"/>
          </a:ln>
        </p:spPr>
        <p:txBody>
          <a:bodyPr/>
          <a:lstStyle/>
          <a:p>
            <a:endParaRPr lang="en-US"/>
          </a:p>
        </p:txBody>
      </p:sp>
      <p:sp>
        <p:nvSpPr>
          <p:cNvPr id="16" name="Text 14"/>
          <p:cNvSpPr/>
          <p:nvPr/>
        </p:nvSpPr>
        <p:spPr>
          <a:xfrm>
            <a:off x="777240" y="3474720"/>
            <a:ext cx="35661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Reasonableness</a:t>
            </a:r>
            <a:endParaRPr lang="en-US" sz="1600" dirty="0"/>
          </a:p>
        </p:txBody>
      </p:sp>
      <p:sp>
        <p:nvSpPr>
          <p:cNvPr id="17" name="Text 15"/>
          <p:cNvSpPr/>
          <p:nvPr/>
        </p:nvSpPr>
        <p:spPr>
          <a:xfrm>
            <a:off x="777240" y="3886200"/>
            <a:ext cx="3566160" cy="68580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Sim utilization vs analytical M/M/c. Match the owner's experience.</a:t>
            </a:r>
            <a:endParaRPr lang="en-US" sz="1200" dirty="0"/>
          </a:p>
        </p:txBody>
      </p:sp>
      <p:sp>
        <p:nvSpPr>
          <p:cNvPr id="18" name="Shape 16"/>
          <p:cNvSpPr/>
          <p:nvPr/>
        </p:nvSpPr>
        <p:spPr>
          <a:xfrm>
            <a:off x="4663440" y="3337560"/>
            <a:ext cx="3931920" cy="1325880"/>
          </a:xfrm>
          <a:prstGeom prst="rect">
            <a:avLst/>
          </a:prstGeom>
          <a:solidFill>
            <a:srgbClr val="FFFFFF"/>
          </a:solidFill>
          <a:ln w="12700">
            <a:solidFill>
              <a:srgbClr val="E5E7EB"/>
            </a:solidFill>
            <a:prstDash val="solid"/>
          </a:ln>
        </p:spPr>
        <p:txBody>
          <a:bodyPr/>
          <a:lstStyle/>
          <a:p>
            <a:endParaRPr lang="en-US"/>
          </a:p>
        </p:txBody>
      </p:sp>
      <p:sp>
        <p:nvSpPr>
          <p:cNvPr id="19" name="Shape 17"/>
          <p:cNvSpPr/>
          <p:nvPr/>
        </p:nvSpPr>
        <p:spPr>
          <a:xfrm>
            <a:off x="4663440" y="3337560"/>
            <a:ext cx="73152" cy="1325880"/>
          </a:xfrm>
          <a:prstGeom prst="rect">
            <a:avLst/>
          </a:prstGeom>
          <a:solidFill>
            <a:srgbClr val="4A6FA5"/>
          </a:solidFill>
          <a:ln w="12700">
            <a:solidFill>
              <a:srgbClr val="4A6FA5"/>
            </a:solidFill>
            <a:prstDash val="solid"/>
          </a:ln>
        </p:spPr>
        <p:txBody>
          <a:bodyPr/>
          <a:lstStyle/>
          <a:p>
            <a:endParaRPr lang="en-US"/>
          </a:p>
        </p:txBody>
      </p:sp>
      <p:sp>
        <p:nvSpPr>
          <p:cNvPr id="20" name="Text 18"/>
          <p:cNvSpPr/>
          <p:nvPr/>
        </p:nvSpPr>
        <p:spPr>
          <a:xfrm>
            <a:off x="4892040" y="3474720"/>
            <a:ext cx="35661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Communication readiness</a:t>
            </a:r>
            <a:endParaRPr lang="en-US" sz="1600" dirty="0"/>
          </a:p>
        </p:txBody>
      </p:sp>
      <p:sp>
        <p:nvSpPr>
          <p:cNvPr id="21" name="Text 19"/>
          <p:cNvSpPr/>
          <p:nvPr/>
        </p:nvSpPr>
        <p:spPr>
          <a:xfrm>
            <a:off x="4892040" y="3886200"/>
            <a:ext cx="3566160" cy="68580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Probability statements and ranges, not standard deviations.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22">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The invisible-bug class</a:t>
            </a:r>
            <a:endParaRPr lang="en-US" sz="3200" dirty="0"/>
          </a:p>
        </p:txBody>
      </p:sp>
      <p:sp>
        <p:nvSpPr>
          <p:cNvPr id="4" name="Text 2"/>
          <p:cNvSpPr/>
          <p:nvPr/>
        </p:nvSpPr>
        <p:spPr>
          <a:xfrm>
            <a:off x="5943600" y="164592"/>
            <a:ext cx="274320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Block 5 · 15 min</a:t>
            </a:r>
            <a:endParaRPr lang="en-US" sz="1000" dirty="0"/>
          </a:p>
        </p:txBody>
      </p:sp>
      <p:sp>
        <p:nvSpPr>
          <p:cNvPr id="5" name="Text 3"/>
          <p:cNvSpPr/>
          <p:nvPr/>
        </p:nvSpPr>
        <p:spPr>
          <a:xfrm>
            <a:off x="457200" y="1188720"/>
            <a:ext cx="8229600" cy="365760"/>
          </a:xfrm>
          <a:prstGeom prst="rect">
            <a:avLst/>
          </a:prstGeom>
          <a:noFill/>
          <a:ln/>
        </p:spPr>
        <p:txBody>
          <a:bodyPr wrap="square" rtlCol="0" anchor="ctr"/>
          <a:lstStyle/>
          <a:p>
            <a:pPr marL="0" indent="0" algn="ctr">
              <a:buNone/>
            </a:pPr>
            <a:r>
              <a:rPr lang="en-US" sz="1400" i="1" dirty="0">
                <a:solidFill>
                  <a:srgbClr val="6B7280"/>
                </a:solidFill>
                <a:latin typeface="Arial" pitchFamily="34" charset="0"/>
                <a:ea typeface="Arial" pitchFamily="34" charset="-122"/>
                <a:cs typeface="Arial" pitchFamily="34" charset="-120"/>
              </a:rPr>
              <a:t>Same simulation. Two implementations. Spot the difference.</a:t>
            </a:r>
            <a:endParaRPr lang="en-US" sz="1400" dirty="0"/>
          </a:p>
        </p:txBody>
      </p:sp>
      <p:sp>
        <p:nvSpPr>
          <p:cNvPr id="6" name="Shape 4"/>
          <p:cNvSpPr/>
          <p:nvPr/>
        </p:nvSpPr>
        <p:spPr>
          <a:xfrm>
            <a:off x="640080" y="1691640"/>
            <a:ext cx="3200400" cy="411480"/>
          </a:xfrm>
          <a:prstGeom prst="rect">
            <a:avLst/>
          </a:prstGeom>
          <a:solidFill>
            <a:srgbClr val="4A6FA5"/>
          </a:solidFill>
          <a:ln w="12700">
            <a:solidFill>
              <a:srgbClr val="4A6FA5"/>
            </a:solidFill>
            <a:prstDash val="solid"/>
          </a:ln>
        </p:spPr>
        <p:txBody>
          <a:bodyPr/>
          <a:lstStyle/>
          <a:p>
            <a:endParaRPr lang="en-US"/>
          </a:p>
        </p:txBody>
      </p:sp>
      <p:sp>
        <p:nvSpPr>
          <p:cNvPr id="7" name="Text 5"/>
          <p:cNvSpPr/>
          <p:nvPr/>
        </p:nvSpPr>
        <p:spPr>
          <a:xfrm>
            <a:off x="731520" y="1691640"/>
            <a:ext cx="3017520" cy="41148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Metric</a:t>
            </a:r>
            <a:endParaRPr lang="en-US" sz="1300" dirty="0"/>
          </a:p>
        </p:txBody>
      </p:sp>
      <p:sp>
        <p:nvSpPr>
          <p:cNvPr id="8" name="Shape 6"/>
          <p:cNvSpPr/>
          <p:nvPr/>
        </p:nvSpPr>
        <p:spPr>
          <a:xfrm>
            <a:off x="3840480" y="1691640"/>
            <a:ext cx="2377440" cy="411480"/>
          </a:xfrm>
          <a:prstGeom prst="rect">
            <a:avLst/>
          </a:prstGeom>
          <a:solidFill>
            <a:srgbClr val="4A6FA5"/>
          </a:solidFill>
          <a:ln w="12700">
            <a:solidFill>
              <a:srgbClr val="4A6FA5"/>
            </a:solidFill>
            <a:prstDash val="solid"/>
          </a:ln>
        </p:spPr>
        <p:txBody>
          <a:bodyPr/>
          <a:lstStyle/>
          <a:p>
            <a:endParaRPr lang="en-US"/>
          </a:p>
        </p:txBody>
      </p:sp>
      <p:sp>
        <p:nvSpPr>
          <p:cNvPr id="9" name="Text 7"/>
          <p:cNvSpPr/>
          <p:nvPr/>
        </p:nvSpPr>
        <p:spPr>
          <a:xfrm>
            <a:off x="3931920" y="1691640"/>
            <a:ext cx="2194560" cy="41148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Spec-compliant</a:t>
            </a:r>
            <a:endParaRPr lang="en-US" sz="1300" dirty="0"/>
          </a:p>
        </p:txBody>
      </p:sp>
      <p:sp>
        <p:nvSpPr>
          <p:cNvPr id="10" name="Shape 8"/>
          <p:cNvSpPr/>
          <p:nvPr/>
        </p:nvSpPr>
        <p:spPr>
          <a:xfrm>
            <a:off x="6217920" y="1691640"/>
            <a:ext cx="2377440" cy="411480"/>
          </a:xfrm>
          <a:prstGeom prst="rect">
            <a:avLst/>
          </a:prstGeom>
          <a:solidFill>
            <a:srgbClr val="4A6FA5"/>
          </a:solidFill>
          <a:ln w="12700">
            <a:solidFill>
              <a:srgbClr val="4A6FA5"/>
            </a:solidFill>
            <a:prstDash val="solid"/>
          </a:ln>
        </p:spPr>
        <p:txBody>
          <a:bodyPr/>
          <a:lstStyle/>
          <a:p>
            <a:endParaRPr lang="en-US"/>
          </a:p>
        </p:txBody>
      </p:sp>
      <p:sp>
        <p:nvSpPr>
          <p:cNvPr id="11" name="Text 9"/>
          <p:cNvSpPr/>
          <p:nvPr/>
        </p:nvSpPr>
        <p:spPr>
          <a:xfrm>
            <a:off x="6309360" y="1691640"/>
            <a:ext cx="2194560" cy="41148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Buggy</a:t>
            </a:r>
            <a:endParaRPr lang="en-US" sz="1300" dirty="0"/>
          </a:p>
        </p:txBody>
      </p:sp>
      <p:sp>
        <p:nvSpPr>
          <p:cNvPr id="12" name="Shape 10"/>
          <p:cNvSpPr/>
          <p:nvPr/>
        </p:nvSpPr>
        <p:spPr>
          <a:xfrm>
            <a:off x="640080" y="2103120"/>
            <a:ext cx="3200400" cy="411480"/>
          </a:xfrm>
          <a:prstGeom prst="rect">
            <a:avLst/>
          </a:prstGeom>
          <a:solidFill>
            <a:srgbClr val="FFFFFF"/>
          </a:solidFill>
          <a:ln w="12700">
            <a:solidFill>
              <a:srgbClr val="E5E7EB"/>
            </a:solidFill>
            <a:prstDash val="solid"/>
          </a:ln>
        </p:spPr>
        <p:txBody>
          <a:bodyPr/>
          <a:lstStyle/>
          <a:p>
            <a:endParaRPr lang="en-US"/>
          </a:p>
        </p:txBody>
      </p:sp>
      <p:sp>
        <p:nvSpPr>
          <p:cNvPr id="13" name="Text 11"/>
          <p:cNvSpPr/>
          <p:nvPr/>
        </p:nvSpPr>
        <p:spPr>
          <a:xfrm>
            <a:off x="731520" y="2103120"/>
            <a:ext cx="3017520" cy="411480"/>
          </a:xfrm>
          <a:prstGeom prst="rect">
            <a:avLst/>
          </a:prstGeom>
          <a:noFill/>
          <a:ln/>
        </p:spPr>
        <p:txBody>
          <a:bodyPr wrap="square" rtlCol="0" anchor="ctr"/>
          <a:lstStyle/>
          <a:p>
            <a:pPr marL="0" indent="0" algn="l">
              <a:buNone/>
            </a:pPr>
            <a:r>
              <a:rPr lang="en-US" sz="1300" dirty="0">
                <a:solidFill>
                  <a:srgbClr val="1A1A2E"/>
                </a:solidFill>
                <a:latin typeface="Arial" pitchFamily="34" charset="0"/>
                <a:ea typeface="Arial" pitchFamily="34" charset="-122"/>
                <a:cs typeface="Arial" pitchFamily="34" charset="-120"/>
              </a:rPr>
              <a:t>Mean wait (min)</a:t>
            </a:r>
            <a:endParaRPr lang="en-US" sz="1300" dirty="0"/>
          </a:p>
        </p:txBody>
      </p:sp>
      <p:sp>
        <p:nvSpPr>
          <p:cNvPr id="14" name="Shape 12"/>
          <p:cNvSpPr/>
          <p:nvPr/>
        </p:nvSpPr>
        <p:spPr>
          <a:xfrm>
            <a:off x="3840480" y="2103120"/>
            <a:ext cx="2377440" cy="411480"/>
          </a:xfrm>
          <a:prstGeom prst="rect">
            <a:avLst/>
          </a:prstGeom>
          <a:solidFill>
            <a:srgbClr val="FFFFFF"/>
          </a:solidFill>
          <a:ln w="12700">
            <a:solidFill>
              <a:srgbClr val="E5E7EB"/>
            </a:solidFill>
            <a:prstDash val="solid"/>
          </a:ln>
        </p:spPr>
        <p:txBody>
          <a:bodyPr/>
          <a:lstStyle/>
          <a:p>
            <a:endParaRPr lang="en-US"/>
          </a:p>
        </p:txBody>
      </p:sp>
      <p:sp>
        <p:nvSpPr>
          <p:cNvPr id="15" name="Text 13"/>
          <p:cNvSpPr/>
          <p:nvPr/>
        </p:nvSpPr>
        <p:spPr>
          <a:xfrm>
            <a:off x="3931920" y="2103120"/>
            <a:ext cx="2194560" cy="411480"/>
          </a:xfrm>
          <a:prstGeom prst="rect">
            <a:avLst/>
          </a:prstGeom>
          <a:noFill/>
          <a:ln/>
        </p:spPr>
        <p:txBody>
          <a:bodyPr wrap="square" rtlCol="0" anchor="ctr"/>
          <a:lstStyle/>
          <a:p>
            <a:pPr marL="0" indent="0" algn="ctr">
              <a:buNone/>
            </a:pPr>
            <a:r>
              <a:rPr lang="en-US" sz="1300" dirty="0">
                <a:solidFill>
                  <a:srgbClr val="1A1A2E"/>
                </a:solidFill>
                <a:latin typeface="Arial" pitchFamily="34" charset="0"/>
                <a:ea typeface="Arial" pitchFamily="34" charset="-122"/>
                <a:cs typeface="Arial" pitchFamily="34" charset="-120"/>
              </a:rPr>
              <a:t>1.99</a:t>
            </a:r>
            <a:endParaRPr lang="en-US" sz="1300" dirty="0"/>
          </a:p>
        </p:txBody>
      </p:sp>
      <p:sp>
        <p:nvSpPr>
          <p:cNvPr id="16" name="Shape 14"/>
          <p:cNvSpPr/>
          <p:nvPr/>
        </p:nvSpPr>
        <p:spPr>
          <a:xfrm>
            <a:off x="6217920" y="2103120"/>
            <a:ext cx="2377440" cy="411480"/>
          </a:xfrm>
          <a:prstGeom prst="rect">
            <a:avLst/>
          </a:prstGeom>
          <a:solidFill>
            <a:srgbClr val="FFFFFF"/>
          </a:solidFill>
          <a:ln w="12700">
            <a:solidFill>
              <a:srgbClr val="E5E7EB"/>
            </a:solidFill>
            <a:prstDash val="solid"/>
          </a:ln>
        </p:spPr>
        <p:txBody>
          <a:bodyPr/>
          <a:lstStyle/>
          <a:p>
            <a:endParaRPr lang="en-US"/>
          </a:p>
        </p:txBody>
      </p:sp>
      <p:sp>
        <p:nvSpPr>
          <p:cNvPr id="17" name="Text 15"/>
          <p:cNvSpPr/>
          <p:nvPr/>
        </p:nvSpPr>
        <p:spPr>
          <a:xfrm>
            <a:off x="6309360" y="2103120"/>
            <a:ext cx="2194560" cy="411480"/>
          </a:xfrm>
          <a:prstGeom prst="rect">
            <a:avLst/>
          </a:prstGeom>
          <a:noFill/>
          <a:ln/>
        </p:spPr>
        <p:txBody>
          <a:bodyPr wrap="square" rtlCol="0" anchor="ctr"/>
          <a:lstStyle/>
          <a:p>
            <a:pPr marL="0" indent="0" algn="ctr">
              <a:buNone/>
            </a:pPr>
            <a:r>
              <a:rPr lang="en-US" sz="1300" dirty="0">
                <a:solidFill>
                  <a:srgbClr val="1A1A2E"/>
                </a:solidFill>
                <a:latin typeface="Arial" pitchFamily="34" charset="0"/>
                <a:ea typeface="Arial" pitchFamily="34" charset="-122"/>
                <a:cs typeface="Arial" pitchFamily="34" charset="-120"/>
              </a:rPr>
              <a:t>1.89</a:t>
            </a:r>
            <a:endParaRPr lang="en-US" sz="1300" dirty="0"/>
          </a:p>
        </p:txBody>
      </p:sp>
      <p:sp>
        <p:nvSpPr>
          <p:cNvPr id="18" name="Shape 16"/>
          <p:cNvSpPr/>
          <p:nvPr/>
        </p:nvSpPr>
        <p:spPr>
          <a:xfrm>
            <a:off x="640080" y="2514600"/>
            <a:ext cx="3200400" cy="411480"/>
          </a:xfrm>
          <a:prstGeom prst="rect">
            <a:avLst/>
          </a:prstGeom>
          <a:solidFill>
            <a:srgbClr val="FAFAFA"/>
          </a:solidFill>
          <a:ln w="12700">
            <a:solidFill>
              <a:srgbClr val="E5E7EB"/>
            </a:solidFill>
            <a:prstDash val="solid"/>
          </a:ln>
        </p:spPr>
        <p:txBody>
          <a:bodyPr/>
          <a:lstStyle/>
          <a:p>
            <a:endParaRPr lang="en-US"/>
          </a:p>
        </p:txBody>
      </p:sp>
      <p:sp>
        <p:nvSpPr>
          <p:cNvPr id="19" name="Text 17"/>
          <p:cNvSpPr/>
          <p:nvPr/>
        </p:nvSpPr>
        <p:spPr>
          <a:xfrm>
            <a:off x="731520" y="2514600"/>
            <a:ext cx="3017520" cy="411480"/>
          </a:xfrm>
          <a:prstGeom prst="rect">
            <a:avLst/>
          </a:prstGeom>
          <a:noFill/>
          <a:ln/>
        </p:spPr>
        <p:txBody>
          <a:bodyPr wrap="square" rtlCol="0" anchor="ctr"/>
          <a:lstStyle/>
          <a:p>
            <a:pPr marL="0" indent="0" algn="l">
              <a:buNone/>
            </a:pPr>
            <a:r>
              <a:rPr lang="en-US" sz="1300" dirty="0">
                <a:solidFill>
                  <a:srgbClr val="1A1A2E"/>
                </a:solidFill>
                <a:latin typeface="Arial" pitchFamily="34" charset="0"/>
                <a:ea typeface="Arial" pitchFamily="34" charset="-122"/>
                <a:cs typeface="Arial" pitchFamily="34" charset="-120"/>
              </a:rPr>
              <a:t>P90 wait (min)</a:t>
            </a:r>
            <a:endParaRPr lang="en-US" sz="1300" dirty="0"/>
          </a:p>
        </p:txBody>
      </p:sp>
      <p:sp>
        <p:nvSpPr>
          <p:cNvPr id="20" name="Shape 18"/>
          <p:cNvSpPr/>
          <p:nvPr/>
        </p:nvSpPr>
        <p:spPr>
          <a:xfrm>
            <a:off x="3840480" y="2514600"/>
            <a:ext cx="2377440" cy="411480"/>
          </a:xfrm>
          <a:prstGeom prst="rect">
            <a:avLst/>
          </a:prstGeom>
          <a:solidFill>
            <a:srgbClr val="FAFAFA"/>
          </a:solidFill>
          <a:ln w="12700">
            <a:solidFill>
              <a:srgbClr val="E5E7EB"/>
            </a:solidFill>
            <a:prstDash val="solid"/>
          </a:ln>
        </p:spPr>
        <p:txBody>
          <a:bodyPr/>
          <a:lstStyle/>
          <a:p>
            <a:endParaRPr lang="en-US"/>
          </a:p>
        </p:txBody>
      </p:sp>
      <p:sp>
        <p:nvSpPr>
          <p:cNvPr id="21" name="Text 19"/>
          <p:cNvSpPr/>
          <p:nvPr/>
        </p:nvSpPr>
        <p:spPr>
          <a:xfrm>
            <a:off x="3931920" y="2514600"/>
            <a:ext cx="2194560" cy="411480"/>
          </a:xfrm>
          <a:prstGeom prst="rect">
            <a:avLst/>
          </a:prstGeom>
          <a:noFill/>
          <a:ln/>
        </p:spPr>
        <p:txBody>
          <a:bodyPr wrap="square" rtlCol="0" anchor="ctr"/>
          <a:lstStyle/>
          <a:p>
            <a:pPr marL="0" indent="0" algn="ctr">
              <a:buNone/>
            </a:pPr>
            <a:r>
              <a:rPr lang="en-US" sz="1300" dirty="0">
                <a:solidFill>
                  <a:srgbClr val="1A1A2E"/>
                </a:solidFill>
                <a:latin typeface="Arial" pitchFamily="34" charset="0"/>
                <a:ea typeface="Arial" pitchFamily="34" charset="-122"/>
                <a:cs typeface="Arial" pitchFamily="34" charset="-120"/>
              </a:rPr>
              <a:t>6.55</a:t>
            </a:r>
            <a:endParaRPr lang="en-US" sz="1300" dirty="0"/>
          </a:p>
        </p:txBody>
      </p:sp>
      <p:sp>
        <p:nvSpPr>
          <p:cNvPr id="22" name="Shape 20"/>
          <p:cNvSpPr/>
          <p:nvPr/>
        </p:nvSpPr>
        <p:spPr>
          <a:xfrm>
            <a:off x="6217920" y="2514600"/>
            <a:ext cx="2377440" cy="411480"/>
          </a:xfrm>
          <a:prstGeom prst="rect">
            <a:avLst/>
          </a:prstGeom>
          <a:solidFill>
            <a:srgbClr val="FAFAFA"/>
          </a:solidFill>
          <a:ln w="12700">
            <a:solidFill>
              <a:srgbClr val="E5E7EB"/>
            </a:solidFill>
            <a:prstDash val="solid"/>
          </a:ln>
        </p:spPr>
        <p:txBody>
          <a:bodyPr/>
          <a:lstStyle/>
          <a:p>
            <a:endParaRPr lang="en-US"/>
          </a:p>
        </p:txBody>
      </p:sp>
      <p:sp>
        <p:nvSpPr>
          <p:cNvPr id="23" name="Text 21"/>
          <p:cNvSpPr/>
          <p:nvPr/>
        </p:nvSpPr>
        <p:spPr>
          <a:xfrm>
            <a:off x="6309360" y="2514600"/>
            <a:ext cx="2194560" cy="411480"/>
          </a:xfrm>
          <a:prstGeom prst="rect">
            <a:avLst/>
          </a:prstGeom>
          <a:noFill/>
          <a:ln/>
        </p:spPr>
        <p:txBody>
          <a:bodyPr wrap="square" rtlCol="0" anchor="ctr"/>
          <a:lstStyle/>
          <a:p>
            <a:pPr marL="0" indent="0" algn="ctr">
              <a:buNone/>
            </a:pPr>
            <a:r>
              <a:rPr lang="en-US" sz="1300" dirty="0">
                <a:solidFill>
                  <a:srgbClr val="1A1A2E"/>
                </a:solidFill>
                <a:latin typeface="Arial" pitchFamily="34" charset="0"/>
                <a:ea typeface="Arial" pitchFamily="34" charset="-122"/>
                <a:cs typeface="Arial" pitchFamily="34" charset="-120"/>
              </a:rPr>
              <a:t>5.98</a:t>
            </a:r>
            <a:endParaRPr lang="en-US" sz="1300" dirty="0"/>
          </a:p>
        </p:txBody>
      </p:sp>
      <p:sp>
        <p:nvSpPr>
          <p:cNvPr id="24" name="Shape 22"/>
          <p:cNvSpPr/>
          <p:nvPr/>
        </p:nvSpPr>
        <p:spPr>
          <a:xfrm>
            <a:off x="640080" y="2926080"/>
            <a:ext cx="3200400" cy="411480"/>
          </a:xfrm>
          <a:prstGeom prst="rect">
            <a:avLst/>
          </a:prstGeom>
          <a:solidFill>
            <a:srgbClr val="FFFFFF"/>
          </a:solidFill>
          <a:ln w="12700">
            <a:solidFill>
              <a:srgbClr val="E5E7EB"/>
            </a:solidFill>
            <a:prstDash val="solid"/>
          </a:ln>
        </p:spPr>
        <p:txBody>
          <a:bodyPr/>
          <a:lstStyle/>
          <a:p>
            <a:endParaRPr lang="en-US"/>
          </a:p>
        </p:txBody>
      </p:sp>
      <p:sp>
        <p:nvSpPr>
          <p:cNvPr id="25" name="Text 23"/>
          <p:cNvSpPr/>
          <p:nvPr/>
        </p:nvSpPr>
        <p:spPr>
          <a:xfrm>
            <a:off x="731520" y="2926080"/>
            <a:ext cx="3017520" cy="411480"/>
          </a:xfrm>
          <a:prstGeom prst="rect">
            <a:avLst/>
          </a:prstGeom>
          <a:noFill/>
          <a:ln/>
        </p:spPr>
        <p:txBody>
          <a:bodyPr wrap="square" rtlCol="0" anchor="ctr"/>
          <a:lstStyle/>
          <a:p>
            <a:pPr marL="0" indent="0" algn="l">
              <a:buNone/>
            </a:pPr>
            <a:r>
              <a:rPr lang="en-US" sz="1300" dirty="0">
                <a:solidFill>
                  <a:srgbClr val="1A1A2E"/>
                </a:solidFill>
                <a:latin typeface="Arial" pitchFamily="34" charset="0"/>
                <a:ea typeface="Arial" pitchFamily="34" charset="-122"/>
                <a:cs typeface="Arial" pitchFamily="34" charset="-120"/>
              </a:rPr>
              <a:t>Walkaway rate</a:t>
            </a:r>
            <a:endParaRPr lang="en-US" sz="1300" dirty="0"/>
          </a:p>
        </p:txBody>
      </p:sp>
      <p:sp>
        <p:nvSpPr>
          <p:cNvPr id="26" name="Shape 24"/>
          <p:cNvSpPr/>
          <p:nvPr/>
        </p:nvSpPr>
        <p:spPr>
          <a:xfrm>
            <a:off x="3840480" y="2926080"/>
            <a:ext cx="2377440" cy="411480"/>
          </a:xfrm>
          <a:prstGeom prst="rect">
            <a:avLst/>
          </a:prstGeom>
          <a:solidFill>
            <a:srgbClr val="FFFFFF"/>
          </a:solidFill>
          <a:ln w="12700">
            <a:solidFill>
              <a:srgbClr val="E5E7EB"/>
            </a:solidFill>
            <a:prstDash val="solid"/>
          </a:ln>
        </p:spPr>
        <p:txBody>
          <a:bodyPr/>
          <a:lstStyle/>
          <a:p>
            <a:endParaRPr lang="en-US"/>
          </a:p>
        </p:txBody>
      </p:sp>
      <p:sp>
        <p:nvSpPr>
          <p:cNvPr id="27" name="Text 25"/>
          <p:cNvSpPr/>
          <p:nvPr/>
        </p:nvSpPr>
        <p:spPr>
          <a:xfrm>
            <a:off x="3931920" y="2926080"/>
            <a:ext cx="2194560" cy="411480"/>
          </a:xfrm>
          <a:prstGeom prst="rect">
            <a:avLst/>
          </a:prstGeom>
          <a:noFill/>
          <a:ln/>
        </p:spPr>
        <p:txBody>
          <a:bodyPr wrap="square" rtlCol="0" anchor="ctr"/>
          <a:lstStyle/>
          <a:p>
            <a:pPr marL="0" indent="0" algn="ctr">
              <a:buNone/>
            </a:pPr>
            <a:r>
              <a:rPr lang="en-US" sz="1300" dirty="0">
                <a:solidFill>
                  <a:srgbClr val="1A1A2E"/>
                </a:solidFill>
                <a:latin typeface="Arial" pitchFamily="34" charset="0"/>
                <a:ea typeface="Arial" pitchFamily="34" charset="-122"/>
                <a:cs typeface="Arial" pitchFamily="34" charset="-120"/>
              </a:rPr>
              <a:t>0.9%</a:t>
            </a:r>
            <a:endParaRPr lang="en-US" sz="1300" dirty="0"/>
          </a:p>
        </p:txBody>
      </p:sp>
      <p:sp>
        <p:nvSpPr>
          <p:cNvPr id="28" name="Shape 26"/>
          <p:cNvSpPr/>
          <p:nvPr/>
        </p:nvSpPr>
        <p:spPr>
          <a:xfrm>
            <a:off x="6217920" y="2926080"/>
            <a:ext cx="2377440" cy="411480"/>
          </a:xfrm>
          <a:prstGeom prst="rect">
            <a:avLst/>
          </a:prstGeom>
          <a:solidFill>
            <a:srgbClr val="FFFFFF"/>
          </a:solidFill>
          <a:ln w="12700">
            <a:solidFill>
              <a:srgbClr val="E5E7EB"/>
            </a:solidFill>
            <a:prstDash val="solid"/>
          </a:ln>
        </p:spPr>
        <p:txBody>
          <a:bodyPr/>
          <a:lstStyle/>
          <a:p>
            <a:endParaRPr lang="en-US"/>
          </a:p>
        </p:txBody>
      </p:sp>
      <p:sp>
        <p:nvSpPr>
          <p:cNvPr id="29" name="Text 27"/>
          <p:cNvSpPr/>
          <p:nvPr/>
        </p:nvSpPr>
        <p:spPr>
          <a:xfrm>
            <a:off x="6309360" y="2926080"/>
            <a:ext cx="2194560" cy="411480"/>
          </a:xfrm>
          <a:prstGeom prst="rect">
            <a:avLst/>
          </a:prstGeom>
          <a:noFill/>
          <a:ln/>
        </p:spPr>
        <p:txBody>
          <a:bodyPr wrap="square" rtlCol="0" anchor="ctr"/>
          <a:lstStyle/>
          <a:p>
            <a:pPr marL="0" indent="0" algn="ctr">
              <a:buNone/>
            </a:pPr>
            <a:r>
              <a:rPr lang="en-US" sz="1300" dirty="0">
                <a:solidFill>
                  <a:srgbClr val="1A1A2E"/>
                </a:solidFill>
                <a:latin typeface="Arial" pitchFamily="34" charset="0"/>
                <a:ea typeface="Arial" pitchFamily="34" charset="-122"/>
                <a:cs typeface="Arial" pitchFamily="34" charset="-120"/>
              </a:rPr>
              <a:t>1.3%</a:t>
            </a:r>
            <a:endParaRPr lang="en-US" sz="1300" dirty="0"/>
          </a:p>
        </p:txBody>
      </p:sp>
      <p:sp>
        <p:nvSpPr>
          <p:cNvPr id="30" name="Shape 28"/>
          <p:cNvSpPr/>
          <p:nvPr/>
        </p:nvSpPr>
        <p:spPr>
          <a:xfrm>
            <a:off x="640080" y="3337560"/>
            <a:ext cx="3200400" cy="411480"/>
          </a:xfrm>
          <a:prstGeom prst="rect">
            <a:avLst/>
          </a:prstGeom>
          <a:solidFill>
            <a:srgbClr val="FAFAFA"/>
          </a:solidFill>
          <a:ln w="12700">
            <a:solidFill>
              <a:srgbClr val="E5E7EB"/>
            </a:solidFill>
            <a:prstDash val="solid"/>
          </a:ln>
        </p:spPr>
        <p:txBody>
          <a:bodyPr/>
          <a:lstStyle/>
          <a:p>
            <a:endParaRPr lang="en-US"/>
          </a:p>
        </p:txBody>
      </p:sp>
      <p:sp>
        <p:nvSpPr>
          <p:cNvPr id="31" name="Text 29"/>
          <p:cNvSpPr/>
          <p:nvPr/>
        </p:nvSpPr>
        <p:spPr>
          <a:xfrm>
            <a:off x="731520" y="3337560"/>
            <a:ext cx="3017520" cy="411480"/>
          </a:xfrm>
          <a:prstGeom prst="rect">
            <a:avLst/>
          </a:prstGeom>
          <a:noFill/>
          <a:ln/>
        </p:spPr>
        <p:txBody>
          <a:bodyPr wrap="square" rtlCol="0" anchor="ctr"/>
          <a:lstStyle/>
          <a:p>
            <a:pPr marL="0" indent="0" algn="l">
              <a:buNone/>
            </a:pPr>
            <a:r>
              <a:rPr lang="en-US" sz="1300" dirty="0">
                <a:solidFill>
                  <a:srgbClr val="1A1A2E"/>
                </a:solidFill>
                <a:latin typeface="Arial" pitchFamily="34" charset="0"/>
                <a:ea typeface="Arial" pitchFamily="34" charset="-122"/>
                <a:cs typeface="Arial" pitchFamily="34" charset="-120"/>
              </a:rPr>
              <a:t>Max queue length</a:t>
            </a:r>
            <a:endParaRPr lang="en-US" sz="1300" dirty="0"/>
          </a:p>
        </p:txBody>
      </p:sp>
      <p:sp>
        <p:nvSpPr>
          <p:cNvPr id="32" name="Shape 30"/>
          <p:cNvSpPr/>
          <p:nvPr/>
        </p:nvSpPr>
        <p:spPr>
          <a:xfrm>
            <a:off x="3840480" y="3337560"/>
            <a:ext cx="2377440" cy="411480"/>
          </a:xfrm>
          <a:prstGeom prst="rect">
            <a:avLst/>
          </a:prstGeom>
          <a:solidFill>
            <a:srgbClr val="FAFAFA"/>
          </a:solidFill>
          <a:ln w="12700">
            <a:solidFill>
              <a:srgbClr val="E5E7EB"/>
            </a:solidFill>
            <a:prstDash val="solid"/>
          </a:ln>
        </p:spPr>
        <p:txBody>
          <a:bodyPr/>
          <a:lstStyle/>
          <a:p>
            <a:endParaRPr lang="en-US"/>
          </a:p>
        </p:txBody>
      </p:sp>
      <p:sp>
        <p:nvSpPr>
          <p:cNvPr id="33" name="Text 31"/>
          <p:cNvSpPr/>
          <p:nvPr/>
        </p:nvSpPr>
        <p:spPr>
          <a:xfrm>
            <a:off x="3931920" y="3337560"/>
            <a:ext cx="2194560" cy="411480"/>
          </a:xfrm>
          <a:prstGeom prst="rect">
            <a:avLst/>
          </a:prstGeom>
          <a:noFill/>
          <a:ln/>
        </p:spPr>
        <p:txBody>
          <a:bodyPr wrap="square" rtlCol="0" anchor="ctr"/>
          <a:lstStyle/>
          <a:p>
            <a:pPr marL="0" indent="0" algn="ctr">
              <a:buNone/>
            </a:pPr>
            <a:r>
              <a:rPr lang="en-US" sz="1300" dirty="0">
                <a:solidFill>
                  <a:srgbClr val="1A1A2E"/>
                </a:solidFill>
                <a:latin typeface="Arial" pitchFamily="34" charset="0"/>
                <a:ea typeface="Arial" pitchFamily="34" charset="-122"/>
                <a:cs typeface="Arial" pitchFamily="34" charset="-120"/>
              </a:rPr>
              <a:t>8</a:t>
            </a:r>
            <a:endParaRPr lang="en-US" sz="1300" dirty="0"/>
          </a:p>
        </p:txBody>
      </p:sp>
      <p:sp>
        <p:nvSpPr>
          <p:cNvPr id="34" name="Shape 32"/>
          <p:cNvSpPr/>
          <p:nvPr/>
        </p:nvSpPr>
        <p:spPr>
          <a:xfrm>
            <a:off x="6217920" y="3337560"/>
            <a:ext cx="2377440" cy="411480"/>
          </a:xfrm>
          <a:prstGeom prst="rect">
            <a:avLst/>
          </a:prstGeom>
          <a:solidFill>
            <a:srgbClr val="FAFAFA"/>
          </a:solidFill>
          <a:ln w="12700">
            <a:solidFill>
              <a:srgbClr val="E5E7EB"/>
            </a:solidFill>
            <a:prstDash val="solid"/>
          </a:ln>
        </p:spPr>
        <p:txBody>
          <a:bodyPr/>
          <a:lstStyle/>
          <a:p>
            <a:endParaRPr lang="en-US"/>
          </a:p>
        </p:txBody>
      </p:sp>
      <p:sp>
        <p:nvSpPr>
          <p:cNvPr id="35" name="Text 33"/>
          <p:cNvSpPr/>
          <p:nvPr/>
        </p:nvSpPr>
        <p:spPr>
          <a:xfrm>
            <a:off x="6309360" y="3337560"/>
            <a:ext cx="2194560" cy="411480"/>
          </a:xfrm>
          <a:prstGeom prst="rect">
            <a:avLst/>
          </a:prstGeom>
          <a:noFill/>
          <a:ln/>
        </p:spPr>
        <p:txBody>
          <a:bodyPr wrap="square" rtlCol="0" anchor="ctr"/>
          <a:lstStyle/>
          <a:p>
            <a:pPr marL="0" indent="0" algn="ctr">
              <a:buNone/>
            </a:pPr>
            <a:r>
              <a:rPr lang="en-US" sz="1300" dirty="0">
                <a:solidFill>
                  <a:srgbClr val="1A1A2E"/>
                </a:solidFill>
                <a:latin typeface="Arial" pitchFamily="34" charset="0"/>
                <a:ea typeface="Arial" pitchFamily="34" charset="-122"/>
                <a:cs typeface="Arial" pitchFamily="34" charset="-120"/>
              </a:rPr>
              <a:t>8</a:t>
            </a:r>
            <a:endParaRPr lang="en-US" sz="1300" dirty="0"/>
          </a:p>
        </p:txBody>
      </p:sp>
      <p:sp>
        <p:nvSpPr>
          <p:cNvPr id="36" name="Text 34"/>
          <p:cNvSpPr/>
          <p:nvPr/>
        </p:nvSpPr>
        <p:spPr>
          <a:xfrm>
            <a:off x="457200" y="4160520"/>
            <a:ext cx="8229600" cy="457200"/>
          </a:xfrm>
          <a:prstGeom prst="rect">
            <a:avLst/>
          </a:prstGeom>
          <a:noFill/>
          <a:ln/>
        </p:spPr>
        <p:txBody>
          <a:bodyPr wrap="square" rtlCol="0" anchor="ctr"/>
          <a:lstStyle/>
          <a:p>
            <a:pPr marL="0" indent="0" algn="ctr">
              <a:buNone/>
            </a:pPr>
            <a:r>
              <a:rPr lang="en-US" sz="1300" i="1" dirty="0">
                <a:solidFill>
                  <a:srgbClr val="B85042"/>
                </a:solidFill>
                <a:latin typeface="Arial" pitchFamily="34" charset="0"/>
                <a:ea typeface="Arial" pitchFamily="34" charset="-122"/>
                <a:cs typeface="Arial" pitchFamily="34" charset="-120"/>
              </a:rPr>
              <a:t>Both look plausible. The bug is real and important.</a:t>
            </a:r>
            <a:endParaRPr lang="en-US" sz="1300" dirty="0"/>
          </a:p>
          <a:p>
            <a:pPr marL="0" indent="0" algn="ctr">
              <a:buNone/>
            </a:pPr>
            <a:r>
              <a:rPr lang="en-US" sz="1300" i="1" dirty="0">
                <a:solidFill>
                  <a:srgbClr val="B85042"/>
                </a:solidFill>
                <a:latin typeface="Arial" pitchFamily="34" charset="0"/>
                <a:ea typeface="Arial" pitchFamily="34" charset="-122"/>
                <a:cs typeface="Arial" pitchFamily="34" charset="-120"/>
              </a:rPr>
              <a:t>It's invisible in the metrics — and very visible in the spec.</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name="Slide 23">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LLM-assisted spec compliance review</a:t>
            </a:r>
            <a:endParaRPr lang="en-US" sz="3200" dirty="0"/>
          </a:p>
        </p:txBody>
      </p:sp>
      <p:sp>
        <p:nvSpPr>
          <p:cNvPr id="4" name="Text 2"/>
          <p:cNvSpPr/>
          <p:nvPr/>
        </p:nvSpPr>
        <p:spPr>
          <a:xfrm>
            <a:off x="5943600" y="164592"/>
            <a:ext cx="274320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Block 5 · 15 min</a:t>
            </a:r>
            <a:endParaRPr lang="en-US" sz="1000" dirty="0"/>
          </a:p>
        </p:txBody>
      </p:sp>
      <p:sp>
        <p:nvSpPr>
          <p:cNvPr id="5" name="Shape 3"/>
          <p:cNvSpPr/>
          <p:nvPr/>
        </p:nvSpPr>
        <p:spPr>
          <a:xfrm>
            <a:off x="571500" y="1554480"/>
            <a:ext cx="2423160" cy="1828800"/>
          </a:xfrm>
          <a:prstGeom prst="rect">
            <a:avLst/>
          </a:prstGeom>
          <a:solidFill>
            <a:srgbClr val="FFFFFF"/>
          </a:solidFill>
          <a:ln w="25400">
            <a:solidFill>
              <a:srgbClr val="4A6FA5"/>
            </a:solidFill>
            <a:prstDash val="solid"/>
          </a:ln>
        </p:spPr>
        <p:txBody>
          <a:bodyPr/>
          <a:lstStyle/>
          <a:p>
            <a:endParaRPr lang="en-US"/>
          </a:p>
        </p:txBody>
      </p:sp>
      <p:sp>
        <p:nvSpPr>
          <p:cNvPr id="6" name="Text 4"/>
          <p:cNvSpPr/>
          <p:nvPr/>
        </p:nvSpPr>
        <p:spPr>
          <a:xfrm>
            <a:off x="571500" y="1691640"/>
            <a:ext cx="2423160" cy="548640"/>
          </a:xfrm>
          <a:prstGeom prst="rect">
            <a:avLst/>
          </a:prstGeom>
          <a:noFill/>
          <a:ln/>
        </p:spPr>
        <p:txBody>
          <a:bodyPr wrap="square" rtlCol="0" anchor="ctr"/>
          <a:lstStyle/>
          <a:p>
            <a:pPr marL="0" indent="0" algn="ctr">
              <a:buNone/>
            </a:pPr>
            <a:r>
              <a:rPr lang="en-US" sz="2200" b="1" dirty="0">
                <a:solidFill>
                  <a:srgbClr val="4A6FA5"/>
                </a:solidFill>
                <a:latin typeface="Arial" pitchFamily="34" charset="0"/>
                <a:ea typeface="Arial" pitchFamily="34" charset="-122"/>
                <a:cs typeface="Arial" pitchFamily="34" charset="-120"/>
              </a:rPr>
              <a:t>Curate</a:t>
            </a:r>
            <a:endParaRPr lang="en-US" sz="2200" dirty="0"/>
          </a:p>
        </p:txBody>
      </p:sp>
      <p:sp>
        <p:nvSpPr>
          <p:cNvPr id="7" name="Text 5"/>
          <p:cNvSpPr/>
          <p:nvPr/>
        </p:nvSpPr>
        <p:spPr>
          <a:xfrm>
            <a:off x="754380" y="2286000"/>
            <a:ext cx="2057400" cy="1097280"/>
          </a:xfrm>
          <a:prstGeom prst="rect">
            <a:avLst/>
          </a:prstGeom>
          <a:noFill/>
          <a:ln/>
        </p:spPr>
        <p:txBody>
          <a:bodyPr wrap="square" rtlCol="0" anchor="t"/>
          <a:lstStyle/>
          <a:p>
            <a:pPr marL="0" indent="0" algn="ctr">
              <a:buNone/>
            </a:pPr>
            <a:r>
              <a:rPr lang="en-US" sz="1300" dirty="0">
                <a:solidFill>
                  <a:srgbClr val="1A1A2E"/>
                </a:solidFill>
                <a:latin typeface="Arial" pitchFamily="34" charset="0"/>
                <a:ea typeface="Arial" pitchFamily="34" charset="-122"/>
                <a:cs typeface="Arial" pitchFamily="34" charset="-120"/>
              </a:rPr>
              <a:t>Template A + the code + the summary results.</a:t>
            </a:r>
            <a:endParaRPr lang="en-US" sz="1300" dirty="0"/>
          </a:p>
        </p:txBody>
      </p:sp>
      <p:sp>
        <p:nvSpPr>
          <p:cNvPr id="8" name="Text 6"/>
          <p:cNvSpPr/>
          <p:nvPr/>
        </p:nvSpPr>
        <p:spPr>
          <a:xfrm>
            <a:off x="2994660" y="2103120"/>
            <a:ext cx="365760" cy="731520"/>
          </a:xfrm>
          <a:prstGeom prst="rect">
            <a:avLst/>
          </a:prstGeom>
          <a:noFill/>
          <a:ln/>
        </p:spPr>
        <p:txBody>
          <a:bodyPr wrap="square" rtlCol="0" anchor="ctr"/>
          <a:lstStyle/>
          <a:p>
            <a:pPr marL="0" indent="0" algn="ctr">
              <a:buNone/>
            </a:pPr>
            <a:r>
              <a:rPr lang="en-US" sz="3600" b="1" dirty="0">
                <a:solidFill>
                  <a:srgbClr val="4A6FA5"/>
                </a:solidFill>
                <a:latin typeface="Arial" pitchFamily="34" charset="0"/>
                <a:ea typeface="Arial" pitchFamily="34" charset="-122"/>
                <a:cs typeface="Arial" pitchFamily="34" charset="-120"/>
              </a:rPr>
              <a:t>→</a:t>
            </a:r>
            <a:endParaRPr lang="en-US" sz="3600" dirty="0"/>
          </a:p>
        </p:txBody>
      </p:sp>
      <p:sp>
        <p:nvSpPr>
          <p:cNvPr id="9" name="Shape 7"/>
          <p:cNvSpPr/>
          <p:nvPr/>
        </p:nvSpPr>
        <p:spPr>
          <a:xfrm>
            <a:off x="3360420" y="1554480"/>
            <a:ext cx="2423160" cy="1828800"/>
          </a:xfrm>
          <a:prstGeom prst="rect">
            <a:avLst/>
          </a:prstGeom>
          <a:solidFill>
            <a:srgbClr val="FFFFFF"/>
          </a:solidFill>
          <a:ln w="25400">
            <a:solidFill>
              <a:srgbClr val="4A6FA5"/>
            </a:solidFill>
            <a:prstDash val="solid"/>
          </a:ln>
        </p:spPr>
        <p:txBody>
          <a:bodyPr/>
          <a:lstStyle/>
          <a:p>
            <a:endParaRPr lang="en-US"/>
          </a:p>
        </p:txBody>
      </p:sp>
      <p:sp>
        <p:nvSpPr>
          <p:cNvPr id="10" name="Text 8"/>
          <p:cNvSpPr/>
          <p:nvPr/>
        </p:nvSpPr>
        <p:spPr>
          <a:xfrm>
            <a:off x="3360420" y="1691640"/>
            <a:ext cx="2423160" cy="548640"/>
          </a:xfrm>
          <a:prstGeom prst="rect">
            <a:avLst/>
          </a:prstGeom>
          <a:noFill/>
          <a:ln/>
        </p:spPr>
        <p:txBody>
          <a:bodyPr wrap="square" rtlCol="0" anchor="ctr"/>
          <a:lstStyle/>
          <a:p>
            <a:pPr marL="0" indent="0" algn="ctr">
              <a:buNone/>
            </a:pPr>
            <a:r>
              <a:rPr lang="en-US" sz="2200" b="1" dirty="0">
                <a:solidFill>
                  <a:srgbClr val="4A6FA5"/>
                </a:solidFill>
                <a:latin typeface="Arial" pitchFamily="34" charset="0"/>
                <a:ea typeface="Arial" pitchFamily="34" charset="-122"/>
                <a:cs typeface="Arial" pitchFamily="34" charset="-120"/>
              </a:rPr>
              <a:t>Constrain</a:t>
            </a:r>
            <a:endParaRPr lang="en-US" sz="2200" dirty="0"/>
          </a:p>
        </p:txBody>
      </p:sp>
      <p:sp>
        <p:nvSpPr>
          <p:cNvPr id="11" name="Text 9"/>
          <p:cNvSpPr/>
          <p:nvPr/>
        </p:nvSpPr>
        <p:spPr>
          <a:xfrm>
            <a:off x="3543300" y="2286000"/>
            <a:ext cx="2057400" cy="1097280"/>
          </a:xfrm>
          <a:prstGeom prst="rect">
            <a:avLst/>
          </a:prstGeom>
          <a:noFill/>
          <a:ln/>
        </p:spPr>
        <p:txBody>
          <a:bodyPr wrap="square" rtlCol="0" anchor="t"/>
          <a:lstStyle/>
          <a:p>
            <a:pPr marL="0" indent="0" algn="ctr">
              <a:buNone/>
            </a:pPr>
            <a:r>
              <a:rPr lang="en-US" sz="1300" dirty="0">
                <a:solidFill>
                  <a:srgbClr val="1A1A2E"/>
                </a:solidFill>
                <a:latin typeface="Arial" pitchFamily="34" charset="0"/>
                <a:ea typeface="Arial" pitchFamily="34" charset="-122"/>
                <a:cs typeface="Arial" pitchFamily="34" charset="-120"/>
              </a:rPr>
              <a:t>Structured JSON output. Severity. Category. Evidence.</a:t>
            </a:r>
            <a:endParaRPr lang="en-US" sz="1300" dirty="0"/>
          </a:p>
        </p:txBody>
      </p:sp>
      <p:sp>
        <p:nvSpPr>
          <p:cNvPr id="12" name="Text 10"/>
          <p:cNvSpPr/>
          <p:nvPr/>
        </p:nvSpPr>
        <p:spPr>
          <a:xfrm>
            <a:off x="5783580" y="2103120"/>
            <a:ext cx="365760" cy="731520"/>
          </a:xfrm>
          <a:prstGeom prst="rect">
            <a:avLst/>
          </a:prstGeom>
          <a:noFill/>
          <a:ln/>
        </p:spPr>
        <p:txBody>
          <a:bodyPr wrap="square" rtlCol="0" anchor="ctr"/>
          <a:lstStyle/>
          <a:p>
            <a:pPr marL="0" indent="0" algn="ctr">
              <a:buNone/>
            </a:pPr>
            <a:r>
              <a:rPr lang="en-US" sz="3600" b="1" dirty="0">
                <a:solidFill>
                  <a:srgbClr val="4A6FA5"/>
                </a:solidFill>
                <a:latin typeface="Arial" pitchFamily="34" charset="0"/>
                <a:ea typeface="Arial" pitchFamily="34" charset="-122"/>
                <a:cs typeface="Arial" pitchFamily="34" charset="-120"/>
              </a:rPr>
              <a:t>→</a:t>
            </a:r>
            <a:endParaRPr lang="en-US" sz="3600" dirty="0"/>
          </a:p>
        </p:txBody>
      </p:sp>
      <p:sp>
        <p:nvSpPr>
          <p:cNvPr id="13" name="Shape 11"/>
          <p:cNvSpPr/>
          <p:nvPr/>
        </p:nvSpPr>
        <p:spPr>
          <a:xfrm>
            <a:off x="6149340" y="1554480"/>
            <a:ext cx="2423160" cy="1828800"/>
          </a:xfrm>
          <a:prstGeom prst="rect">
            <a:avLst/>
          </a:prstGeom>
          <a:solidFill>
            <a:srgbClr val="FFFFFF"/>
          </a:solidFill>
          <a:ln w="25400">
            <a:solidFill>
              <a:srgbClr val="4A6FA5"/>
            </a:solidFill>
            <a:prstDash val="solid"/>
          </a:ln>
        </p:spPr>
        <p:txBody>
          <a:bodyPr/>
          <a:lstStyle/>
          <a:p>
            <a:endParaRPr lang="en-US"/>
          </a:p>
        </p:txBody>
      </p:sp>
      <p:sp>
        <p:nvSpPr>
          <p:cNvPr id="14" name="Text 12"/>
          <p:cNvSpPr/>
          <p:nvPr/>
        </p:nvSpPr>
        <p:spPr>
          <a:xfrm>
            <a:off x="6149340" y="1691640"/>
            <a:ext cx="2423160" cy="548640"/>
          </a:xfrm>
          <a:prstGeom prst="rect">
            <a:avLst/>
          </a:prstGeom>
          <a:noFill/>
          <a:ln/>
        </p:spPr>
        <p:txBody>
          <a:bodyPr wrap="square" rtlCol="0" anchor="ctr"/>
          <a:lstStyle/>
          <a:p>
            <a:pPr marL="0" indent="0" algn="ctr">
              <a:buNone/>
            </a:pPr>
            <a:r>
              <a:rPr lang="en-US" sz="2200" b="1" dirty="0">
                <a:solidFill>
                  <a:srgbClr val="4A6FA5"/>
                </a:solidFill>
                <a:latin typeface="Arial" pitchFamily="34" charset="0"/>
                <a:ea typeface="Arial" pitchFamily="34" charset="-122"/>
                <a:cs typeface="Arial" pitchFamily="34" charset="-120"/>
              </a:rPr>
              <a:t>Triage</a:t>
            </a:r>
            <a:endParaRPr lang="en-US" sz="2200" dirty="0"/>
          </a:p>
        </p:txBody>
      </p:sp>
      <p:sp>
        <p:nvSpPr>
          <p:cNvPr id="15" name="Text 13"/>
          <p:cNvSpPr/>
          <p:nvPr/>
        </p:nvSpPr>
        <p:spPr>
          <a:xfrm>
            <a:off x="6332220" y="2286000"/>
            <a:ext cx="2057400" cy="1097280"/>
          </a:xfrm>
          <a:prstGeom prst="rect">
            <a:avLst/>
          </a:prstGeom>
          <a:noFill/>
          <a:ln/>
        </p:spPr>
        <p:txBody>
          <a:bodyPr wrap="square" rtlCol="0" anchor="t"/>
          <a:lstStyle/>
          <a:p>
            <a:pPr marL="0" indent="0" algn="ctr">
              <a:buNone/>
            </a:pPr>
            <a:r>
              <a:rPr lang="en-US" sz="1300" dirty="0">
                <a:solidFill>
                  <a:srgbClr val="1A1A2E"/>
                </a:solidFill>
                <a:latin typeface="Arial" pitchFamily="34" charset="0"/>
                <a:ea typeface="Arial" pitchFamily="34" charset="-122"/>
                <a:cs typeface="Arial" pitchFamily="34" charset="-120"/>
              </a:rPr>
              <a:t>Real bug. Valid observation. False positive. You decide.</a:t>
            </a:r>
            <a:endParaRPr lang="en-US" sz="1300" dirty="0"/>
          </a:p>
        </p:txBody>
      </p:sp>
      <p:sp>
        <p:nvSpPr>
          <p:cNvPr id="16" name="Text 14"/>
          <p:cNvSpPr/>
          <p:nvPr/>
        </p:nvSpPr>
        <p:spPr>
          <a:xfrm>
            <a:off x="457200" y="4023360"/>
            <a:ext cx="8229600" cy="365760"/>
          </a:xfrm>
          <a:prstGeom prst="rect">
            <a:avLst/>
          </a:prstGeom>
          <a:noFill/>
          <a:ln/>
        </p:spPr>
        <p:txBody>
          <a:bodyPr wrap="square" rtlCol="0" anchor="ctr"/>
          <a:lstStyle/>
          <a:p>
            <a:pPr marL="0" indent="0" algn="ctr">
              <a:buNone/>
            </a:pPr>
            <a:r>
              <a:rPr lang="en-US" sz="1400" i="1" dirty="0">
                <a:solidFill>
                  <a:srgbClr val="6B7280"/>
                </a:solidFill>
                <a:latin typeface="Arial" pitchFamily="34" charset="0"/>
                <a:ea typeface="Arial" pitchFamily="34" charset="-122"/>
                <a:cs typeface="Arial" pitchFamily="34" charset="-120"/>
              </a:rPr>
              <a:t>The LLM finds candidates. You decide what's a bug.</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name="Slide 24">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Exercise 5 — Triage the LLM's findings</a:t>
            </a:r>
            <a:endParaRPr lang="en-US" sz="3200" dirty="0"/>
          </a:p>
        </p:txBody>
      </p:sp>
      <p:sp>
        <p:nvSpPr>
          <p:cNvPr id="4" name="Text 2"/>
          <p:cNvSpPr/>
          <p:nvPr/>
        </p:nvSpPr>
        <p:spPr>
          <a:xfrm>
            <a:off x="5943600" y="164592"/>
            <a:ext cx="274320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Block 5 · 10 min hands-on</a:t>
            </a:r>
            <a:endParaRPr lang="en-US" sz="1000" dirty="0"/>
          </a:p>
        </p:txBody>
      </p:sp>
      <p:sp>
        <p:nvSpPr>
          <p:cNvPr id="5" name="Text 3"/>
          <p:cNvSpPr/>
          <p:nvPr/>
        </p:nvSpPr>
        <p:spPr>
          <a:xfrm>
            <a:off x="457200" y="1188720"/>
            <a:ext cx="8229600" cy="365760"/>
          </a:xfrm>
          <a:prstGeom prst="rect">
            <a:avLst/>
          </a:prstGeom>
          <a:noFill/>
          <a:ln/>
        </p:spPr>
        <p:txBody>
          <a:bodyPr wrap="square" rtlCol="0" anchor="ctr"/>
          <a:lstStyle/>
          <a:p>
            <a:pPr marL="0" indent="0">
              <a:buNone/>
            </a:pPr>
            <a:r>
              <a:rPr lang="en-US" sz="1400" dirty="0">
                <a:solidFill>
                  <a:srgbClr val="6B7280"/>
                </a:solidFill>
                <a:latin typeface="Arial" pitchFamily="34" charset="0"/>
                <a:ea typeface="Arial" pitchFamily="34" charset="-122"/>
                <a:cs typeface="Arial" pitchFamily="34" charset="-120"/>
              </a:rPr>
              <a:t>Block 5 notebook. The cell ships with a saved fallback so it works offline.</a:t>
            </a:r>
            <a:endParaRPr lang="en-US" sz="1400" dirty="0"/>
          </a:p>
        </p:txBody>
      </p:sp>
      <p:sp>
        <p:nvSpPr>
          <p:cNvPr id="6" name="Shape 4"/>
          <p:cNvSpPr/>
          <p:nvPr/>
        </p:nvSpPr>
        <p:spPr>
          <a:xfrm>
            <a:off x="640080" y="1847088"/>
            <a:ext cx="274320" cy="274320"/>
          </a:xfrm>
          <a:prstGeom prst="ellipse">
            <a:avLst/>
          </a:prstGeom>
          <a:solidFill>
            <a:srgbClr val="4A6FA5"/>
          </a:solidFill>
          <a:ln w="12700">
            <a:solidFill>
              <a:srgbClr val="4A6FA5"/>
            </a:solidFill>
            <a:prstDash val="solid"/>
          </a:ln>
        </p:spPr>
        <p:txBody>
          <a:bodyPr/>
          <a:lstStyle/>
          <a:p>
            <a:endParaRPr lang="en-US"/>
          </a:p>
        </p:txBody>
      </p:sp>
      <p:sp>
        <p:nvSpPr>
          <p:cNvPr id="7" name="Text 5"/>
          <p:cNvSpPr/>
          <p:nvPr/>
        </p:nvSpPr>
        <p:spPr>
          <a:xfrm>
            <a:off x="640080" y="1847088"/>
            <a:ext cx="274320" cy="2743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1097280" y="1783080"/>
            <a:ext cx="7498080" cy="365760"/>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Run the spec-compliance review cell</a:t>
            </a:r>
            <a:endParaRPr lang="en-US" sz="1400" dirty="0"/>
          </a:p>
        </p:txBody>
      </p:sp>
      <p:sp>
        <p:nvSpPr>
          <p:cNvPr id="9" name="Shape 7"/>
          <p:cNvSpPr/>
          <p:nvPr/>
        </p:nvSpPr>
        <p:spPr>
          <a:xfrm>
            <a:off x="640080" y="2395728"/>
            <a:ext cx="274320" cy="274320"/>
          </a:xfrm>
          <a:prstGeom prst="ellipse">
            <a:avLst/>
          </a:prstGeom>
          <a:solidFill>
            <a:srgbClr val="4A6FA5"/>
          </a:solidFill>
          <a:ln w="12700">
            <a:solidFill>
              <a:srgbClr val="4A6FA5"/>
            </a:solidFill>
            <a:prstDash val="solid"/>
          </a:ln>
        </p:spPr>
        <p:txBody>
          <a:bodyPr/>
          <a:lstStyle/>
          <a:p>
            <a:endParaRPr lang="en-US"/>
          </a:p>
        </p:txBody>
      </p:sp>
      <p:sp>
        <p:nvSpPr>
          <p:cNvPr id="10" name="Text 8"/>
          <p:cNvSpPr/>
          <p:nvPr/>
        </p:nvSpPr>
        <p:spPr>
          <a:xfrm>
            <a:off x="640080" y="2395728"/>
            <a:ext cx="274320" cy="2743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1" name="Text 9"/>
          <p:cNvSpPr/>
          <p:nvPr/>
        </p:nvSpPr>
        <p:spPr>
          <a:xfrm>
            <a:off x="1097280" y="2331720"/>
            <a:ext cx="7498080" cy="365760"/>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Read each flagged issue: evidence, why-it-matters, fix</a:t>
            </a:r>
            <a:endParaRPr lang="en-US" sz="1400" dirty="0"/>
          </a:p>
        </p:txBody>
      </p:sp>
      <p:sp>
        <p:nvSpPr>
          <p:cNvPr id="12" name="Shape 10"/>
          <p:cNvSpPr/>
          <p:nvPr/>
        </p:nvSpPr>
        <p:spPr>
          <a:xfrm>
            <a:off x="640080" y="2944368"/>
            <a:ext cx="274320" cy="274320"/>
          </a:xfrm>
          <a:prstGeom prst="ellipse">
            <a:avLst/>
          </a:prstGeom>
          <a:solidFill>
            <a:srgbClr val="4A6FA5"/>
          </a:solidFill>
          <a:ln w="12700">
            <a:solidFill>
              <a:srgbClr val="4A6FA5"/>
            </a:solidFill>
            <a:prstDash val="solid"/>
          </a:ln>
        </p:spPr>
        <p:txBody>
          <a:bodyPr/>
          <a:lstStyle/>
          <a:p>
            <a:endParaRPr lang="en-US"/>
          </a:p>
        </p:txBody>
      </p:sp>
      <p:sp>
        <p:nvSpPr>
          <p:cNvPr id="13" name="Text 11"/>
          <p:cNvSpPr/>
          <p:nvPr/>
        </p:nvSpPr>
        <p:spPr>
          <a:xfrm>
            <a:off x="640080" y="2944368"/>
            <a:ext cx="274320" cy="2743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4" name="Text 12"/>
          <p:cNvSpPr/>
          <p:nvPr/>
        </p:nvSpPr>
        <p:spPr>
          <a:xfrm>
            <a:off x="1097280" y="2880360"/>
            <a:ext cx="7498080" cy="365760"/>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For each: real bug · valid observation · false positive</a:t>
            </a:r>
            <a:endParaRPr lang="en-US" sz="1400" dirty="0"/>
          </a:p>
        </p:txBody>
      </p:sp>
      <p:sp>
        <p:nvSpPr>
          <p:cNvPr id="15" name="Shape 13"/>
          <p:cNvSpPr/>
          <p:nvPr/>
        </p:nvSpPr>
        <p:spPr>
          <a:xfrm>
            <a:off x="640080" y="3493008"/>
            <a:ext cx="274320" cy="274320"/>
          </a:xfrm>
          <a:prstGeom prst="ellipse">
            <a:avLst/>
          </a:prstGeom>
          <a:solidFill>
            <a:srgbClr val="4A6FA5"/>
          </a:solidFill>
          <a:ln w="12700">
            <a:solidFill>
              <a:srgbClr val="4A6FA5"/>
            </a:solidFill>
            <a:prstDash val="solid"/>
          </a:ln>
        </p:spPr>
        <p:txBody>
          <a:bodyPr/>
          <a:lstStyle/>
          <a:p>
            <a:endParaRPr lang="en-US"/>
          </a:p>
        </p:txBody>
      </p:sp>
      <p:sp>
        <p:nvSpPr>
          <p:cNvPr id="16" name="Text 14"/>
          <p:cNvSpPr/>
          <p:nvPr/>
        </p:nvSpPr>
        <p:spPr>
          <a:xfrm>
            <a:off x="640080" y="3493008"/>
            <a:ext cx="274320" cy="2743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7" name="Text 15"/>
          <p:cNvSpPr/>
          <p:nvPr/>
        </p:nvSpPr>
        <p:spPr>
          <a:xfrm>
            <a:off x="1097280" y="3429000"/>
            <a:ext cx="7498080" cy="365760"/>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Compare your triage with your neighbor's</a:t>
            </a:r>
            <a:endParaRPr lang="en-US" sz="1400" dirty="0"/>
          </a:p>
        </p:txBody>
      </p:sp>
      <p:sp>
        <p:nvSpPr>
          <p:cNvPr id="18" name="Text 16"/>
          <p:cNvSpPr/>
          <p:nvPr/>
        </p:nvSpPr>
        <p:spPr>
          <a:xfrm>
            <a:off x="457200" y="4069080"/>
            <a:ext cx="8229600" cy="548640"/>
          </a:xfrm>
          <a:prstGeom prst="rect">
            <a:avLst/>
          </a:prstGeom>
          <a:noFill/>
          <a:ln/>
        </p:spPr>
        <p:txBody>
          <a:bodyPr wrap="square" rtlCol="0" anchor="ctr"/>
          <a:lstStyle/>
          <a:p>
            <a:pPr marL="0" indent="0" algn="ctr">
              <a:buNone/>
            </a:pPr>
            <a:r>
              <a:rPr lang="en-US" sz="1200" i="1" dirty="0">
                <a:solidFill>
                  <a:srgbClr val="6B7280"/>
                </a:solidFill>
                <a:latin typeface="Arial" pitchFamily="34" charset="0"/>
                <a:ea typeface="Arial" pitchFamily="34" charset="-122"/>
                <a:cs typeface="Arial" pitchFamily="34" charset="-120"/>
              </a:rPr>
              <a:t>The seeded code contains two real defects. The LLM flags them and a few false positives.</a:t>
            </a:r>
            <a:endParaRPr lang="en-US" sz="1200" dirty="0"/>
          </a:p>
          <a:p>
            <a:pPr marL="0" indent="0" algn="ctr">
              <a:buNone/>
            </a:pPr>
            <a:r>
              <a:rPr lang="en-US" sz="1200" i="1" dirty="0">
                <a:solidFill>
                  <a:srgbClr val="6B7280"/>
                </a:solidFill>
                <a:latin typeface="Arial" pitchFamily="34" charset="0"/>
                <a:ea typeface="Arial" pitchFamily="34" charset="-122"/>
                <a:cs typeface="Arial" pitchFamily="34" charset="-120"/>
              </a:rPr>
              <a:t>Your job is the triage call.</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name="Slide 25">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Four scenarios, four levers</a:t>
            </a:r>
            <a:endParaRPr lang="en-US" sz="3200" dirty="0"/>
          </a:p>
        </p:txBody>
      </p:sp>
      <p:sp>
        <p:nvSpPr>
          <p:cNvPr id="4" name="Text 2"/>
          <p:cNvSpPr/>
          <p:nvPr/>
        </p:nvSpPr>
        <p:spPr>
          <a:xfrm>
            <a:off x="5943600" y="164592"/>
            <a:ext cx="274320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Block 6 · 15 min</a:t>
            </a:r>
            <a:endParaRPr lang="en-US" sz="1000" dirty="0"/>
          </a:p>
        </p:txBody>
      </p:sp>
      <p:sp>
        <p:nvSpPr>
          <p:cNvPr id="5" name="Shape 3"/>
          <p:cNvSpPr/>
          <p:nvPr/>
        </p:nvSpPr>
        <p:spPr>
          <a:xfrm>
            <a:off x="548640" y="1325880"/>
            <a:ext cx="3931920" cy="1325880"/>
          </a:xfrm>
          <a:prstGeom prst="rect">
            <a:avLst/>
          </a:prstGeom>
          <a:solidFill>
            <a:srgbClr val="FFFFFF"/>
          </a:solidFill>
          <a:ln w="12700">
            <a:solidFill>
              <a:srgbClr val="E5E7EB"/>
            </a:solidFill>
            <a:prstDash val="solid"/>
          </a:ln>
        </p:spPr>
        <p:txBody>
          <a:bodyPr/>
          <a:lstStyle/>
          <a:p>
            <a:endParaRPr lang="en-US"/>
          </a:p>
        </p:txBody>
      </p:sp>
      <p:sp>
        <p:nvSpPr>
          <p:cNvPr id="6" name="Shape 4"/>
          <p:cNvSpPr/>
          <p:nvPr/>
        </p:nvSpPr>
        <p:spPr>
          <a:xfrm>
            <a:off x="548640" y="1325880"/>
            <a:ext cx="73152" cy="1325880"/>
          </a:xfrm>
          <a:prstGeom prst="rect">
            <a:avLst/>
          </a:prstGeom>
          <a:solidFill>
            <a:srgbClr val="4A6FA5"/>
          </a:solidFill>
          <a:ln w="12700">
            <a:solidFill>
              <a:srgbClr val="4A6FA5"/>
            </a:solidFill>
            <a:prstDash val="solid"/>
          </a:ln>
        </p:spPr>
        <p:txBody>
          <a:bodyPr/>
          <a:lstStyle/>
          <a:p>
            <a:endParaRPr lang="en-US"/>
          </a:p>
        </p:txBody>
      </p:sp>
      <p:sp>
        <p:nvSpPr>
          <p:cNvPr id="7" name="Text 5"/>
          <p:cNvSpPr/>
          <p:nvPr/>
        </p:nvSpPr>
        <p:spPr>
          <a:xfrm>
            <a:off x="777240" y="1463040"/>
            <a:ext cx="35661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Baseline · $289/day</a:t>
            </a:r>
            <a:endParaRPr lang="en-US" sz="1600" dirty="0"/>
          </a:p>
        </p:txBody>
      </p:sp>
      <p:sp>
        <p:nvSpPr>
          <p:cNvPr id="8" name="Text 6"/>
          <p:cNvSpPr/>
          <p:nvPr/>
        </p:nvSpPr>
        <p:spPr>
          <a:xfrm>
            <a:off x="777240" y="1874520"/>
            <a:ext cx="3566160" cy="68580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2 / 2 / 1 baristas. The reference. Today's setup.</a:t>
            </a:r>
            <a:endParaRPr lang="en-US" sz="1200" dirty="0"/>
          </a:p>
        </p:txBody>
      </p:sp>
      <p:sp>
        <p:nvSpPr>
          <p:cNvPr id="9" name="Shape 7"/>
          <p:cNvSpPr/>
          <p:nvPr/>
        </p:nvSpPr>
        <p:spPr>
          <a:xfrm>
            <a:off x="4663440" y="1325880"/>
            <a:ext cx="3931920" cy="1325880"/>
          </a:xfrm>
          <a:prstGeom prst="rect">
            <a:avLst/>
          </a:prstGeom>
          <a:solidFill>
            <a:srgbClr val="FFFFFF"/>
          </a:solidFill>
          <a:ln w="12700">
            <a:solidFill>
              <a:srgbClr val="E5E7EB"/>
            </a:solidFill>
            <a:prstDash val="solid"/>
          </a:ln>
        </p:spPr>
        <p:txBody>
          <a:bodyPr/>
          <a:lstStyle/>
          <a:p>
            <a:endParaRPr lang="en-US"/>
          </a:p>
        </p:txBody>
      </p:sp>
      <p:sp>
        <p:nvSpPr>
          <p:cNvPr id="10" name="Shape 8"/>
          <p:cNvSpPr/>
          <p:nvPr/>
        </p:nvSpPr>
        <p:spPr>
          <a:xfrm>
            <a:off x="4663440" y="1325880"/>
            <a:ext cx="73152" cy="1325880"/>
          </a:xfrm>
          <a:prstGeom prst="rect">
            <a:avLst/>
          </a:prstGeom>
          <a:solidFill>
            <a:srgbClr val="4A6FA5"/>
          </a:solidFill>
          <a:ln w="12700">
            <a:solidFill>
              <a:srgbClr val="4A6FA5"/>
            </a:solidFill>
            <a:prstDash val="solid"/>
          </a:ln>
        </p:spPr>
        <p:txBody>
          <a:bodyPr/>
          <a:lstStyle/>
          <a:p>
            <a:endParaRPr lang="en-US"/>
          </a:p>
        </p:txBody>
      </p:sp>
      <p:sp>
        <p:nvSpPr>
          <p:cNvPr id="11" name="Text 9"/>
          <p:cNvSpPr/>
          <p:nvPr/>
        </p:nvSpPr>
        <p:spPr>
          <a:xfrm>
            <a:off x="4892040" y="1463040"/>
            <a:ext cx="35661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A: Rush boost · $323/day</a:t>
            </a:r>
            <a:endParaRPr lang="en-US" sz="1600" dirty="0"/>
          </a:p>
        </p:txBody>
      </p:sp>
      <p:sp>
        <p:nvSpPr>
          <p:cNvPr id="12" name="Text 10"/>
          <p:cNvSpPr/>
          <p:nvPr/>
        </p:nvSpPr>
        <p:spPr>
          <a:xfrm>
            <a:off x="4892040" y="1874520"/>
            <a:ext cx="3566160" cy="68580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+1 barista 7-9 AM only. +$34/day. Targeted fix.</a:t>
            </a:r>
            <a:endParaRPr lang="en-US" sz="1200" dirty="0"/>
          </a:p>
        </p:txBody>
      </p:sp>
      <p:sp>
        <p:nvSpPr>
          <p:cNvPr id="13" name="Shape 11"/>
          <p:cNvSpPr/>
          <p:nvPr/>
        </p:nvSpPr>
        <p:spPr>
          <a:xfrm>
            <a:off x="548640" y="2834640"/>
            <a:ext cx="3931920" cy="1325880"/>
          </a:xfrm>
          <a:prstGeom prst="rect">
            <a:avLst/>
          </a:prstGeom>
          <a:solidFill>
            <a:srgbClr val="FFFFFF"/>
          </a:solidFill>
          <a:ln w="12700">
            <a:solidFill>
              <a:srgbClr val="E5E7EB"/>
            </a:solidFill>
            <a:prstDash val="solid"/>
          </a:ln>
        </p:spPr>
        <p:txBody>
          <a:bodyPr/>
          <a:lstStyle/>
          <a:p>
            <a:endParaRPr lang="en-US"/>
          </a:p>
        </p:txBody>
      </p:sp>
      <p:sp>
        <p:nvSpPr>
          <p:cNvPr id="14" name="Shape 12"/>
          <p:cNvSpPr/>
          <p:nvPr/>
        </p:nvSpPr>
        <p:spPr>
          <a:xfrm>
            <a:off x="548640" y="2834640"/>
            <a:ext cx="73152" cy="1325880"/>
          </a:xfrm>
          <a:prstGeom prst="rect">
            <a:avLst/>
          </a:prstGeom>
          <a:solidFill>
            <a:srgbClr val="4A6FA5"/>
          </a:solidFill>
          <a:ln w="12700">
            <a:solidFill>
              <a:srgbClr val="4A6FA5"/>
            </a:solidFill>
            <a:prstDash val="solid"/>
          </a:ln>
        </p:spPr>
        <p:txBody>
          <a:bodyPr/>
          <a:lstStyle/>
          <a:p>
            <a:endParaRPr lang="en-US"/>
          </a:p>
        </p:txBody>
      </p:sp>
      <p:sp>
        <p:nvSpPr>
          <p:cNvPr id="15" name="Text 13"/>
          <p:cNvSpPr/>
          <p:nvPr/>
        </p:nvSpPr>
        <p:spPr>
          <a:xfrm>
            <a:off x="777240" y="2971800"/>
            <a:ext cx="356616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B: All-day three · $459/day</a:t>
            </a:r>
            <a:endParaRPr lang="en-US" sz="1600" dirty="0"/>
          </a:p>
        </p:txBody>
      </p:sp>
      <p:sp>
        <p:nvSpPr>
          <p:cNvPr id="16" name="Text 14"/>
          <p:cNvSpPr/>
          <p:nvPr/>
        </p:nvSpPr>
        <p:spPr>
          <a:xfrm>
            <a:off x="777240" y="3383280"/>
            <a:ext cx="3566160" cy="68580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+1 barista in every window. +$170/day. Excessive.</a:t>
            </a:r>
            <a:endParaRPr lang="en-US" sz="1200" dirty="0"/>
          </a:p>
        </p:txBody>
      </p:sp>
      <p:sp>
        <p:nvSpPr>
          <p:cNvPr id="17" name="Shape 15"/>
          <p:cNvSpPr/>
          <p:nvPr/>
        </p:nvSpPr>
        <p:spPr>
          <a:xfrm>
            <a:off x="4663440" y="2834640"/>
            <a:ext cx="3931920" cy="1325880"/>
          </a:xfrm>
          <a:prstGeom prst="rect">
            <a:avLst/>
          </a:prstGeom>
          <a:solidFill>
            <a:srgbClr val="FFFFFF"/>
          </a:solidFill>
          <a:ln w="12700">
            <a:solidFill>
              <a:srgbClr val="E5E7EB"/>
            </a:solidFill>
            <a:prstDash val="solid"/>
          </a:ln>
        </p:spPr>
        <p:txBody>
          <a:bodyPr/>
          <a:lstStyle/>
          <a:p>
            <a:endParaRPr lang="en-US"/>
          </a:p>
        </p:txBody>
      </p:sp>
      <p:sp>
        <p:nvSpPr>
          <p:cNvPr id="18" name="Shape 16"/>
          <p:cNvSpPr/>
          <p:nvPr/>
        </p:nvSpPr>
        <p:spPr>
          <a:xfrm>
            <a:off x="4663440" y="2834640"/>
            <a:ext cx="73152" cy="1325880"/>
          </a:xfrm>
          <a:prstGeom prst="rect">
            <a:avLst/>
          </a:prstGeom>
          <a:solidFill>
            <a:srgbClr val="B85042"/>
          </a:solidFill>
          <a:ln w="12700">
            <a:solidFill>
              <a:srgbClr val="B85042"/>
            </a:solidFill>
            <a:prstDash val="solid"/>
          </a:ln>
        </p:spPr>
        <p:txBody>
          <a:bodyPr/>
          <a:lstStyle/>
          <a:p>
            <a:endParaRPr lang="en-US"/>
          </a:p>
        </p:txBody>
      </p:sp>
      <p:sp>
        <p:nvSpPr>
          <p:cNvPr id="19" name="Text 17"/>
          <p:cNvSpPr/>
          <p:nvPr/>
        </p:nvSpPr>
        <p:spPr>
          <a:xfrm>
            <a:off x="4892040" y="2971800"/>
            <a:ext cx="3566160" cy="365760"/>
          </a:xfrm>
          <a:prstGeom prst="rect">
            <a:avLst/>
          </a:prstGeom>
          <a:noFill/>
          <a:ln/>
        </p:spPr>
        <p:txBody>
          <a:bodyPr wrap="square" rtlCol="0" anchor="ctr"/>
          <a:lstStyle/>
          <a:p>
            <a:pPr marL="0" indent="0">
              <a:buNone/>
            </a:pPr>
            <a:r>
              <a:rPr lang="en-US" sz="1600" b="1" dirty="0">
                <a:solidFill>
                  <a:srgbClr val="B85042"/>
                </a:solidFill>
                <a:latin typeface="Arial" pitchFamily="34" charset="0"/>
                <a:ea typeface="Arial" pitchFamily="34" charset="-122"/>
                <a:cs typeface="Arial" pitchFamily="34" charset="-120"/>
              </a:rPr>
              <a:t>C: Process improvement · $289/day</a:t>
            </a:r>
            <a:endParaRPr lang="en-US" sz="1600" dirty="0"/>
          </a:p>
        </p:txBody>
      </p:sp>
      <p:sp>
        <p:nvSpPr>
          <p:cNvPr id="20" name="Text 18"/>
          <p:cNvSpPr/>
          <p:nvPr/>
        </p:nvSpPr>
        <p:spPr>
          <a:xfrm>
            <a:off x="4892040" y="3383280"/>
            <a:ext cx="3566160" cy="68580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15% faster service in rush, no extra labor.</a:t>
            </a:r>
            <a:endParaRPr lang="en-US" sz="1200" dirty="0"/>
          </a:p>
        </p:txBody>
      </p:sp>
      <p:sp>
        <p:nvSpPr>
          <p:cNvPr id="21" name="Text 19"/>
          <p:cNvSpPr/>
          <p:nvPr/>
        </p:nvSpPr>
        <p:spPr>
          <a:xfrm>
            <a:off x="457200" y="4114800"/>
            <a:ext cx="8229600" cy="365760"/>
          </a:xfrm>
          <a:prstGeom prst="rect">
            <a:avLst/>
          </a:prstGeom>
          <a:noFill/>
          <a:ln/>
        </p:spPr>
        <p:txBody>
          <a:bodyPr wrap="square" rtlCol="0" anchor="ctr"/>
          <a:lstStyle/>
          <a:p>
            <a:pPr marL="0" indent="0" algn="ctr">
              <a:buNone/>
            </a:pPr>
            <a:r>
              <a:rPr lang="en-US" sz="1300" i="1" dirty="0">
                <a:solidFill>
                  <a:srgbClr val="6B7280"/>
                </a:solidFill>
                <a:latin typeface="Arial" pitchFamily="34" charset="0"/>
                <a:ea typeface="Arial" pitchFamily="34" charset="-122"/>
                <a:cs typeface="Arial" pitchFamily="34" charset="-120"/>
              </a:rPr>
              <a:t>The interesting comparison: A versus C. One adds labor, one changes the workflow.</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name="Slide 26">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Exercise 6 — Compare and recommend</a:t>
            </a:r>
            <a:endParaRPr lang="en-US" sz="3200" dirty="0"/>
          </a:p>
        </p:txBody>
      </p:sp>
      <p:sp>
        <p:nvSpPr>
          <p:cNvPr id="4" name="Text 2"/>
          <p:cNvSpPr/>
          <p:nvPr/>
        </p:nvSpPr>
        <p:spPr>
          <a:xfrm>
            <a:off x="5943600" y="164592"/>
            <a:ext cx="274320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Block 6 · 15 min hands-on</a:t>
            </a:r>
            <a:endParaRPr lang="en-US" sz="1000" dirty="0"/>
          </a:p>
        </p:txBody>
      </p:sp>
      <p:sp>
        <p:nvSpPr>
          <p:cNvPr id="5" name="Text 3"/>
          <p:cNvSpPr/>
          <p:nvPr/>
        </p:nvSpPr>
        <p:spPr>
          <a:xfrm>
            <a:off x="457200" y="1188720"/>
            <a:ext cx="8229600" cy="365760"/>
          </a:xfrm>
          <a:prstGeom prst="rect">
            <a:avLst/>
          </a:prstGeom>
          <a:noFill/>
          <a:ln/>
        </p:spPr>
        <p:txBody>
          <a:bodyPr wrap="square" rtlCol="0" anchor="ctr"/>
          <a:lstStyle/>
          <a:p>
            <a:pPr marL="0" indent="0">
              <a:buNone/>
            </a:pPr>
            <a:r>
              <a:rPr lang="en-US" sz="1600" dirty="0">
                <a:solidFill>
                  <a:srgbClr val="6B7280"/>
                </a:solidFill>
                <a:latin typeface="Arial" pitchFamily="34" charset="0"/>
                <a:ea typeface="Arial" pitchFamily="34" charset="-122"/>
                <a:cs typeface="Arial" pitchFamily="34" charset="-120"/>
              </a:rPr>
              <a:t>Run scenarios A, B, C alongside the baseline. Read four signals:</a:t>
            </a:r>
            <a:endParaRPr lang="en-US" sz="1600" dirty="0"/>
          </a:p>
        </p:txBody>
      </p:sp>
      <p:sp>
        <p:nvSpPr>
          <p:cNvPr id="6" name="Shape 4"/>
          <p:cNvSpPr/>
          <p:nvPr/>
        </p:nvSpPr>
        <p:spPr>
          <a:xfrm>
            <a:off x="640080" y="1874520"/>
            <a:ext cx="73152" cy="274320"/>
          </a:xfrm>
          <a:prstGeom prst="rect">
            <a:avLst/>
          </a:prstGeom>
          <a:solidFill>
            <a:srgbClr val="4A6FA5"/>
          </a:solidFill>
          <a:ln w="12700">
            <a:solidFill>
              <a:srgbClr val="4A6FA5"/>
            </a:solidFill>
            <a:prstDash val="solid"/>
          </a:ln>
        </p:spPr>
        <p:txBody>
          <a:bodyPr/>
          <a:lstStyle/>
          <a:p>
            <a:endParaRPr lang="en-US"/>
          </a:p>
        </p:txBody>
      </p:sp>
      <p:sp>
        <p:nvSpPr>
          <p:cNvPr id="7" name="Text 5"/>
          <p:cNvSpPr/>
          <p:nvPr/>
        </p:nvSpPr>
        <p:spPr>
          <a:xfrm>
            <a:off x="868680" y="1783080"/>
            <a:ext cx="7772400" cy="457200"/>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P90 wait — the experience customers actually feel</a:t>
            </a:r>
            <a:endParaRPr lang="en-US" sz="1400" dirty="0"/>
          </a:p>
        </p:txBody>
      </p:sp>
      <p:sp>
        <p:nvSpPr>
          <p:cNvPr id="8" name="Shape 6"/>
          <p:cNvSpPr/>
          <p:nvPr/>
        </p:nvSpPr>
        <p:spPr>
          <a:xfrm>
            <a:off x="640080" y="2377440"/>
            <a:ext cx="73152" cy="274320"/>
          </a:xfrm>
          <a:prstGeom prst="rect">
            <a:avLst/>
          </a:prstGeom>
          <a:solidFill>
            <a:srgbClr val="4A6FA5"/>
          </a:solidFill>
          <a:ln w="12700">
            <a:solidFill>
              <a:srgbClr val="4A6FA5"/>
            </a:solidFill>
            <a:prstDash val="solid"/>
          </a:ln>
        </p:spPr>
        <p:txBody>
          <a:bodyPr/>
          <a:lstStyle/>
          <a:p>
            <a:endParaRPr lang="en-US"/>
          </a:p>
        </p:txBody>
      </p:sp>
      <p:sp>
        <p:nvSpPr>
          <p:cNvPr id="9" name="Text 7"/>
          <p:cNvSpPr/>
          <p:nvPr/>
        </p:nvSpPr>
        <p:spPr>
          <a:xfrm>
            <a:off x="868680" y="2286000"/>
            <a:ext cx="7772400" cy="457200"/>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Walkaway rate — lost revenue and word of mouth</a:t>
            </a:r>
            <a:endParaRPr lang="en-US" sz="1400" dirty="0"/>
          </a:p>
        </p:txBody>
      </p:sp>
      <p:sp>
        <p:nvSpPr>
          <p:cNvPr id="10" name="Shape 8"/>
          <p:cNvSpPr/>
          <p:nvPr/>
        </p:nvSpPr>
        <p:spPr>
          <a:xfrm>
            <a:off x="640080" y="2880360"/>
            <a:ext cx="73152" cy="274320"/>
          </a:xfrm>
          <a:prstGeom prst="rect">
            <a:avLst/>
          </a:prstGeom>
          <a:solidFill>
            <a:srgbClr val="4A6FA5"/>
          </a:solidFill>
          <a:ln w="12700">
            <a:solidFill>
              <a:srgbClr val="4A6FA5"/>
            </a:solidFill>
            <a:prstDash val="solid"/>
          </a:ln>
        </p:spPr>
        <p:txBody>
          <a:bodyPr/>
          <a:lstStyle/>
          <a:p>
            <a:endParaRPr lang="en-US"/>
          </a:p>
        </p:txBody>
      </p:sp>
      <p:sp>
        <p:nvSpPr>
          <p:cNvPr id="11" name="Text 9"/>
          <p:cNvSpPr/>
          <p:nvPr/>
        </p:nvSpPr>
        <p:spPr>
          <a:xfrm>
            <a:off x="868680" y="2788920"/>
            <a:ext cx="7772400" cy="457200"/>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Morning utilization — analytical sanity check (target ~0.83 → 0.56)</a:t>
            </a:r>
            <a:endParaRPr lang="en-US" sz="1400" dirty="0"/>
          </a:p>
        </p:txBody>
      </p:sp>
      <p:sp>
        <p:nvSpPr>
          <p:cNvPr id="12" name="Shape 10"/>
          <p:cNvSpPr/>
          <p:nvPr/>
        </p:nvSpPr>
        <p:spPr>
          <a:xfrm>
            <a:off x="640080" y="3383280"/>
            <a:ext cx="73152" cy="274320"/>
          </a:xfrm>
          <a:prstGeom prst="rect">
            <a:avLst/>
          </a:prstGeom>
          <a:solidFill>
            <a:srgbClr val="4A6FA5"/>
          </a:solidFill>
          <a:ln w="12700">
            <a:solidFill>
              <a:srgbClr val="4A6FA5"/>
            </a:solidFill>
            <a:prstDash val="solid"/>
          </a:ln>
        </p:spPr>
        <p:txBody>
          <a:bodyPr/>
          <a:lstStyle/>
          <a:p>
            <a:endParaRPr lang="en-US"/>
          </a:p>
        </p:txBody>
      </p:sp>
      <p:sp>
        <p:nvSpPr>
          <p:cNvPr id="13" name="Text 11"/>
          <p:cNvSpPr/>
          <p:nvPr/>
        </p:nvSpPr>
        <p:spPr>
          <a:xfrm>
            <a:off x="868680" y="3291840"/>
            <a:ext cx="7772400" cy="457200"/>
          </a:xfrm>
          <a:prstGeom prst="rect">
            <a:avLst/>
          </a:prstGeom>
          <a:noFill/>
          <a:ln/>
        </p:spPr>
        <p:txBody>
          <a:bodyPr wrap="square" rtlCol="0" anchor="ctr"/>
          <a:lstStyle/>
          <a:p>
            <a:pPr marL="0" indent="0">
              <a:buNone/>
            </a:pPr>
            <a:r>
              <a:rPr lang="en-US" sz="1400" dirty="0">
                <a:solidFill>
                  <a:srgbClr val="1A1A2E"/>
                </a:solidFill>
                <a:latin typeface="Arial" pitchFamily="34" charset="0"/>
                <a:ea typeface="Arial" pitchFamily="34" charset="-122"/>
                <a:cs typeface="Arial" pitchFamily="34" charset="-120"/>
              </a:rPr>
              <a:t>Daily labor cost — what the owner actually pays</a:t>
            </a:r>
            <a:endParaRPr lang="en-US" sz="1400" dirty="0"/>
          </a:p>
        </p:txBody>
      </p:sp>
      <p:sp>
        <p:nvSpPr>
          <p:cNvPr id="14" name="Text 12"/>
          <p:cNvSpPr/>
          <p:nvPr/>
        </p:nvSpPr>
        <p:spPr>
          <a:xfrm>
            <a:off x="457200" y="4023360"/>
            <a:ext cx="8229600" cy="548640"/>
          </a:xfrm>
          <a:prstGeom prst="rect">
            <a:avLst/>
          </a:prstGeom>
          <a:noFill/>
          <a:ln/>
        </p:spPr>
        <p:txBody>
          <a:bodyPr wrap="square" rtlCol="0" anchor="ctr"/>
          <a:lstStyle/>
          <a:p>
            <a:pPr marL="0" indent="0" algn="ctr">
              <a:buNone/>
            </a:pPr>
            <a:r>
              <a:rPr lang="en-US" sz="1300" i="1" dirty="0">
                <a:solidFill>
                  <a:srgbClr val="B85042"/>
                </a:solidFill>
                <a:latin typeface="Arial" pitchFamily="34" charset="0"/>
                <a:ea typeface="Arial" pitchFamily="34" charset="-122"/>
                <a:cs typeface="Arial" pitchFamily="34" charset="-120"/>
              </a:rPr>
              <a:t>Then write a 2-3 sentence recommendation to the owner.</a:t>
            </a:r>
            <a:endParaRPr lang="en-US" sz="1300" dirty="0"/>
          </a:p>
          <a:p>
            <a:pPr marL="0" indent="0" algn="ctr">
              <a:buNone/>
            </a:pPr>
            <a:r>
              <a:rPr lang="en-US" sz="1300" i="1" dirty="0">
                <a:solidFill>
                  <a:srgbClr val="B85042"/>
                </a:solidFill>
                <a:latin typeface="Arial" pitchFamily="34" charset="0"/>
                <a:ea typeface="Arial" pitchFamily="34" charset="-122"/>
                <a:cs typeface="Arial" pitchFamily="34" charset="-120"/>
              </a:rPr>
              <a:t>No jargon. Connect to the decision.</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name="Slide 27">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The spec-driven loop, in one sentence</a:t>
            </a:r>
            <a:endParaRPr lang="en-US" sz="3200" dirty="0"/>
          </a:p>
        </p:txBody>
      </p:sp>
      <p:sp>
        <p:nvSpPr>
          <p:cNvPr id="4" name="Text 2"/>
          <p:cNvSpPr/>
          <p:nvPr/>
        </p:nvSpPr>
        <p:spPr>
          <a:xfrm>
            <a:off x="5943600" y="164592"/>
            <a:ext cx="274320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Block 7 · 5 min</a:t>
            </a:r>
            <a:endParaRPr lang="en-US" sz="1000" dirty="0"/>
          </a:p>
        </p:txBody>
      </p:sp>
      <p:sp>
        <p:nvSpPr>
          <p:cNvPr id="5" name="Text 3"/>
          <p:cNvSpPr/>
          <p:nvPr/>
        </p:nvSpPr>
        <p:spPr>
          <a:xfrm>
            <a:off x="457200" y="1645920"/>
            <a:ext cx="8229600" cy="914400"/>
          </a:xfrm>
          <a:prstGeom prst="rect">
            <a:avLst/>
          </a:prstGeom>
          <a:noFill/>
          <a:ln/>
        </p:spPr>
        <p:txBody>
          <a:bodyPr wrap="square" rtlCol="0" anchor="ctr"/>
          <a:lstStyle/>
          <a:p>
            <a:pPr marL="0" indent="0" algn="ctr">
              <a:buNone/>
            </a:pPr>
            <a:r>
              <a:rPr lang="en-US" sz="2200" b="1" dirty="0">
                <a:solidFill>
                  <a:srgbClr val="1A1A2E"/>
                </a:solidFill>
                <a:latin typeface="Arial" pitchFamily="34" charset="0"/>
                <a:ea typeface="Arial" pitchFamily="34" charset="-122"/>
                <a:cs typeface="Arial" pitchFamily="34" charset="-120"/>
              </a:rPr>
              <a:t>Data → distributions → spec → code → results → validation → decision.</a:t>
            </a:r>
            <a:endParaRPr lang="en-US" sz="2200" dirty="0"/>
          </a:p>
        </p:txBody>
      </p:sp>
      <p:sp>
        <p:nvSpPr>
          <p:cNvPr id="6" name="Text 4"/>
          <p:cNvSpPr/>
          <p:nvPr/>
        </p:nvSpPr>
        <p:spPr>
          <a:xfrm>
            <a:off x="457200" y="2743200"/>
            <a:ext cx="8229600" cy="1097280"/>
          </a:xfrm>
          <a:prstGeom prst="rect">
            <a:avLst/>
          </a:prstGeom>
          <a:noFill/>
          <a:ln/>
        </p:spPr>
        <p:txBody>
          <a:bodyPr wrap="square" rtlCol="0" anchor="t"/>
          <a:lstStyle/>
          <a:p>
            <a:pPr marL="0" indent="0" algn="ctr">
              <a:buNone/>
            </a:pPr>
            <a:r>
              <a:rPr lang="en-US" sz="1600" dirty="0">
                <a:solidFill>
                  <a:srgbClr val="6B7280"/>
                </a:solidFill>
                <a:latin typeface="Arial" pitchFamily="34" charset="0"/>
                <a:ea typeface="Arial" pitchFamily="34" charset="-122"/>
                <a:cs typeface="Arial" pitchFamily="34" charset="-120"/>
              </a:rPr>
              <a:t>The LLM is in the loop at every stage.</a:t>
            </a:r>
            <a:endParaRPr lang="en-US" sz="1600" dirty="0"/>
          </a:p>
          <a:p>
            <a:pPr marL="0" indent="0" algn="ctr">
              <a:buNone/>
            </a:pPr>
            <a:r>
              <a:rPr lang="en-US" sz="1600" dirty="0">
                <a:solidFill>
                  <a:srgbClr val="6B7280"/>
                </a:solidFill>
                <a:latin typeface="Arial" pitchFamily="34" charset="0"/>
                <a:ea typeface="Arial" pitchFamily="34" charset="-122"/>
                <a:cs typeface="Arial" pitchFamily="34" charset="-120"/>
              </a:rPr>
              <a:t>Generating, reviewing, validating, summarizing, documenting.</a:t>
            </a:r>
            <a:endParaRPr lang="en-US" sz="1600" dirty="0"/>
          </a:p>
          <a:p>
            <a:pPr marL="0" indent="0" algn="ctr">
              <a:buNone/>
            </a:pPr>
            <a:r>
              <a:rPr lang="en-US" sz="1600" dirty="0">
                <a:solidFill>
                  <a:srgbClr val="6B7280"/>
                </a:solidFill>
                <a:latin typeface="Arial" pitchFamily="34" charset="0"/>
                <a:ea typeface="Arial" pitchFamily="34" charset="-122"/>
                <a:cs typeface="Arial" pitchFamily="34" charset="-120"/>
              </a:rPr>
              <a:t>Never running unsupervised.</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name="Slide 28">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Two takeaways</a:t>
            </a:r>
            <a:endParaRPr lang="en-US" sz="3200" dirty="0"/>
          </a:p>
        </p:txBody>
      </p:sp>
      <p:sp>
        <p:nvSpPr>
          <p:cNvPr id="4" name="Text 2"/>
          <p:cNvSpPr/>
          <p:nvPr/>
        </p:nvSpPr>
        <p:spPr>
          <a:xfrm>
            <a:off x="5943600" y="164592"/>
            <a:ext cx="274320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Block 7 · 5 min</a:t>
            </a:r>
            <a:endParaRPr lang="en-US" sz="1000" dirty="0"/>
          </a:p>
        </p:txBody>
      </p:sp>
      <p:sp>
        <p:nvSpPr>
          <p:cNvPr id="5" name="Shape 3"/>
          <p:cNvSpPr/>
          <p:nvPr/>
        </p:nvSpPr>
        <p:spPr>
          <a:xfrm>
            <a:off x="457200" y="1371600"/>
            <a:ext cx="8229600" cy="1371600"/>
          </a:xfrm>
          <a:prstGeom prst="rect">
            <a:avLst/>
          </a:prstGeom>
          <a:solidFill>
            <a:srgbClr val="FFFFFF"/>
          </a:solidFill>
          <a:ln w="12700">
            <a:solidFill>
              <a:srgbClr val="E5E7EB"/>
            </a:solidFill>
            <a:prstDash val="solid"/>
          </a:ln>
        </p:spPr>
        <p:txBody>
          <a:bodyPr/>
          <a:lstStyle/>
          <a:p>
            <a:endParaRPr lang="en-US"/>
          </a:p>
        </p:txBody>
      </p:sp>
      <p:sp>
        <p:nvSpPr>
          <p:cNvPr id="6" name="Shape 4"/>
          <p:cNvSpPr/>
          <p:nvPr/>
        </p:nvSpPr>
        <p:spPr>
          <a:xfrm>
            <a:off x="457200" y="1371600"/>
            <a:ext cx="73152" cy="1371600"/>
          </a:xfrm>
          <a:prstGeom prst="rect">
            <a:avLst/>
          </a:prstGeom>
          <a:solidFill>
            <a:srgbClr val="4A6FA5"/>
          </a:solidFill>
          <a:ln w="12700">
            <a:solidFill>
              <a:srgbClr val="4A6FA5"/>
            </a:solidFill>
            <a:prstDash val="solid"/>
          </a:ln>
        </p:spPr>
        <p:txBody>
          <a:bodyPr/>
          <a:lstStyle/>
          <a:p>
            <a:endParaRPr lang="en-US"/>
          </a:p>
        </p:txBody>
      </p:sp>
      <p:sp>
        <p:nvSpPr>
          <p:cNvPr id="7" name="Text 5"/>
          <p:cNvSpPr/>
          <p:nvPr/>
        </p:nvSpPr>
        <p:spPr>
          <a:xfrm>
            <a:off x="685800" y="1508760"/>
            <a:ext cx="7863840" cy="365760"/>
          </a:xfrm>
          <a:prstGeom prst="rect">
            <a:avLst/>
          </a:prstGeom>
          <a:noFill/>
          <a:ln/>
        </p:spPr>
        <p:txBody>
          <a:bodyPr wrap="square" rtlCol="0" anchor="ctr"/>
          <a:lstStyle/>
          <a:p>
            <a:pPr marL="0" indent="0">
              <a:buNone/>
            </a:pPr>
            <a:r>
              <a:rPr lang="en-US" sz="1600" b="1" dirty="0">
                <a:solidFill>
                  <a:srgbClr val="4A6FA5"/>
                </a:solidFill>
                <a:latin typeface="Arial" pitchFamily="34" charset="0"/>
                <a:ea typeface="Arial" pitchFamily="34" charset="-122"/>
                <a:cs typeface="Arial" pitchFamily="34" charset="-120"/>
              </a:rPr>
              <a:t>1. The expensive bugs in simulation don't crash. They look right.</a:t>
            </a:r>
            <a:endParaRPr lang="en-US" sz="1600" dirty="0"/>
          </a:p>
        </p:txBody>
      </p:sp>
      <p:sp>
        <p:nvSpPr>
          <p:cNvPr id="8" name="Text 6"/>
          <p:cNvSpPr/>
          <p:nvPr/>
        </p:nvSpPr>
        <p:spPr>
          <a:xfrm>
            <a:off x="685800" y="1920240"/>
            <a:ext cx="7863840" cy="73152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Misspecified distributions, missing dependencies, wrong order of operations. None produce errors. All produce plausible wrong answers. Spec-driven dev plus LLM-assisted spec review is the cheapest way I've found to catch them before they ship.</a:t>
            </a:r>
            <a:endParaRPr lang="en-US" sz="1200" dirty="0"/>
          </a:p>
        </p:txBody>
      </p:sp>
      <p:sp>
        <p:nvSpPr>
          <p:cNvPr id="9" name="Shape 7"/>
          <p:cNvSpPr/>
          <p:nvPr/>
        </p:nvSpPr>
        <p:spPr>
          <a:xfrm>
            <a:off x="457200" y="3108960"/>
            <a:ext cx="8229600" cy="1371600"/>
          </a:xfrm>
          <a:prstGeom prst="rect">
            <a:avLst/>
          </a:prstGeom>
          <a:solidFill>
            <a:srgbClr val="FFFFFF"/>
          </a:solidFill>
          <a:ln w="12700">
            <a:solidFill>
              <a:srgbClr val="E5E7EB"/>
            </a:solidFill>
            <a:prstDash val="solid"/>
          </a:ln>
        </p:spPr>
        <p:txBody>
          <a:bodyPr/>
          <a:lstStyle/>
          <a:p>
            <a:endParaRPr lang="en-US"/>
          </a:p>
        </p:txBody>
      </p:sp>
      <p:sp>
        <p:nvSpPr>
          <p:cNvPr id="10" name="Shape 8"/>
          <p:cNvSpPr/>
          <p:nvPr/>
        </p:nvSpPr>
        <p:spPr>
          <a:xfrm>
            <a:off x="457200" y="3108960"/>
            <a:ext cx="73152" cy="1371600"/>
          </a:xfrm>
          <a:prstGeom prst="rect">
            <a:avLst/>
          </a:prstGeom>
          <a:solidFill>
            <a:srgbClr val="B85042"/>
          </a:solidFill>
          <a:ln w="12700">
            <a:solidFill>
              <a:srgbClr val="B85042"/>
            </a:solidFill>
            <a:prstDash val="solid"/>
          </a:ln>
        </p:spPr>
        <p:txBody>
          <a:bodyPr/>
          <a:lstStyle/>
          <a:p>
            <a:endParaRPr lang="en-US"/>
          </a:p>
        </p:txBody>
      </p:sp>
      <p:sp>
        <p:nvSpPr>
          <p:cNvPr id="11" name="Text 9"/>
          <p:cNvSpPr/>
          <p:nvPr/>
        </p:nvSpPr>
        <p:spPr>
          <a:xfrm>
            <a:off x="685800" y="3246120"/>
            <a:ext cx="7863840" cy="365760"/>
          </a:xfrm>
          <a:prstGeom prst="rect">
            <a:avLst/>
          </a:prstGeom>
          <a:noFill/>
          <a:ln/>
        </p:spPr>
        <p:txBody>
          <a:bodyPr wrap="square" rtlCol="0" anchor="ctr"/>
          <a:lstStyle/>
          <a:p>
            <a:pPr marL="0" indent="0">
              <a:buNone/>
            </a:pPr>
            <a:r>
              <a:rPr lang="en-US" sz="1600" b="1" dirty="0">
                <a:solidFill>
                  <a:srgbClr val="B85042"/>
                </a:solidFill>
                <a:latin typeface="Arial" pitchFamily="34" charset="0"/>
                <a:ea typeface="Arial" pitchFamily="34" charset="-122"/>
                <a:cs typeface="Arial" pitchFamily="34" charset="-120"/>
              </a:rPr>
              <a:t>2. The same A → B → C loop applies beyond DES.</a:t>
            </a:r>
            <a:endParaRPr lang="en-US" sz="1600" dirty="0"/>
          </a:p>
        </p:txBody>
      </p:sp>
      <p:sp>
        <p:nvSpPr>
          <p:cNvPr id="12" name="Text 10"/>
          <p:cNvSpPr/>
          <p:nvPr/>
        </p:nvSpPr>
        <p:spPr>
          <a:xfrm>
            <a:off x="685800" y="3657600"/>
            <a:ext cx="7863840" cy="731520"/>
          </a:xfrm>
          <a:prstGeom prst="rect">
            <a:avLst/>
          </a:prstGeom>
          <a:noFill/>
          <a:ln/>
        </p:spPr>
        <p:txBody>
          <a:bodyPr wrap="square" rtlCol="0" anchor="t"/>
          <a:lstStyle/>
          <a:p>
            <a:pPr marL="0" indent="0">
              <a:buNone/>
            </a:pPr>
            <a:r>
              <a:rPr lang="en-US" sz="1200" dirty="0">
                <a:solidFill>
                  <a:srgbClr val="1A1A2E"/>
                </a:solidFill>
                <a:latin typeface="Arial" pitchFamily="34" charset="0"/>
                <a:ea typeface="Arial" pitchFamily="34" charset="-122"/>
                <a:cs typeface="Arial" pitchFamily="34" charset="-120"/>
              </a:rPr>
              <a:t>Monte Carlo, system dynamics, agent-based — same templates, different content. The biopharma manufacturing case study in Chapter 5 swaps customers for batches and baristas for safety cabinets. The structure carries.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name="Slide 29">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365760"/>
            <a:ext cx="8229600" cy="640080"/>
          </a:xfrm>
          <a:prstGeom prst="rect">
            <a:avLst/>
          </a:prstGeom>
          <a:noFill/>
          <a:ln/>
        </p:spPr>
        <p:txBody>
          <a:bodyPr wrap="square" rtlCol="0" anchor="ctr"/>
          <a:lstStyle/>
          <a:p>
            <a:pPr marL="0" indent="0">
              <a:buNone/>
            </a:pPr>
            <a:r>
              <a:rPr lang="en-US" sz="3200" b="1" dirty="0">
                <a:solidFill>
                  <a:srgbClr val="1A1A2E"/>
                </a:solidFill>
                <a:latin typeface="Arial" pitchFamily="34" charset="0"/>
                <a:ea typeface="Arial" pitchFamily="34" charset="-122"/>
                <a:cs typeface="Arial" pitchFamily="34" charset="-120"/>
              </a:rPr>
              <a:t>Resources</a:t>
            </a:r>
            <a:endParaRPr lang="en-US" sz="3200" dirty="0"/>
          </a:p>
        </p:txBody>
      </p:sp>
      <p:sp>
        <p:nvSpPr>
          <p:cNvPr id="4" name="Text 2"/>
          <p:cNvSpPr/>
          <p:nvPr/>
        </p:nvSpPr>
        <p:spPr>
          <a:xfrm>
            <a:off x="5943600" y="164592"/>
            <a:ext cx="2743200" cy="274320"/>
          </a:xfrm>
          <a:prstGeom prst="rect">
            <a:avLst/>
          </a:prstGeom>
          <a:noFill/>
          <a:ln/>
        </p:spPr>
        <p:txBody>
          <a:bodyPr wrap="square" rtlCol="0" anchor="ctr"/>
          <a:lstStyle/>
          <a:p>
            <a:pPr marL="0" indent="0" algn="r">
              <a:buNone/>
            </a:pPr>
            <a:r>
              <a:rPr lang="en-US" sz="1000" dirty="0">
                <a:solidFill>
                  <a:srgbClr val="9CA3AF"/>
                </a:solidFill>
                <a:latin typeface="Arial" pitchFamily="34" charset="0"/>
                <a:ea typeface="Arial" pitchFamily="34" charset="-122"/>
                <a:cs typeface="Arial" pitchFamily="34" charset="-120"/>
              </a:rPr>
              <a:t>Block 7 · 5 min</a:t>
            </a:r>
            <a:endParaRPr lang="en-US" sz="1000" dirty="0"/>
          </a:p>
        </p:txBody>
      </p:sp>
      <p:sp>
        <p:nvSpPr>
          <p:cNvPr id="5" name="Shape 3"/>
          <p:cNvSpPr/>
          <p:nvPr/>
        </p:nvSpPr>
        <p:spPr>
          <a:xfrm>
            <a:off x="640080" y="1188720"/>
            <a:ext cx="73152" cy="640080"/>
          </a:xfrm>
          <a:prstGeom prst="rect">
            <a:avLst/>
          </a:prstGeom>
          <a:solidFill>
            <a:srgbClr val="4A6FA5"/>
          </a:solidFill>
          <a:ln w="12700">
            <a:solidFill>
              <a:srgbClr val="4A6FA5"/>
            </a:solidFill>
            <a:prstDash val="solid"/>
          </a:ln>
        </p:spPr>
        <p:txBody>
          <a:bodyPr/>
          <a:lstStyle/>
          <a:p>
            <a:endParaRPr lang="en-US"/>
          </a:p>
        </p:txBody>
      </p:sp>
      <p:sp>
        <p:nvSpPr>
          <p:cNvPr id="6" name="Text 4"/>
          <p:cNvSpPr/>
          <p:nvPr/>
        </p:nvSpPr>
        <p:spPr>
          <a:xfrm>
            <a:off x="868680" y="1188720"/>
            <a:ext cx="7772400" cy="274320"/>
          </a:xfrm>
          <a:prstGeom prst="rect">
            <a:avLst/>
          </a:prstGeom>
          <a:noFill/>
          <a:ln/>
        </p:spPr>
        <p:txBody>
          <a:bodyPr wrap="square" rtlCol="0" anchor="ctr"/>
          <a:lstStyle/>
          <a:p>
            <a:pPr marL="0" indent="0">
              <a:buNone/>
            </a:pPr>
            <a:r>
              <a:rPr lang="en-US" sz="1500" b="1" dirty="0">
                <a:solidFill>
                  <a:srgbClr val="1A1A2E"/>
                </a:solidFill>
                <a:latin typeface="Arial" pitchFamily="34" charset="0"/>
                <a:ea typeface="Arial" pitchFamily="34" charset="-122"/>
                <a:cs typeface="Arial" pitchFamily="34" charset="-120"/>
              </a:rPr>
              <a:t>The book</a:t>
            </a:r>
            <a:endParaRPr lang="en-US" sz="1500" dirty="0"/>
          </a:p>
        </p:txBody>
      </p:sp>
      <p:sp>
        <p:nvSpPr>
          <p:cNvPr id="7" name="Text 5"/>
          <p:cNvSpPr/>
          <p:nvPr/>
        </p:nvSpPr>
        <p:spPr>
          <a:xfrm>
            <a:off x="868680" y="1463040"/>
            <a:ext cx="7772400" cy="457200"/>
          </a:xfrm>
          <a:prstGeom prst="rect">
            <a:avLst/>
          </a:prstGeom>
          <a:noFill/>
          <a:ln/>
        </p:spPr>
        <p:txBody>
          <a:bodyPr wrap="square" rtlCol="0" anchor="t"/>
          <a:lstStyle/>
          <a:p>
            <a:pPr marL="0" indent="0">
              <a:buNone/>
            </a:pPr>
            <a:r>
              <a:rPr lang="en-US" sz="1200" dirty="0">
                <a:solidFill>
                  <a:srgbClr val="6B7280"/>
                </a:solidFill>
                <a:latin typeface="Arial" pitchFamily="34" charset="0"/>
                <a:ea typeface="Arial" pitchFamily="34" charset="-122"/>
                <a:cs typeface="Arial" pitchFamily="34" charset="-120"/>
              </a:rPr>
              <a:t>Simulation Models for Data Science (forthcoming, O'Reilly). Chapter 5 is the source for today's example. Chapter 4 covers Monte Carlo with the same A/B/C templates.</a:t>
            </a:r>
            <a:endParaRPr lang="en-US" sz="1200" dirty="0"/>
          </a:p>
        </p:txBody>
      </p:sp>
      <p:sp>
        <p:nvSpPr>
          <p:cNvPr id="8" name="Shape 6"/>
          <p:cNvSpPr/>
          <p:nvPr/>
        </p:nvSpPr>
        <p:spPr>
          <a:xfrm>
            <a:off x="640080" y="1965960"/>
            <a:ext cx="73152" cy="640080"/>
          </a:xfrm>
          <a:prstGeom prst="rect">
            <a:avLst/>
          </a:prstGeom>
          <a:solidFill>
            <a:srgbClr val="4A6FA5"/>
          </a:solidFill>
          <a:ln w="12700">
            <a:solidFill>
              <a:srgbClr val="4A6FA5"/>
            </a:solidFill>
            <a:prstDash val="solid"/>
          </a:ln>
        </p:spPr>
        <p:txBody>
          <a:bodyPr/>
          <a:lstStyle/>
          <a:p>
            <a:endParaRPr lang="en-US"/>
          </a:p>
        </p:txBody>
      </p:sp>
      <p:sp>
        <p:nvSpPr>
          <p:cNvPr id="9" name="Text 7"/>
          <p:cNvSpPr/>
          <p:nvPr/>
        </p:nvSpPr>
        <p:spPr>
          <a:xfrm>
            <a:off x="868680" y="1965960"/>
            <a:ext cx="7772400" cy="274320"/>
          </a:xfrm>
          <a:prstGeom prst="rect">
            <a:avLst/>
          </a:prstGeom>
          <a:noFill/>
          <a:ln/>
        </p:spPr>
        <p:txBody>
          <a:bodyPr wrap="square" rtlCol="0" anchor="ctr"/>
          <a:lstStyle/>
          <a:p>
            <a:pPr marL="0" indent="0">
              <a:buNone/>
            </a:pPr>
            <a:r>
              <a:rPr lang="en-US" sz="1500" b="1" dirty="0">
                <a:solidFill>
                  <a:srgbClr val="1A1A2E"/>
                </a:solidFill>
                <a:latin typeface="Arial" pitchFamily="34" charset="0"/>
                <a:ea typeface="Arial" pitchFamily="34" charset="-122"/>
                <a:cs typeface="Arial" pitchFamily="34" charset="-120"/>
              </a:rPr>
              <a:t>The repo</a:t>
            </a:r>
            <a:endParaRPr lang="en-US" sz="1500" dirty="0"/>
          </a:p>
        </p:txBody>
      </p:sp>
      <p:sp>
        <p:nvSpPr>
          <p:cNvPr id="10" name="Text 8"/>
          <p:cNvSpPr/>
          <p:nvPr/>
        </p:nvSpPr>
        <p:spPr>
          <a:xfrm>
            <a:off x="868680" y="2240280"/>
            <a:ext cx="7772400" cy="457200"/>
          </a:xfrm>
          <a:prstGeom prst="rect">
            <a:avLst/>
          </a:prstGeom>
          <a:noFill/>
          <a:ln/>
        </p:spPr>
        <p:txBody>
          <a:bodyPr wrap="square" rtlCol="0" anchor="t"/>
          <a:lstStyle/>
          <a:p>
            <a:pPr marL="0" indent="0">
              <a:buNone/>
            </a:pPr>
            <a:r>
              <a:rPr lang="en-US" sz="1200" dirty="0">
                <a:solidFill>
                  <a:srgbClr val="6B7280"/>
                </a:solidFill>
                <a:latin typeface="Arial" pitchFamily="34" charset="0"/>
                <a:ea typeface="Arial" pitchFamily="34" charset="-122"/>
                <a:cs typeface="Arial" pitchFamily="34" charset="-120"/>
              </a:rPr>
              <a:t>Notebook, SimPy code, the three DES templates, the synthetic POS dataset, and the bonus LLM cells for the four uses we didn't drill into live today.</a:t>
            </a:r>
            <a:endParaRPr lang="en-US" sz="1200" dirty="0"/>
          </a:p>
        </p:txBody>
      </p:sp>
      <p:sp>
        <p:nvSpPr>
          <p:cNvPr id="13" name="Text 11"/>
          <p:cNvSpPr/>
          <p:nvPr/>
        </p:nvSpPr>
        <p:spPr>
          <a:xfrm>
            <a:off x="868680" y="3017520"/>
            <a:ext cx="7772400" cy="457200"/>
          </a:xfrm>
          <a:prstGeom prst="rect">
            <a:avLst/>
          </a:prstGeom>
          <a:noFill/>
          <a:ln/>
        </p:spPr>
        <p:txBody>
          <a:bodyPr wrap="square" rtlCol="0" anchor="t"/>
          <a:lstStyle/>
          <a:p>
            <a:pPr marL="0" indent="0">
              <a:buNone/>
            </a:pPr>
            <a:endParaRPr lang="en-US" sz="1200" dirty="0"/>
          </a:p>
        </p:txBody>
      </p:sp>
      <p:sp>
        <p:nvSpPr>
          <p:cNvPr id="14" name="Shape 12"/>
          <p:cNvSpPr/>
          <p:nvPr/>
        </p:nvSpPr>
        <p:spPr>
          <a:xfrm>
            <a:off x="640080" y="2926080"/>
            <a:ext cx="73152" cy="640080"/>
          </a:xfrm>
          <a:prstGeom prst="rect">
            <a:avLst/>
          </a:prstGeom>
          <a:solidFill>
            <a:srgbClr val="4A6FA5"/>
          </a:solidFill>
          <a:ln w="12700">
            <a:solidFill>
              <a:srgbClr val="4A6FA5"/>
            </a:solidFill>
            <a:prstDash val="solid"/>
          </a:ln>
        </p:spPr>
        <p:txBody>
          <a:bodyPr/>
          <a:lstStyle/>
          <a:p>
            <a:endParaRPr lang="en-US"/>
          </a:p>
        </p:txBody>
      </p:sp>
      <p:sp>
        <p:nvSpPr>
          <p:cNvPr id="15" name="Text 13"/>
          <p:cNvSpPr/>
          <p:nvPr/>
        </p:nvSpPr>
        <p:spPr>
          <a:xfrm>
            <a:off x="794539" y="2945439"/>
            <a:ext cx="7772400" cy="274320"/>
          </a:xfrm>
          <a:prstGeom prst="rect">
            <a:avLst/>
          </a:prstGeom>
          <a:noFill/>
          <a:ln/>
        </p:spPr>
        <p:txBody>
          <a:bodyPr wrap="square" rtlCol="0" anchor="ctr"/>
          <a:lstStyle/>
          <a:p>
            <a:pPr marL="0" indent="0">
              <a:buNone/>
            </a:pPr>
            <a:r>
              <a:rPr lang="en-US" sz="1500" b="1" dirty="0">
                <a:solidFill>
                  <a:srgbClr val="1A1A2E"/>
                </a:solidFill>
                <a:latin typeface="Arial" pitchFamily="34" charset="0"/>
                <a:ea typeface="Arial" pitchFamily="34" charset="-122"/>
                <a:cs typeface="Arial" pitchFamily="34" charset="-120"/>
              </a:rPr>
              <a:t>Contact</a:t>
            </a:r>
            <a:endParaRPr lang="en-US" sz="1500" dirty="0"/>
          </a:p>
        </p:txBody>
      </p:sp>
      <p:sp>
        <p:nvSpPr>
          <p:cNvPr id="16" name="Text 14"/>
          <p:cNvSpPr/>
          <p:nvPr/>
        </p:nvSpPr>
        <p:spPr>
          <a:xfrm>
            <a:off x="794539" y="3219759"/>
            <a:ext cx="7772400" cy="457200"/>
          </a:xfrm>
          <a:prstGeom prst="rect">
            <a:avLst/>
          </a:prstGeom>
          <a:noFill/>
          <a:ln/>
        </p:spPr>
        <p:txBody>
          <a:bodyPr wrap="square" rtlCol="0" anchor="t"/>
          <a:lstStyle/>
          <a:p>
            <a:pPr marL="0" indent="0">
              <a:buNone/>
            </a:pPr>
            <a:r>
              <a:rPr lang="en-US" sz="1200" dirty="0">
                <a:solidFill>
                  <a:srgbClr val="6B7280"/>
                </a:solidFill>
                <a:latin typeface="Arial" pitchFamily="34" charset="0"/>
                <a:ea typeface="Arial" pitchFamily="34" charset="-122"/>
                <a:cs typeface="Arial" pitchFamily="34" charset="-120"/>
              </a:rPr>
              <a:t>dan@sullivanlearninggroup.com. Happy to talk through your simulation problems.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name="Slide 30">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4A6FA5"/>
          </a:solidFill>
          <a:ln w="12700">
            <a:solidFill>
              <a:srgbClr val="4A6FA5"/>
            </a:solidFill>
            <a:prstDash val="solid"/>
          </a:ln>
        </p:spPr>
        <p:txBody>
          <a:bodyPr/>
          <a:lstStyle/>
          <a:p>
            <a:endParaRPr lang="en-US"/>
          </a:p>
        </p:txBody>
      </p:sp>
      <p:sp>
        <p:nvSpPr>
          <p:cNvPr id="3" name="Text 1"/>
          <p:cNvSpPr/>
          <p:nvPr/>
        </p:nvSpPr>
        <p:spPr>
          <a:xfrm>
            <a:off x="457200" y="1645920"/>
            <a:ext cx="4783873" cy="1097280"/>
          </a:xfrm>
          <a:prstGeom prst="rect">
            <a:avLst/>
          </a:prstGeom>
          <a:noFill/>
          <a:ln/>
        </p:spPr>
        <p:txBody>
          <a:bodyPr wrap="square" rtlCol="0" anchor="ctr"/>
          <a:lstStyle/>
          <a:p>
            <a:pPr marL="0" indent="0" algn="ctr">
              <a:buNone/>
            </a:pPr>
            <a:r>
              <a:rPr lang="en-US" sz="6400" b="1" dirty="0">
                <a:solidFill>
                  <a:srgbClr val="1A1A2E"/>
                </a:solidFill>
                <a:latin typeface="Arial" pitchFamily="34" charset="0"/>
                <a:ea typeface="Arial" pitchFamily="34" charset="-122"/>
                <a:cs typeface="Arial" pitchFamily="34" charset="-120"/>
              </a:rPr>
              <a:t>Questions?</a:t>
            </a:r>
            <a:endParaRPr lang="en-US" sz="6400" dirty="0"/>
          </a:p>
        </p:txBody>
      </p:sp>
      <p:sp>
        <p:nvSpPr>
          <p:cNvPr id="4" name="Shape 2"/>
          <p:cNvSpPr/>
          <p:nvPr/>
        </p:nvSpPr>
        <p:spPr>
          <a:xfrm>
            <a:off x="1934736" y="2834640"/>
            <a:ext cx="1828800" cy="36576"/>
          </a:xfrm>
          <a:prstGeom prst="rect">
            <a:avLst/>
          </a:prstGeom>
          <a:solidFill>
            <a:srgbClr val="4A6FA5"/>
          </a:solidFill>
          <a:ln w="12700">
            <a:solidFill>
              <a:srgbClr val="4A6FA5"/>
            </a:solidFill>
            <a:prstDash val="solid"/>
          </a:ln>
        </p:spPr>
        <p:txBody>
          <a:bodyPr/>
          <a:lstStyle/>
          <a:p>
            <a:endParaRPr lang="en-US"/>
          </a:p>
        </p:txBody>
      </p:sp>
      <p:sp>
        <p:nvSpPr>
          <p:cNvPr id="5" name="Text 3"/>
          <p:cNvSpPr/>
          <p:nvPr/>
        </p:nvSpPr>
        <p:spPr>
          <a:xfrm>
            <a:off x="457200" y="3108960"/>
            <a:ext cx="4917688" cy="365760"/>
          </a:xfrm>
          <a:prstGeom prst="rect">
            <a:avLst/>
          </a:prstGeom>
          <a:noFill/>
          <a:ln/>
        </p:spPr>
        <p:txBody>
          <a:bodyPr wrap="square" rtlCol="0" anchor="ctr"/>
          <a:lstStyle/>
          <a:p>
            <a:pPr marL="0" indent="0" algn="ctr">
              <a:buNone/>
            </a:pPr>
            <a:r>
              <a:rPr lang="en-US" sz="1600" dirty="0">
                <a:solidFill>
                  <a:srgbClr val="6B7280"/>
                </a:solidFill>
                <a:latin typeface="Arial" pitchFamily="34" charset="0"/>
                <a:ea typeface="Arial" pitchFamily="34" charset="-122"/>
                <a:cs typeface="Arial" pitchFamily="34" charset="-120"/>
              </a:rPr>
              <a:t>Dan Sullivan  ·  dan@sullivanlearninggroup.com</a:t>
            </a:r>
            <a:endParaRPr lang="en-US" sz="1600" dirty="0"/>
          </a:p>
        </p:txBody>
      </p:sp>
      <p:sp>
        <p:nvSpPr>
          <p:cNvPr id="6" name="Text 4"/>
          <p:cNvSpPr/>
          <p:nvPr/>
        </p:nvSpPr>
        <p:spPr>
          <a:xfrm>
            <a:off x="6032810" y="4521738"/>
            <a:ext cx="3012316" cy="365760"/>
          </a:xfrm>
          <a:prstGeom prst="rect">
            <a:avLst/>
          </a:prstGeom>
          <a:noFill/>
          <a:ln/>
        </p:spPr>
        <p:txBody>
          <a:bodyPr wrap="square" rtlCol="0" anchor="ctr"/>
          <a:lstStyle/>
          <a:p>
            <a:pPr algn="ctr"/>
            <a:r>
              <a:rPr lang="en-US" sz="1400" dirty="0"/>
              <a:t>http://</a:t>
            </a:r>
            <a:r>
              <a:rPr lang="en-US" sz="1400" dirty="0" err="1"/>
              <a:t>bit.ly</a:t>
            </a:r>
            <a:r>
              <a:rPr lang="en-US" sz="1400" dirty="0"/>
              <a:t>/4vTVdU0</a:t>
            </a:r>
          </a:p>
        </p:txBody>
      </p:sp>
      <p:pic>
        <p:nvPicPr>
          <p:cNvPr id="8" name="Picture 7">
            <a:extLst>
              <a:ext uri="{FF2B5EF4-FFF2-40B4-BE49-F238E27FC236}">
                <a16:creationId xmlns:a16="http://schemas.microsoft.com/office/drawing/2014/main" id="{DE98BE07-4687-291F-A412-18F46201D1CF}"/>
              </a:ext>
            </a:extLst>
          </p:cNvPr>
          <p:cNvPicPr>
            <a:picLocks noChangeAspect="1"/>
          </p:cNvPicPr>
          <p:nvPr/>
        </p:nvPicPr>
        <p:blipFill>
          <a:blip r:embed="rId3"/>
          <a:stretch>
            <a:fillRect/>
          </a:stretch>
        </p:blipFill>
        <p:spPr>
          <a:xfrm>
            <a:off x="5876693" y="621762"/>
            <a:ext cx="3012316" cy="38999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9BAB941-3944-6843-92CF-FB27FA4EDE7C}">
  <we:reference id="wa200010001" version="1.0.0.1" store="en-US" storeType="OMEX"/>
  <we:alternateReferences>
    <we:reference id="WA200010001" version="1.0.0.1" store="" storeType="OMEX"/>
  </we:alternateReferences>
  <we:properties>
    <we:property name="claude.fileId" value="&quot;3aebda8b-cbdd-44b8-9402-27a95110adf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2387</TotalTime>
  <Words>3652</Words>
  <Application>Microsoft Macintosh PowerPoint</Application>
  <PresentationFormat>On-screen Show (16:9)</PresentationFormat>
  <Paragraphs>428</Paragraphs>
  <Slides>41</Slides>
  <Notes>30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41</vt:i4>
      </vt:variant>
    </vt:vector>
  </HeadingPairs>
  <TitlesOfParts>
    <vt:vector size="4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Spec-Driven Simulation Modeling</dc:title>
  <dc:subject>PptxGenJS Presentation</dc:subject>
  <dc:creator>Dan Sullivan</dc:creator>
  <cp:lastModifiedBy>Dan Sullivan</cp:lastModifiedBy>
  <cp:revision>10</cp:revision>
  <dcterms:created xsi:type="dcterms:W3CDTF">2026-04-26T18:32:55Z</dcterms:created>
  <dcterms:modified xsi:type="dcterms:W3CDTF">2026-04-29T14:31:54Z</dcterms:modified>
</cp:coreProperties>
</file>